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99"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25" r:id="rId20"/>
    <p:sldId id="326" r:id="rId21"/>
    <p:sldId id="327" r:id="rId22"/>
    <p:sldId id="329" r:id="rId23"/>
    <p:sldId id="330" r:id="rId24"/>
    <p:sldId id="335" r:id="rId25"/>
    <p:sldId id="331" r:id="rId26"/>
    <p:sldId id="332" r:id="rId27"/>
    <p:sldId id="333" r:id="rId28"/>
    <p:sldId id="334" r:id="rId29"/>
    <p:sldId id="328" r:id="rId30"/>
    <p:sldId id="314" r:id="rId31"/>
    <p:sldId id="318" r:id="rId32"/>
    <p:sldId id="319" r:id="rId33"/>
    <p:sldId id="315" r:id="rId34"/>
    <p:sldId id="320" r:id="rId35"/>
    <p:sldId id="321" r:id="rId36"/>
    <p:sldId id="322" r:id="rId37"/>
    <p:sldId id="323" r:id="rId38"/>
    <p:sldId id="316" r:id="rId39"/>
    <p:sldId id="324" r:id="rId40"/>
    <p:sldId id="296" r:id="rId41"/>
    <p:sldId id="297" r:id="rId42"/>
    <p:sldId id="298" r:id="rId43"/>
    <p:sldId id="258" r:id="rId44"/>
    <p:sldId id="295" r:id="rId45"/>
    <p:sldId id="300" r:id="rId46"/>
    <p:sldId id="290" r:id="rId47"/>
    <p:sldId id="293" r:id="rId48"/>
    <p:sldId id="289" r:id="rId49"/>
    <p:sldId id="259" r:id="rId50"/>
    <p:sldId id="260" r:id="rId51"/>
    <p:sldId id="285" r:id="rId52"/>
    <p:sldId id="286" r:id="rId53"/>
    <p:sldId id="287" r:id="rId54"/>
    <p:sldId id="288" r:id="rId55"/>
    <p:sldId id="261" r:id="rId56"/>
    <p:sldId id="262" r:id="rId57"/>
    <p:sldId id="263" r:id="rId58"/>
    <p:sldId id="264" r:id="rId59"/>
    <p:sldId id="265" r:id="rId60"/>
    <p:sldId id="266" r:id="rId61"/>
    <p:sldId id="267" r:id="rId62"/>
    <p:sldId id="268" r:id="rId63"/>
    <p:sldId id="269" r:id="rId64"/>
    <p:sldId id="336" r:id="rId65"/>
    <p:sldId id="337" r:id="rId66"/>
    <p:sldId id="338" r:id="rId67"/>
    <p:sldId id="339" r:id="rId68"/>
    <p:sldId id="340" r:id="rId69"/>
    <p:sldId id="341" r:id="rId70"/>
    <p:sldId id="342" r:id="rId71"/>
    <p:sldId id="343" r:id="rId72"/>
    <p:sldId id="348" r:id="rId73"/>
    <p:sldId id="349" r:id="rId74"/>
    <p:sldId id="350" r:id="rId75"/>
    <p:sldId id="352" r:id="rId76"/>
    <p:sldId id="344" r:id="rId77"/>
    <p:sldId id="271" r:id="rId78"/>
    <p:sldId id="294" r:id="rId79"/>
    <p:sldId id="272" r:id="rId80"/>
    <p:sldId id="273" r:id="rId81"/>
    <p:sldId id="274" r:id="rId82"/>
    <p:sldId id="275" r:id="rId83"/>
    <p:sldId id="345" r:id="rId84"/>
    <p:sldId id="346" r:id="rId85"/>
    <p:sldId id="347" r:id="rId86"/>
    <p:sldId id="276" r:id="rId87"/>
    <p:sldId id="277" r:id="rId88"/>
    <p:sldId id="278" r:id="rId89"/>
    <p:sldId id="279" r:id="rId90"/>
    <p:sldId id="280" r:id="rId91"/>
    <p:sldId id="281" r:id="rId92"/>
    <p:sldId id="282" r:id="rId93"/>
    <p:sldId id="283" r:id="rId94"/>
    <p:sldId id="284" r:id="rId9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AE52742-C76E-4FC9-85B2-A294A19E0CA6}"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3" Type="http://schemas.openxmlformats.org/officeDocument/2006/relationships/notesSlide" Target="../notesSlides/notesSlide5.xml"/><Relationship Id="rId32" Type="http://schemas.openxmlformats.org/officeDocument/2006/relationships/slideLayout" Target="../slideLayouts/slideLayout1.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rot="900000">
            <a:off x="7955280" y="-1097280"/>
            <a:ext cx="6400800" cy="6400800"/>
          </a:xfrm>
          <a:prstGeom prst="roundRect">
            <a:avLst>
              <a:gd name="adj" fmla="val 50000"/>
            </a:avLst>
          </a:prstGeom>
          <a:solidFill>
            <a:srgbClr val="00C2A8">
              <a:alpha val="10000"/>
            </a:srgbClr>
          </a:solidFill>
        </p:spPr>
      </p:sp>
      <p:sp>
        <p:nvSpPr>
          <p:cNvPr id="3" name="Shape 1"/>
          <p:cNvSpPr/>
          <p:nvPr/>
        </p:nvSpPr>
        <p:spPr>
          <a:xfrm rot="480000">
            <a:off x="8778240" y="3291840"/>
            <a:ext cx="4572000" cy="4572000"/>
          </a:xfrm>
          <a:prstGeom prst="roundRect">
            <a:avLst>
              <a:gd name="adj" fmla="val 50000"/>
            </a:avLst>
          </a:prstGeom>
          <a:solidFill>
            <a:srgbClr val="00C2A8">
              <a:alpha val="12000"/>
            </a:srgbClr>
          </a:solidFill>
        </p:spPr>
      </p:sp>
      <p:sp>
        <p:nvSpPr>
          <p:cNvPr id="4" name="Text 2"/>
          <p:cNvSpPr/>
          <p:nvPr/>
        </p:nvSpPr>
        <p:spPr>
          <a:xfrm>
            <a:off x="731520" y="4358005"/>
            <a:ext cx="8229600" cy="365760"/>
          </a:xfrm>
          <a:prstGeom prst="rect">
            <a:avLst/>
          </a:prstGeom>
          <a:noFill/>
        </p:spPr>
        <p:txBody>
          <a:bodyPr wrap="square" rtlCol="0" anchor="ctr"/>
          <a:lstStyle/>
          <a:p>
            <a:pPr marL="0" indent="0">
              <a:buNone/>
            </a:pPr>
            <a:r>
              <a:rPr lang="en-US" sz="1600" b="1" kern="0" spc="200" dirty="0">
                <a:solidFill>
                  <a:srgbClr val="5EEAD4"/>
                </a:solidFill>
                <a:latin typeface="Calibri" panose="020F0502020204030204" pitchFamily="34" charset="0"/>
                <a:ea typeface="Calibri" panose="020F0502020204030204" pitchFamily="34" charset="-122"/>
                <a:cs typeface="Calibri" panose="020F0502020204030204" pitchFamily="34" charset="-120"/>
              </a:rPr>
              <a:t>MODULE 1 Complete </a:t>
            </a:r>
            <a:endParaRPr lang="en-US" sz="1600" b="1" kern="0" spc="200" dirty="0">
              <a:solidFill>
                <a:srgbClr val="5EEAD4"/>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685800" y="1783080"/>
            <a:ext cx="8686800" cy="1920240"/>
          </a:xfrm>
          <a:prstGeom prst="rect">
            <a:avLst/>
          </a:prstGeom>
          <a:noFill/>
        </p:spPr>
        <p:txBody>
          <a:bodyPr wrap="square" rtlCol="0" anchor="ctr"/>
          <a:lstStyle/>
          <a:p>
            <a:pPr marL="0" indent="0">
              <a:lnSpc>
                <a:spcPts val="5000"/>
              </a:lnSpc>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Introduction to Programming</a:t>
            </a:r>
            <a:endParaRPr lang="en-US" sz="4600" dirty="0"/>
          </a:p>
        </p:txBody>
      </p:sp>
      <p:sp>
        <p:nvSpPr>
          <p:cNvPr id="6" name="Text 4"/>
          <p:cNvSpPr/>
          <p:nvPr/>
        </p:nvSpPr>
        <p:spPr>
          <a:xfrm>
            <a:off x="6095365" y="4540885"/>
            <a:ext cx="2865755" cy="1005840"/>
          </a:xfrm>
          <a:prstGeom prst="rect">
            <a:avLst/>
          </a:prstGeom>
          <a:noFill/>
        </p:spPr>
        <p:txBody>
          <a:bodyPr wrap="square" rtlCol="0" anchor="ctr"/>
          <a:lstStyle/>
          <a:p>
            <a:pPr marL="0" indent="0">
              <a:lnSpc>
                <a:spcPts val="2100"/>
              </a:lnSpc>
              <a:buNone/>
            </a:pPr>
            <a:r>
              <a:rPr lang="en-US" sz="1550" dirty="0">
                <a:solidFill>
                  <a:srgbClr val="F4F7FA"/>
                </a:solidFill>
                <a:latin typeface="Calibri" panose="020F0502020204030204" pitchFamily="34" charset="0"/>
                <a:ea typeface="Calibri" panose="020F0502020204030204" pitchFamily="34" charset="-122"/>
                <a:cs typeface="Calibri" panose="020F0502020204030204" pitchFamily="34" charset="-120"/>
              </a:rPr>
              <a:t>By Ms Savathallapalli Jasmine</a:t>
            </a:r>
            <a:endParaRPr lang="en-US" sz="1550" dirty="0"/>
          </a:p>
        </p:txBody>
      </p:sp>
      <p:sp>
        <p:nvSpPr>
          <p:cNvPr id="7" name="Shape 5"/>
          <p:cNvSpPr/>
          <p:nvPr/>
        </p:nvSpPr>
        <p:spPr>
          <a:xfrm>
            <a:off x="731520" y="4892040"/>
            <a:ext cx="2011680" cy="0"/>
          </a:xfrm>
          <a:prstGeom prst="line">
            <a:avLst/>
          </a:prstGeom>
          <a:noFill/>
          <a:ln w="25400">
            <a:solidFill>
              <a:srgbClr val="00C2A8"/>
            </a:solidFill>
            <a:prstDash val="solid"/>
          </a:ln>
        </p:spPr>
      </p:sp>
      <p:sp>
        <p:nvSpPr>
          <p:cNvPr id="11" name="Text 2"/>
          <p:cNvSpPr/>
          <p:nvPr/>
        </p:nvSpPr>
        <p:spPr>
          <a:xfrm>
            <a:off x="731520" y="3246120"/>
            <a:ext cx="8229600" cy="365760"/>
          </a:xfrm>
          <a:prstGeom prst="rect">
            <a:avLst/>
          </a:prstGeom>
          <a:noFill/>
        </p:spPr>
        <p:txBody>
          <a:bodyPr wrap="square" rtlCol="0" anchor="ctr"/>
          <a:lstStyle/>
          <a:p>
            <a:pPr marL="0" indent="0">
              <a:buNone/>
            </a:pPr>
            <a:r>
              <a:rPr lang="en-US" b="1" kern="0" spc="200" dirty="0">
                <a:solidFill>
                  <a:srgbClr val="5EEAD4"/>
                </a:solidFill>
                <a:latin typeface="Calibri" panose="020F0502020204030204" pitchFamily="34" charset="0"/>
                <a:ea typeface="Calibri" panose="020F0502020204030204" pitchFamily="34" charset="-122"/>
                <a:cs typeface="Calibri" panose="020F0502020204030204" pitchFamily="34" charset="-120"/>
              </a:rPr>
              <a:t>Course Code: CSE1001</a:t>
            </a:r>
            <a:endParaRPr lang="en-US" b="1" kern="0" spc="200" dirty="0">
              <a:solidFill>
                <a:srgbClr val="5EEAD4"/>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2" name="Google Shape;102;p2"/>
          <p:cNvGraphicFramePr/>
          <p:nvPr>
            <p:custDataLst>
              <p:tags r:id="rId1"/>
            </p:custDataLst>
          </p:nvPr>
        </p:nvGraphicFramePr>
        <p:xfrm>
          <a:off x="1474470" y="1334770"/>
          <a:ext cx="9396095" cy="4046220"/>
        </p:xfrm>
        <a:graphic>
          <a:graphicData uri="http://schemas.openxmlformats.org/drawingml/2006/table">
            <a:tbl>
              <a:tblPr>
                <a:noFill/>
                <a:tableStyleId>{3AE52742-C76E-4FC9-85B2-A294A19E0CA6}</a:tableStyleId>
              </a:tblPr>
              <a:tblGrid>
                <a:gridCol w="1883410"/>
                <a:gridCol w="4761865"/>
                <a:gridCol w="2750820"/>
              </a:tblGrid>
              <a:tr h="305435">
                <a:tc>
                  <a:txBody>
                    <a:bodyPr/>
                    <a:lstStyle/>
                    <a:p>
                      <a:pPr marL="0" marR="0" lvl="0" indent="0" algn="just" rtl="0">
                        <a:lnSpc>
                          <a:spcPct val="100000"/>
                        </a:lnSpc>
                        <a:spcBef>
                          <a:spcPts val="0"/>
                        </a:spcBef>
                        <a:spcAft>
                          <a:spcPts val="0"/>
                        </a:spcAft>
                        <a:buClr>
                          <a:srgbClr val="000000"/>
                        </a:buClr>
                        <a:buSzPts val="1465"/>
                        <a:buFont typeface="Arial" panose="020B0604020202020204"/>
                        <a:buNone/>
                      </a:pPr>
                      <a:r>
                        <a:rPr lang="en-IN" sz="1800" b="1" u="none" strike="noStrike" cap="none">
                          <a:latin typeface="Times New Roman" panose="02020603050405020304"/>
                          <a:ea typeface="Times New Roman" panose="02020603050405020304"/>
                          <a:cs typeface="Times New Roman" panose="02020603050405020304"/>
                          <a:sym typeface="Times New Roman" panose="02020603050405020304"/>
                        </a:rPr>
                        <a:t>Module no.</a:t>
                      </a:r>
                      <a:endParaRPr lang="en-IN" sz="18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84425" marR="84425" marT="42200" marB="422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465"/>
                        <a:buFont typeface="Arial" panose="020B0604020202020204"/>
                        <a:buNone/>
                      </a:pPr>
                      <a:r>
                        <a:rPr lang="en-IN" sz="1800" b="1" u="none" strike="noStrike" cap="none">
                          <a:latin typeface="Times New Roman" panose="02020603050405020304"/>
                          <a:ea typeface="Times New Roman" panose="02020603050405020304"/>
                          <a:cs typeface="Times New Roman" panose="02020603050405020304"/>
                          <a:sym typeface="Times New Roman" panose="02020603050405020304"/>
                        </a:rPr>
                        <a:t>Syllabus/Topic</a:t>
                      </a:r>
                      <a:endParaRPr lang="en-IN" sz="18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84425" marR="84425" marT="42200" marB="422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465"/>
                        <a:buFont typeface="Arial" panose="020B0604020202020204"/>
                        <a:buNone/>
                      </a:pPr>
                      <a:r>
                        <a:rPr lang="en-IN" sz="1800" b="1" u="none" strike="noStrike" cap="none">
                          <a:latin typeface="Times New Roman" panose="02020603050405020304"/>
                          <a:ea typeface="Times New Roman" panose="02020603050405020304"/>
                          <a:cs typeface="Times New Roman" panose="02020603050405020304"/>
                          <a:sym typeface="Times New Roman" panose="02020603050405020304"/>
                        </a:rPr>
                        <a:t>Course Outcome </a:t>
                      </a:r>
                      <a:endParaRPr lang="en-IN" sz="18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84425" marR="84425" marT="42200" marB="422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40785">
                <a:tc>
                  <a:txBody>
                    <a:bodyPr/>
                    <a:lstStyle/>
                    <a:p>
                      <a:pPr marL="0" marR="0" lvl="0" indent="0" algn="just" rtl="0">
                        <a:lnSpc>
                          <a:spcPct val="100000"/>
                        </a:lnSpc>
                        <a:spcBef>
                          <a:spcPts val="0"/>
                        </a:spcBef>
                        <a:spcAft>
                          <a:spcPts val="0"/>
                        </a:spcAft>
                        <a:buClr>
                          <a:srgbClr val="000000"/>
                        </a:buClr>
                        <a:buSzPts val="1465"/>
                        <a:buFont typeface="Arial" panose="020B0604020202020204"/>
                        <a:buNone/>
                      </a:pPr>
                      <a:endParaRPr lang="en-IN" sz="1800" u="none" strike="noStrike" cap="none"/>
                    </a:p>
                    <a:p>
                      <a:pPr marL="0" marR="0" lvl="0" indent="0" algn="just" rtl="0">
                        <a:lnSpc>
                          <a:spcPct val="100000"/>
                        </a:lnSpc>
                        <a:spcBef>
                          <a:spcPts val="0"/>
                        </a:spcBef>
                        <a:spcAft>
                          <a:spcPts val="0"/>
                        </a:spcAft>
                        <a:buClr>
                          <a:srgbClr val="000000"/>
                        </a:buClr>
                        <a:buSzPts val="1465"/>
                        <a:buFont typeface="Arial" panose="020B0604020202020204"/>
                        <a:buNone/>
                      </a:pPr>
                      <a:r>
                        <a:rPr lang="en-IN" sz="1800" u="none" strike="noStrike" cap="none"/>
                        <a:t>1</a:t>
                      </a:r>
                      <a:endParaRPr lang="en-IN" sz="1800" u="none" strike="noStrike" cap="none"/>
                    </a:p>
                  </a:txBody>
                  <a:tcPr marL="84425" marR="84425" marT="42200" marB="422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465"/>
                        <a:buFont typeface="Arial" panose="020B0604020202020204"/>
                        <a:buNone/>
                      </a:pPr>
                      <a:endParaRPr lang="en-IN" sz="1800" u="none" strike="noStrike" cap="none"/>
                    </a:p>
                    <a:p>
                      <a:pPr marL="0" marR="0" lvl="0" indent="0" algn="just" rtl="0">
                        <a:lnSpc>
                          <a:spcPct val="100000"/>
                        </a:lnSpc>
                        <a:spcBef>
                          <a:spcPts val="0"/>
                        </a:spcBef>
                        <a:spcAft>
                          <a:spcPts val="0"/>
                        </a:spcAft>
                        <a:buClr>
                          <a:srgbClr val="000000"/>
                        </a:buClr>
                        <a:buSzPts val="1465"/>
                        <a:buFont typeface="Arial" panose="020B0604020202020204"/>
                        <a:buNone/>
                      </a:pPr>
                      <a:r>
                        <a:rPr lang="en-IN" sz="1800" u="none" strike="noStrike" cap="none"/>
                        <a:t>Introduction to components of computer system, Types of Computer, Introduction to Programming, Algorithm and Flowchart, Overview of C language, Basic structure, Data concepts in C: Constants, Variables, Expressions, Errors, Operators, Data Types And Statements: Declarations, Input-Output Statements, Compound statements, Selection Statements. Conditions, Operators and its precedence, Branching and Looping statements. </a:t>
                      </a:r>
                      <a:endParaRPr lang="en-IN" sz="1800" u="none" strike="noStrike" cap="none">
                        <a:latin typeface="Calibri" panose="020F0502020204030204"/>
                        <a:ea typeface="Calibri" panose="020F0502020204030204"/>
                        <a:cs typeface="Calibri" panose="020F0502020204030204"/>
                        <a:sym typeface="Calibri" panose="020F0502020204030204"/>
                      </a:endParaRPr>
                    </a:p>
                  </a:txBody>
                  <a:tcPr marL="84425" marR="84425" marT="42200" marB="422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465"/>
                        <a:buFont typeface="Arial" panose="020B0604020202020204"/>
                        <a:buNone/>
                      </a:pPr>
                      <a:endParaRPr lang="en-IN" sz="1800" u="none" strike="noStrike" cap="none"/>
                    </a:p>
                    <a:p>
                      <a:pPr marL="0" marR="0" lvl="0" indent="0" algn="just" rtl="0">
                        <a:lnSpc>
                          <a:spcPct val="100000"/>
                        </a:lnSpc>
                        <a:spcBef>
                          <a:spcPts val="0"/>
                        </a:spcBef>
                        <a:spcAft>
                          <a:spcPts val="0"/>
                        </a:spcAft>
                        <a:buClr>
                          <a:srgbClr val="000000"/>
                        </a:buClr>
                        <a:buSzPts val="1465"/>
                        <a:buFont typeface="Arial" panose="020B0604020202020204"/>
                        <a:buNone/>
                      </a:pPr>
                      <a:r>
                        <a:rPr lang="en-IN" sz="1800" u="none" strike="noStrike" cap="none"/>
                        <a:t>CO1</a:t>
                      </a:r>
                      <a:endParaRPr lang="en-IN" sz="1800" u="none" strike="noStrike" cap="none"/>
                    </a:p>
                    <a:p>
                      <a:pPr marL="0" marR="0" lvl="0" indent="0" algn="just" rtl="0">
                        <a:lnSpc>
                          <a:spcPct val="100000"/>
                        </a:lnSpc>
                        <a:spcBef>
                          <a:spcPts val="0"/>
                        </a:spcBef>
                        <a:spcAft>
                          <a:spcPts val="0"/>
                        </a:spcAft>
                        <a:buClr>
                          <a:srgbClr val="000000"/>
                        </a:buClr>
                        <a:buSzPts val="1465"/>
                        <a:buFont typeface="Arial" panose="020B0604020202020204"/>
                        <a:buNone/>
                      </a:pPr>
                      <a:r>
                        <a:rPr lang="en-IN" sz="1800" u="none" strike="noStrike" cap="none"/>
                        <a:t>Understand the structured programming language fundamentals</a:t>
                      </a:r>
                      <a:endParaRPr lang="en-IN" sz="1800" u="none" strike="noStrike" cap="none"/>
                    </a:p>
                  </a:txBody>
                  <a:tcPr marL="84425" marR="84425" marT="42200" marB="422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 name="Google Shape;108;p3"/>
          <p:cNvSpPr txBox="1"/>
          <p:nvPr/>
        </p:nvSpPr>
        <p:spPr>
          <a:xfrm>
            <a:off x="2345111" y="1232282"/>
            <a:ext cx="6482999" cy="277558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8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9" name="Google Shape;109;p3"/>
          <p:cNvSpPr/>
          <p:nvPr/>
        </p:nvSpPr>
        <p:spPr>
          <a:xfrm>
            <a:off x="2697076" y="1484784"/>
            <a:ext cx="6048672" cy="68262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3"/>
          <p:cNvSpPr txBox="1"/>
          <p:nvPr/>
        </p:nvSpPr>
        <p:spPr>
          <a:xfrm>
            <a:off x="2427046" y="1322766"/>
            <a:ext cx="6401064" cy="897890"/>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None/>
            </a:pP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1" name="Google Shape;111;p3"/>
          <p:cNvSpPr txBox="1"/>
          <p:nvPr/>
        </p:nvSpPr>
        <p:spPr>
          <a:xfrm>
            <a:off x="2973700" y="1352749"/>
            <a:ext cx="5495424" cy="105219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3200" b="1">
                <a:solidFill>
                  <a:schemeClr val="dk1"/>
                </a:solidFill>
                <a:latin typeface="Calibri" panose="020F0502020204030204"/>
                <a:ea typeface="Calibri" panose="020F0502020204030204"/>
                <a:cs typeface="Calibri" panose="020F0502020204030204"/>
                <a:sym typeface="Calibri" panose="020F0502020204030204"/>
              </a:rPr>
              <a:t>Introduction to Computer System</a:t>
            </a:r>
            <a:endParaRPr lang="en-IN" sz="32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2" name="Google Shape;112;p3"/>
          <p:cNvSpPr txBox="1"/>
          <p:nvPr/>
        </p:nvSpPr>
        <p:spPr>
          <a:xfrm>
            <a:off x="1879600" y="2240915"/>
            <a:ext cx="8162290" cy="3192145"/>
          </a:xfrm>
          <a:prstGeom prst="rect">
            <a:avLst/>
          </a:prstGeom>
          <a:noFill/>
          <a:ln>
            <a:noFill/>
          </a:ln>
        </p:spPr>
        <p:txBody>
          <a:bodyPr spcFirstLastPara="1" wrap="square" lIns="68550" tIns="34275" rIns="68550" bIns="34275" anchor="t" anchorCtr="0">
            <a:noAutofit/>
          </a:bodyPr>
          <a:lstStyle/>
          <a:p>
            <a:pPr marL="0" marR="0" lvl="0" indent="0" algn="l" rtl="0">
              <a:lnSpc>
                <a:spcPct val="90000"/>
              </a:lnSpc>
              <a:spcBef>
                <a:spcPts val="0"/>
              </a:spcBef>
              <a:spcAft>
                <a:spcPts val="0"/>
              </a:spcAft>
              <a:buNone/>
            </a:pPr>
            <a:r>
              <a:rPr lang="en-IN" sz="2800" b="1">
                <a:solidFill>
                  <a:schemeClr val="dk1"/>
                </a:solidFill>
                <a:latin typeface="Times New Roman" panose="02020603050405020304"/>
                <a:ea typeface="Times New Roman" panose="02020603050405020304"/>
                <a:cs typeface="Times New Roman" panose="02020603050405020304"/>
                <a:sym typeface="Times New Roman" panose="02020603050405020304"/>
              </a:rPr>
              <a:t>Computer System</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Computer is an electronic device for storing and processing data, typically in binary form, according to instructions given to it in a variable program.</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Main task performed by a computer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 Accept the data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 Process or manipulate the data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 Display or store the result in the form of human understanding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 Store the data, instructions and results.</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90000"/>
              </a:lnSpc>
              <a:spcBef>
                <a:spcPts val="750"/>
              </a:spcBef>
              <a:spcAft>
                <a:spcPts val="0"/>
              </a:spcAft>
              <a:buNone/>
            </a:pPr>
            <a:endParaRPr sz="2400" b="1">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 name="Google Shape;117;p4"/>
          <p:cNvSpPr txBox="1"/>
          <p:nvPr/>
        </p:nvSpPr>
        <p:spPr>
          <a:xfrm>
            <a:off x="2682931" y="1232282"/>
            <a:ext cx="6482999" cy="252920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Google Shape;118;p4"/>
          <p:cNvSpPr/>
          <p:nvPr/>
        </p:nvSpPr>
        <p:spPr>
          <a:xfrm>
            <a:off x="3034896" y="1484784"/>
            <a:ext cx="6048672" cy="62103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4"/>
          <p:cNvSpPr txBox="1"/>
          <p:nvPr/>
        </p:nvSpPr>
        <p:spPr>
          <a:xfrm>
            <a:off x="2764866" y="1322766"/>
            <a:ext cx="6401064" cy="805815"/>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0" name="Google Shape;120;p4"/>
          <p:cNvSpPr txBox="1"/>
          <p:nvPr/>
        </p:nvSpPr>
        <p:spPr>
          <a:xfrm>
            <a:off x="3311533" y="1322776"/>
            <a:ext cx="5495400" cy="49784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Characteristics of Computers</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4"/>
          <p:cNvSpPr txBox="1"/>
          <p:nvPr/>
        </p:nvSpPr>
        <p:spPr>
          <a:xfrm>
            <a:off x="1914525" y="2181225"/>
            <a:ext cx="8066405" cy="3192145"/>
          </a:xfrm>
          <a:prstGeom prst="rect">
            <a:avLst/>
          </a:prstGeom>
          <a:noFill/>
          <a:ln>
            <a:noFill/>
          </a:ln>
        </p:spPr>
        <p:txBody>
          <a:bodyPr spcFirstLastPara="1" wrap="square" lIns="68550" tIns="34275" rIns="68550" bIns="34275" anchor="t" anchorCtr="0">
            <a:noAutofit/>
          </a:bodyPr>
          <a:lstStyle/>
          <a:p>
            <a:pPr marL="0" marR="0" lvl="0" indent="0" algn="just" rtl="0">
              <a:lnSpc>
                <a:spcPct val="90000"/>
              </a:lnSpc>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 High Processing Speed : </a:t>
            </a:r>
            <a:r>
              <a:rPr lang="en-IN" sz="2000">
                <a:solidFill>
                  <a:schemeClr val="dk1"/>
                </a:solidFill>
                <a:latin typeface="Calibri" panose="020F0502020204030204"/>
                <a:ea typeface="Calibri" panose="020F0502020204030204"/>
                <a:cs typeface="Calibri" panose="020F0502020204030204"/>
                <a:sym typeface="Calibri" panose="020F0502020204030204"/>
              </a:rPr>
              <a:t>Computers can process data and perform calculations at incredibly high speeds.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90000"/>
              </a:lnSpc>
              <a:spcBef>
                <a:spcPts val="75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 Accuracy : </a:t>
            </a:r>
            <a:r>
              <a:rPr lang="en-IN" sz="2000">
                <a:solidFill>
                  <a:schemeClr val="dk1"/>
                </a:solidFill>
                <a:latin typeface="Calibri" panose="020F0502020204030204"/>
                <a:ea typeface="Calibri" panose="020F0502020204030204"/>
                <a:cs typeface="Calibri" panose="020F0502020204030204"/>
                <a:sym typeface="Calibri" panose="020F0502020204030204"/>
              </a:rPr>
              <a:t>Computers perform operations with a high degree of accuracy. Errors usually occur due to human mistakes (like wrong input), not the machine.</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90000"/>
              </a:lnSpc>
              <a:spcBef>
                <a:spcPts val="75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 Reliability : </a:t>
            </a:r>
            <a:r>
              <a:rPr lang="en-IN" sz="2000">
                <a:solidFill>
                  <a:schemeClr val="dk1"/>
                </a:solidFill>
                <a:latin typeface="Calibri" panose="020F0502020204030204"/>
                <a:ea typeface="Calibri" panose="020F0502020204030204"/>
                <a:cs typeface="Calibri" panose="020F0502020204030204"/>
                <a:sym typeface="Calibri" panose="020F0502020204030204"/>
              </a:rPr>
              <a:t>Computers consistently perform tasks without tiring or losing efficiency.</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90000"/>
              </a:lnSpc>
              <a:spcBef>
                <a:spcPts val="75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 Versatility : </a:t>
            </a:r>
            <a:r>
              <a:rPr lang="en-IN" sz="2000">
                <a:solidFill>
                  <a:schemeClr val="dk1"/>
                </a:solidFill>
                <a:latin typeface="Calibri" panose="020F0502020204030204"/>
                <a:ea typeface="Calibri" panose="020F0502020204030204"/>
                <a:cs typeface="Calibri" panose="020F0502020204030204"/>
                <a:sym typeface="Calibri" panose="020F0502020204030204"/>
              </a:rPr>
              <a:t>A computer can perform a wide range of tasks — from playing music and games to performing scientific simulations.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90000"/>
              </a:lnSpc>
              <a:spcBef>
                <a:spcPts val="75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 Diligence : </a:t>
            </a:r>
            <a:r>
              <a:rPr lang="en-IN" sz="2000">
                <a:solidFill>
                  <a:schemeClr val="dk1"/>
                </a:solidFill>
                <a:latin typeface="Calibri" panose="020F0502020204030204"/>
                <a:ea typeface="Calibri" panose="020F0502020204030204"/>
                <a:cs typeface="Calibri" panose="020F0502020204030204"/>
                <a:sym typeface="Calibri" panose="020F0502020204030204"/>
              </a:rPr>
              <a:t>Unlike humans, computers do not suffer from fatigue or lack of concentration. They can perform repeated tasks without boredom or errors due to tiredness.</a:t>
            </a:r>
            <a:endParaRPr lang="en-IN" sz="20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 name="Google Shape;126;p5"/>
          <p:cNvSpPr txBox="1"/>
          <p:nvPr/>
        </p:nvSpPr>
        <p:spPr>
          <a:xfrm>
            <a:off x="2721666" y="817627"/>
            <a:ext cx="6482999" cy="252920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7" name="Google Shape;127;p5"/>
          <p:cNvSpPr/>
          <p:nvPr/>
        </p:nvSpPr>
        <p:spPr>
          <a:xfrm>
            <a:off x="3073631" y="1070129"/>
            <a:ext cx="6048672" cy="62103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8" name="Google Shape;128;p5"/>
          <p:cNvSpPr txBox="1"/>
          <p:nvPr/>
        </p:nvSpPr>
        <p:spPr>
          <a:xfrm>
            <a:off x="2803601" y="908111"/>
            <a:ext cx="6401064" cy="805815"/>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9" name="Google Shape;129;p5"/>
          <p:cNvSpPr txBox="1"/>
          <p:nvPr/>
        </p:nvSpPr>
        <p:spPr>
          <a:xfrm>
            <a:off x="3289655" y="943171"/>
            <a:ext cx="5495424" cy="49784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Block Diagram of Computer System</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0" name="Google Shape;130;p5"/>
          <p:cNvSpPr txBox="1"/>
          <p:nvPr/>
        </p:nvSpPr>
        <p:spPr>
          <a:xfrm>
            <a:off x="2025015" y="3956685"/>
            <a:ext cx="7933690" cy="2529205"/>
          </a:xfrm>
          <a:prstGeom prst="rect">
            <a:avLst/>
          </a:prstGeom>
          <a:noFill/>
          <a:ln>
            <a:noFill/>
          </a:ln>
        </p:spPr>
        <p:txBody>
          <a:bodyPr spcFirstLastPara="1" wrap="square" lIns="68550" tIns="34275" rIns="68550" bIns="34275" anchor="t" anchorCtr="0">
            <a:spAutoFit/>
          </a:bodyPr>
          <a:lstStyle/>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Computer hardware is the collection of physical elements that comprise a computer system. The hardware component of the computer system consists of five parts: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chemeClr val="dk1"/>
              </a:buClr>
              <a:buSzPts val="1800"/>
              <a:buFont typeface="Calibri" panose="020F0502020204030204"/>
              <a:buAutoNum type="arabicPeriod"/>
            </a:pPr>
            <a:r>
              <a:rPr lang="en-IN" sz="2000">
                <a:solidFill>
                  <a:schemeClr val="dk1"/>
                </a:solidFill>
                <a:latin typeface="Calibri" panose="020F0502020204030204"/>
                <a:ea typeface="Calibri" panose="020F0502020204030204"/>
                <a:cs typeface="Calibri" panose="020F0502020204030204"/>
                <a:sym typeface="Calibri" panose="020F0502020204030204"/>
              </a:rPr>
              <a:t>Input Devices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l" rtl="0">
              <a:spcBef>
                <a:spcPts val="0"/>
              </a:spcBef>
              <a:spcAft>
                <a:spcPts val="0"/>
              </a:spcAft>
              <a:buClr>
                <a:schemeClr val="dk1"/>
              </a:buClr>
              <a:buSzPts val="1800"/>
              <a:buFont typeface="Calibri" panose="020F0502020204030204"/>
              <a:buAutoNum type="arabicPeriod"/>
            </a:pPr>
            <a:r>
              <a:rPr lang="en-IN" sz="2000">
                <a:solidFill>
                  <a:schemeClr val="dk1"/>
                </a:solidFill>
                <a:latin typeface="Calibri" panose="020F0502020204030204"/>
                <a:ea typeface="Calibri" panose="020F0502020204030204"/>
                <a:cs typeface="Calibri" panose="020F0502020204030204"/>
                <a:sym typeface="Calibri" panose="020F0502020204030204"/>
              </a:rPr>
              <a:t>CPU</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l" rtl="0">
              <a:spcBef>
                <a:spcPts val="0"/>
              </a:spcBef>
              <a:spcAft>
                <a:spcPts val="0"/>
              </a:spcAft>
              <a:buClr>
                <a:schemeClr val="dk1"/>
              </a:buClr>
              <a:buSzPts val="1800"/>
              <a:buFont typeface="Calibri" panose="020F0502020204030204"/>
              <a:buAutoNum type="arabicPeriod"/>
            </a:pPr>
            <a:r>
              <a:rPr lang="en-IN" sz="2000">
                <a:solidFill>
                  <a:schemeClr val="dk1"/>
                </a:solidFill>
                <a:latin typeface="Calibri" panose="020F0502020204030204"/>
                <a:ea typeface="Calibri" panose="020F0502020204030204"/>
                <a:cs typeface="Calibri" panose="020F0502020204030204"/>
                <a:sym typeface="Calibri" panose="020F0502020204030204"/>
              </a:rPr>
              <a:t>Primary Memory</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chemeClr val="dk1"/>
              </a:buClr>
              <a:buSzPts val="1800"/>
              <a:buFont typeface="Calibri" panose="020F0502020204030204"/>
              <a:buAutoNum type="arabicPeriod"/>
            </a:pPr>
            <a:r>
              <a:rPr lang="en-IN" sz="2000">
                <a:solidFill>
                  <a:schemeClr val="dk1"/>
                </a:solidFill>
                <a:latin typeface="Calibri" panose="020F0502020204030204"/>
                <a:ea typeface="Calibri" panose="020F0502020204030204"/>
                <a:cs typeface="Calibri" panose="020F0502020204030204"/>
                <a:sym typeface="Calibri" panose="020F0502020204030204"/>
              </a:rPr>
              <a:t>Output devices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chemeClr val="dk1"/>
              </a:buClr>
              <a:buSzPts val="1800"/>
              <a:buFont typeface="Calibri" panose="020F0502020204030204"/>
              <a:buAutoNum type="arabicPeriod"/>
            </a:pPr>
            <a:r>
              <a:rPr lang="en-IN" sz="2000">
                <a:solidFill>
                  <a:schemeClr val="dk1"/>
                </a:solidFill>
                <a:latin typeface="Calibri" panose="020F0502020204030204"/>
                <a:ea typeface="Calibri" panose="020F0502020204030204"/>
                <a:cs typeface="Calibri" panose="020F0502020204030204"/>
                <a:sym typeface="Calibri" panose="020F0502020204030204"/>
              </a:rPr>
              <a:t>Storage devices</a:t>
            </a:r>
            <a:endParaRPr lang="en-IN" sz="20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1" name="Google Shape;131;p5"/>
          <p:cNvPicPr preferRelativeResize="0"/>
          <p:nvPr/>
        </p:nvPicPr>
        <p:blipFill rotWithShape="1">
          <a:blip r:embed="rId1"/>
          <a:srcRect/>
          <a:stretch>
            <a:fillRect/>
          </a:stretch>
        </p:blipFill>
        <p:spPr>
          <a:xfrm>
            <a:off x="3613150" y="1544955"/>
            <a:ext cx="5186680" cy="22021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 name="Google Shape;136;p6"/>
          <p:cNvSpPr txBox="1"/>
          <p:nvPr/>
        </p:nvSpPr>
        <p:spPr>
          <a:xfrm>
            <a:off x="2200910" y="654050"/>
            <a:ext cx="6482715" cy="2850515"/>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 name="Google Shape;137;p6"/>
          <p:cNvSpPr/>
          <p:nvPr/>
        </p:nvSpPr>
        <p:spPr>
          <a:xfrm>
            <a:off x="2880360" y="906145"/>
            <a:ext cx="6048375" cy="66865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6"/>
          <p:cNvSpPr txBox="1"/>
          <p:nvPr/>
        </p:nvSpPr>
        <p:spPr>
          <a:xfrm>
            <a:off x="2610485" y="744220"/>
            <a:ext cx="6400800" cy="871855"/>
          </a:xfrm>
          <a:prstGeom prst="rect">
            <a:avLst/>
          </a:prstGeom>
          <a:noFill/>
          <a:ln>
            <a:noFill/>
          </a:ln>
        </p:spPr>
        <p:txBody>
          <a:bodyPr spcFirstLastPara="1" wrap="square" lIns="68550" tIns="34275" rIns="68550" bIns="34275" anchor="t" anchorCtr="0">
            <a:noAutofit/>
          </a:bodyPr>
          <a:lstStyle/>
          <a:p>
            <a:pPr marL="0" marR="0" lvl="0" indent="0" algn="l" rtl="0">
              <a:lnSpc>
                <a:spcPct val="150000"/>
              </a:lnSpc>
              <a:spcBef>
                <a:spcPts val="0"/>
              </a:spcBef>
              <a:spcAft>
                <a:spcPts val="0"/>
              </a:spcAft>
              <a:buNone/>
            </a:pP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6"/>
          <p:cNvSpPr txBox="1"/>
          <p:nvPr/>
        </p:nvSpPr>
        <p:spPr>
          <a:xfrm>
            <a:off x="3117850" y="709930"/>
            <a:ext cx="5495290" cy="49403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Hardware and Software</a:t>
            </a:r>
            <a:endParaRPr lang="en-IN" sz="2400" b="1">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0" name="Google Shape;140;p6"/>
          <p:cNvPicPr preferRelativeResize="0"/>
          <p:nvPr/>
        </p:nvPicPr>
        <p:blipFill rotWithShape="1">
          <a:blip r:embed="rId1"/>
          <a:srcRect t="15907"/>
          <a:stretch>
            <a:fillRect/>
          </a:stretch>
        </p:blipFill>
        <p:spPr>
          <a:xfrm>
            <a:off x="2872740" y="1196975"/>
            <a:ext cx="6447790" cy="4670425"/>
          </a:xfrm>
          <a:prstGeom prst="rect">
            <a:avLst/>
          </a:prstGeom>
          <a:noFill/>
          <a:ln>
            <a:noFill/>
          </a:ln>
        </p:spPr>
      </p:pic>
      <p:sp>
        <p:nvSpPr>
          <p:cNvPr id="141" name="Google Shape;141;p6"/>
          <p:cNvSpPr/>
          <p:nvPr/>
        </p:nvSpPr>
        <p:spPr>
          <a:xfrm>
            <a:off x="7879080" y="4342765"/>
            <a:ext cx="734060" cy="553720"/>
          </a:xfrm>
          <a:prstGeom prst="rect">
            <a:avLst/>
          </a:prstGeom>
          <a:solidFill>
            <a:srgbClr val="171616"/>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 name="Google Shape;146;p7"/>
          <p:cNvSpPr txBox="1"/>
          <p:nvPr/>
        </p:nvSpPr>
        <p:spPr>
          <a:xfrm>
            <a:off x="2665786" y="933832"/>
            <a:ext cx="6482999" cy="252920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7"/>
          <p:cNvSpPr/>
          <p:nvPr/>
        </p:nvSpPr>
        <p:spPr>
          <a:xfrm>
            <a:off x="3017751" y="1186334"/>
            <a:ext cx="6048672" cy="62103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8" name="Google Shape;148;p7"/>
          <p:cNvSpPr txBox="1"/>
          <p:nvPr/>
        </p:nvSpPr>
        <p:spPr>
          <a:xfrm>
            <a:off x="2747721" y="1024316"/>
            <a:ext cx="6401064" cy="805815"/>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7"/>
          <p:cNvSpPr txBox="1"/>
          <p:nvPr/>
        </p:nvSpPr>
        <p:spPr>
          <a:xfrm>
            <a:off x="3254721" y="631986"/>
            <a:ext cx="5495424" cy="49784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Hardware and Software</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50" name="Google Shape;150;p7"/>
          <p:cNvPicPr preferRelativeResize="0"/>
          <p:nvPr/>
        </p:nvPicPr>
        <p:blipFill rotWithShape="1">
          <a:blip r:embed="rId1"/>
          <a:srcRect/>
          <a:stretch>
            <a:fillRect/>
          </a:stretch>
        </p:blipFill>
        <p:spPr>
          <a:xfrm>
            <a:off x="3507740" y="1158875"/>
            <a:ext cx="4914900" cy="2037080"/>
          </a:xfrm>
          <a:prstGeom prst="rect">
            <a:avLst/>
          </a:prstGeom>
          <a:noFill/>
          <a:ln>
            <a:noFill/>
          </a:ln>
        </p:spPr>
      </p:pic>
      <p:sp>
        <p:nvSpPr>
          <p:cNvPr id="151" name="Google Shape;151;p7"/>
          <p:cNvSpPr txBox="1"/>
          <p:nvPr/>
        </p:nvSpPr>
        <p:spPr>
          <a:xfrm>
            <a:off x="1925320" y="3523615"/>
            <a:ext cx="8489950" cy="2654935"/>
          </a:xfrm>
          <a:prstGeom prst="rect">
            <a:avLst/>
          </a:prstGeom>
          <a:noFill/>
          <a:ln>
            <a:noFill/>
          </a:ln>
        </p:spPr>
        <p:txBody>
          <a:bodyPr spcFirstLastPara="1" wrap="square" lIns="68550" tIns="34275" rIns="68550" bIns="34275" anchor="t" anchorCtr="0">
            <a:noAutofit/>
          </a:bodyPr>
          <a:lstStyle/>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Computer software</a:t>
            </a:r>
            <a:r>
              <a:rPr lang="en-IN" sz="2000">
                <a:solidFill>
                  <a:schemeClr val="dk1"/>
                </a:solidFill>
                <a:latin typeface="Calibri" panose="020F0502020204030204"/>
                <a:ea typeface="Calibri" panose="020F0502020204030204"/>
                <a:cs typeface="Calibri" panose="020F0502020204030204"/>
                <a:sym typeface="Calibri" panose="020F0502020204030204"/>
              </a:rPr>
              <a:t> is a collection of computer programs and related data that provides the instructions for a computer what to do and how to do.</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Software are further categories into two: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System Software</a:t>
            </a:r>
            <a:r>
              <a:rPr lang="en-IN" sz="2000">
                <a:solidFill>
                  <a:schemeClr val="dk1"/>
                </a:solidFill>
                <a:latin typeface="Calibri" panose="020F0502020204030204"/>
                <a:ea typeface="Calibri" panose="020F0502020204030204"/>
                <a:cs typeface="Calibri" panose="020F0502020204030204"/>
                <a:sym typeface="Calibri" panose="020F0502020204030204"/>
              </a:rPr>
              <a:t>: System software is responsible for managing a variety of independent hardware components, so that they can work together.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Application Software</a:t>
            </a:r>
            <a:r>
              <a:rPr lang="en-IN" sz="2000">
                <a:solidFill>
                  <a:schemeClr val="dk1"/>
                </a:solidFill>
                <a:latin typeface="Calibri" panose="020F0502020204030204"/>
                <a:ea typeface="Calibri" panose="020F0502020204030204"/>
                <a:cs typeface="Calibri" panose="020F0502020204030204"/>
                <a:sym typeface="Calibri" panose="020F0502020204030204"/>
              </a:rPr>
              <a:t>: Application software is developed to aid in any task that benefits from computation</a:t>
            </a:r>
            <a:endParaRPr lang="en-IN" sz="20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9" name="Google Shape;159;p8"/>
          <p:cNvPicPr preferRelativeResize="0"/>
          <p:nvPr/>
        </p:nvPicPr>
        <p:blipFill rotWithShape="1">
          <a:blip r:embed="rId1"/>
          <a:srcRect/>
          <a:stretch>
            <a:fillRect/>
          </a:stretch>
        </p:blipFill>
        <p:spPr>
          <a:xfrm>
            <a:off x="1210945" y="799465"/>
            <a:ext cx="9904730" cy="5227955"/>
          </a:xfrm>
          <a:prstGeom prst="rect">
            <a:avLst/>
          </a:prstGeom>
          <a:noFill/>
          <a:ln w="9525" cap="flat" cmpd="sng">
            <a:solidFill>
              <a:schemeClr val="dk1"/>
            </a:solidFill>
            <a:prstDash val="solid"/>
            <a:miter lim="80"/>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 name="Google Shape;165;p9"/>
          <p:cNvSpPr txBox="1"/>
          <p:nvPr/>
        </p:nvSpPr>
        <p:spPr>
          <a:xfrm>
            <a:off x="2712141" y="778892"/>
            <a:ext cx="6482999" cy="2262127"/>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125">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9"/>
          <p:cNvSpPr/>
          <p:nvPr/>
        </p:nvSpPr>
        <p:spPr>
          <a:xfrm>
            <a:off x="3064106" y="1031394"/>
            <a:ext cx="6048672" cy="530884"/>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9"/>
          <p:cNvSpPr txBox="1"/>
          <p:nvPr/>
        </p:nvSpPr>
        <p:spPr>
          <a:xfrm>
            <a:off x="2794076" y="869376"/>
            <a:ext cx="6401064" cy="692467"/>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None/>
            </a:pPr>
            <a:endParaRPr sz="13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sz="13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8" name="Google Shape;168;p9"/>
          <p:cNvSpPr txBox="1"/>
          <p:nvPr/>
        </p:nvSpPr>
        <p:spPr>
          <a:xfrm>
            <a:off x="3340730" y="825510"/>
            <a:ext cx="5495424" cy="39238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100" b="1">
                <a:solidFill>
                  <a:schemeClr val="dk1"/>
                </a:solidFill>
                <a:latin typeface="Calibri" panose="020F0502020204030204"/>
                <a:ea typeface="Calibri" panose="020F0502020204030204"/>
                <a:cs typeface="Calibri" panose="020F0502020204030204"/>
                <a:sym typeface="Calibri" panose="020F0502020204030204"/>
              </a:rPr>
              <a:t>OPERATING SYSTEM</a:t>
            </a: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69" name="Google Shape;169;p9"/>
          <p:cNvPicPr preferRelativeResize="0"/>
          <p:nvPr/>
        </p:nvPicPr>
        <p:blipFill rotWithShape="1">
          <a:blip r:embed="rId1"/>
          <a:srcRect t="12783"/>
          <a:stretch>
            <a:fillRect/>
          </a:stretch>
        </p:blipFill>
        <p:spPr>
          <a:xfrm>
            <a:off x="1544955" y="1569085"/>
            <a:ext cx="9004300" cy="4112260"/>
          </a:xfrm>
          <a:prstGeom prst="rect">
            <a:avLst/>
          </a:prstGeom>
          <a:noFill/>
          <a:ln>
            <a:noFill/>
          </a:ln>
        </p:spPr>
      </p:pic>
      <p:sp>
        <p:nvSpPr>
          <p:cNvPr id="170" name="Google Shape;170;p9"/>
          <p:cNvSpPr/>
          <p:nvPr/>
        </p:nvSpPr>
        <p:spPr>
          <a:xfrm>
            <a:off x="7759149" y="4485513"/>
            <a:ext cx="1353629" cy="439153"/>
          </a:xfrm>
          <a:prstGeom prst="rect">
            <a:avLst/>
          </a:prstGeom>
          <a:solidFill>
            <a:srgbClr val="171616"/>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135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 name="Google Shape;175;p10"/>
          <p:cNvSpPr txBox="1"/>
          <p:nvPr/>
        </p:nvSpPr>
        <p:spPr>
          <a:xfrm>
            <a:off x="1964055" y="943610"/>
            <a:ext cx="9030970" cy="331851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 name="Google Shape;176;p10"/>
          <p:cNvSpPr/>
          <p:nvPr/>
        </p:nvSpPr>
        <p:spPr>
          <a:xfrm>
            <a:off x="2362200" y="1195705"/>
            <a:ext cx="8425180" cy="77851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p10"/>
          <p:cNvSpPr txBox="1"/>
          <p:nvPr/>
        </p:nvSpPr>
        <p:spPr>
          <a:xfrm>
            <a:off x="2054860" y="1033780"/>
            <a:ext cx="8916670" cy="1015365"/>
          </a:xfrm>
          <a:prstGeom prst="rect">
            <a:avLst/>
          </a:prstGeom>
          <a:noFill/>
          <a:ln>
            <a:noFill/>
          </a:ln>
        </p:spPr>
        <p:txBody>
          <a:bodyPr spcFirstLastPara="1" wrap="square" lIns="68550" tIns="34275" rIns="68550" bIns="34275" anchor="t" anchorCtr="0">
            <a:noAutofit/>
          </a:bodyPr>
          <a:lstStyle/>
          <a:p>
            <a:pPr marL="0" marR="0" lvl="0" indent="0" algn="l" rtl="0">
              <a:lnSpc>
                <a:spcPct val="150000"/>
              </a:lnSpc>
              <a:spcBef>
                <a:spcPts val="0"/>
              </a:spcBef>
              <a:spcAft>
                <a:spcPts val="0"/>
              </a:spcAft>
              <a:buNone/>
            </a:pP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None/>
            </a:pP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p10"/>
          <p:cNvSpPr txBox="1"/>
          <p:nvPr/>
        </p:nvSpPr>
        <p:spPr>
          <a:xfrm>
            <a:off x="2698115" y="1012825"/>
            <a:ext cx="7654925" cy="64325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Functions of Operating System</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9" name="Google Shape;179;p10"/>
          <p:cNvSpPr txBox="1"/>
          <p:nvPr/>
        </p:nvSpPr>
        <p:spPr>
          <a:xfrm>
            <a:off x="2139950" y="1759585"/>
            <a:ext cx="7957820" cy="3759200"/>
          </a:xfrm>
          <a:prstGeom prst="rect">
            <a:avLst/>
          </a:prstGeom>
          <a:noFill/>
          <a:ln>
            <a:noFill/>
          </a:ln>
        </p:spPr>
        <p:txBody>
          <a:bodyPr spcFirstLastPara="1" wrap="square" lIns="68550" tIns="34275" rIns="68550" bIns="34275" anchor="t" anchorCtr="0">
            <a:noAutofit/>
          </a:bodyPr>
          <a:lstStyle/>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Provide an Interface </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Managing Files</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Managing peripherals and drivers</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Managing Memory</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Managing multi-tasking</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Managing Interrupts</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Providing a platform for run applications</a:t>
            </a:r>
            <a:endParaRPr>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l" rtl="0">
              <a:lnSpc>
                <a:spcPct val="150000"/>
              </a:lnSpc>
              <a:spcBef>
                <a:spcPts val="0"/>
              </a:spcBef>
              <a:spcAft>
                <a:spcPts val="0"/>
              </a:spcAft>
              <a:buClr>
                <a:schemeClr val="dk1"/>
              </a:buClr>
              <a:buSzPts val="1800"/>
              <a:buFont typeface="Arial" panose="020B0604020202020204"/>
              <a:buChar char="•"/>
            </a:pPr>
            <a:r>
              <a:rPr lang="en-IN" b="1">
                <a:solidFill>
                  <a:schemeClr val="dk1"/>
                </a:solidFill>
                <a:latin typeface="Calibri" panose="020F0502020204030204"/>
                <a:ea typeface="Calibri" panose="020F0502020204030204"/>
                <a:cs typeface="Calibri" panose="020F0502020204030204"/>
                <a:sym typeface="Calibri" panose="020F0502020204030204"/>
              </a:rPr>
              <a:t>Managing user accounts</a:t>
            </a:r>
            <a:endParaRPr lang="en-IN" b="1">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 name="Google Shape;184;p11"/>
          <p:cNvSpPr txBox="1"/>
          <p:nvPr/>
        </p:nvSpPr>
        <p:spPr>
          <a:xfrm>
            <a:off x="1802765" y="788035"/>
            <a:ext cx="8013700" cy="228282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 name="Google Shape;185;p11"/>
          <p:cNvSpPr/>
          <p:nvPr/>
        </p:nvSpPr>
        <p:spPr>
          <a:xfrm>
            <a:off x="2197735" y="1040130"/>
            <a:ext cx="7477760"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 name="Google Shape;186;p11"/>
          <p:cNvSpPr txBox="1"/>
          <p:nvPr/>
        </p:nvSpPr>
        <p:spPr>
          <a:xfrm>
            <a:off x="1251585" y="671830"/>
            <a:ext cx="9588500" cy="2529205"/>
          </a:xfrm>
          <a:prstGeom prst="rect">
            <a:avLst/>
          </a:prstGeom>
          <a:noFill/>
          <a:ln>
            <a:noFill/>
          </a:ln>
        </p:spPr>
        <p:txBody>
          <a:bodyPr spcFirstLastPara="1" wrap="square" lIns="68550" tIns="34275" rIns="68550" bIns="34275" anchor="t" anchorCtr="0">
            <a:spAutoFit/>
          </a:bodyPr>
          <a:lstStyle/>
          <a:p>
            <a:pPr marL="214630" marR="0" lvl="0" indent="-214630" algn="just" rtl="0">
              <a:spcBef>
                <a:spcPts val="0"/>
              </a:spcBef>
              <a:spcAft>
                <a:spcPts val="0"/>
              </a:spcAft>
              <a:buClr>
                <a:schemeClr val="dk1"/>
              </a:buClr>
              <a:buSzPts val="1800"/>
              <a:buFont typeface="Arial" panose="020B0604020202020204"/>
              <a:buChar char="•"/>
            </a:pPr>
            <a:r>
              <a:rPr lang="en-IN" sz="2000" b="1">
                <a:solidFill>
                  <a:schemeClr val="dk1"/>
                </a:solidFill>
                <a:latin typeface="Calibri" panose="020F0502020204030204"/>
                <a:ea typeface="Calibri" panose="020F0502020204030204"/>
                <a:cs typeface="Calibri" panose="020F0502020204030204"/>
                <a:sym typeface="Calibri" panose="020F0502020204030204"/>
              </a:rPr>
              <a:t>System support software </a:t>
            </a:r>
            <a:r>
              <a:rPr lang="en-IN" sz="2000">
                <a:solidFill>
                  <a:schemeClr val="dk1"/>
                </a:solidFill>
                <a:latin typeface="Calibri" panose="020F0502020204030204"/>
                <a:ea typeface="Calibri" panose="020F0502020204030204"/>
                <a:cs typeface="Calibri" panose="020F0502020204030204"/>
                <a:sym typeface="Calibri" panose="020F0502020204030204"/>
              </a:rPr>
              <a:t>provides system utilities and other operating services. Examples of system utilities are sort programs and disk format programs. Operating services consists of programs that provide performance statistics for the operational staff and security monitors to protect the system and data.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just" rtl="0">
              <a:spcBef>
                <a:spcPts val="0"/>
              </a:spcBef>
              <a:spcAft>
                <a:spcPts val="0"/>
              </a:spcAft>
              <a:buClr>
                <a:schemeClr val="dk1"/>
              </a:buClr>
              <a:buSzPts val="1800"/>
              <a:buFont typeface="Arial" panose="020B0604020202020204"/>
              <a:buChar char="•"/>
            </a:pPr>
            <a:r>
              <a:rPr lang="en-IN" sz="2000" b="1">
                <a:solidFill>
                  <a:schemeClr val="dk1"/>
                </a:solidFill>
                <a:latin typeface="Calibri" panose="020F0502020204030204"/>
                <a:ea typeface="Calibri" panose="020F0502020204030204"/>
                <a:cs typeface="Calibri" panose="020F0502020204030204"/>
                <a:sym typeface="Calibri" panose="020F0502020204030204"/>
              </a:rPr>
              <a:t>System development software</a:t>
            </a:r>
            <a:r>
              <a:rPr lang="en-IN" sz="2000">
                <a:solidFill>
                  <a:schemeClr val="dk1"/>
                </a:solidFill>
                <a:latin typeface="Calibri" panose="020F0502020204030204"/>
                <a:ea typeface="Calibri" panose="020F0502020204030204"/>
                <a:cs typeface="Calibri" panose="020F0502020204030204"/>
                <a:sym typeface="Calibri" panose="020F0502020204030204"/>
              </a:rPr>
              <a:t>, includes the language translators that convert programs into machine language for execution, debugging tools to ensure that the programs are error free and computer.</a:t>
            </a:r>
            <a:endParaRPr lang="en-IN" sz="20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7" name="Google Shape;187;p11"/>
          <p:cNvSpPr txBox="1"/>
          <p:nvPr/>
        </p:nvSpPr>
        <p:spPr>
          <a:xfrm>
            <a:off x="2395855" y="2765425"/>
            <a:ext cx="6793230" cy="49784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Application Software</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8" name="Google Shape;188;p11"/>
          <p:cNvSpPr txBox="1"/>
          <p:nvPr/>
        </p:nvSpPr>
        <p:spPr>
          <a:xfrm>
            <a:off x="1449705" y="3363595"/>
            <a:ext cx="9390380" cy="2282825"/>
          </a:xfrm>
          <a:prstGeom prst="rect">
            <a:avLst/>
          </a:prstGeom>
          <a:noFill/>
          <a:ln>
            <a:noFill/>
          </a:ln>
        </p:spPr>
        <p:txBody>
          <a:bodyPr spcFirstLastPara="1" wrap="square" lIns="68550" tIns="34275" rIns="68550" bIns="34275" anchor="t" anchorCtr="0">
            <a:spAutoFit/>
          </a:bodyPr>
          <a:lstStyle/>
          <a:p>
            <a:pPr marL="0" marR="0" lvl="0" indent="0" algn="just" rtl="0">
              <a:spcBef>
                <a:spcPts val="0"/>
              </a:spcBef>
              <a:spcAft>
                <a:spcPts val="0"/>
              </a:spcAft>
              <a:buNone/>
            </a:pPr>
            <a:r>
              <a:rPr lang="en-IN" b="1">
                <a:solidFill>
                  <a:schemeClr val="dk1"/>
                </a:solidFill>
                <a:latin typeface="Calibri" panose="020F0502020204030204"/>
                <a:ea typeface="Calibri" panose="020F0502020204030204"/>
                <a:cs typeface="Calibri" panose="020F0502020204030204"/>
                <a:sym typeface="Calibri" panose="020F0502020204030204"/>
              </a:rPr>
              <a:t>Application Software: </a:t>
            </a:r>
            <a:r>
              <a:rPr lang="en-IN">
                <a:solidFill>
                  <a:schemeClr val="dk1"/>
                </a:solidFill>
                <a:latin typeface="Calibri" panose="020F0502020204030204"/>
                <a:ea typeface="Calibri" panose="020F0502020204030204"/>
                <a:cs typeface="Calibri" panose="020F0502020204030204"/>
                <a:sym typeface="Calibri" panose="020F0502020204030204"/>
              </a:rPr>
              <a:t>Application software is developed to aid in any task that benefits from computation. This category includes: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a:solidFill>
                  <a:schemeClr val="dk1"/>
                </a:solidFill>
                <a:latin typeface="Calibri" panose="020F0502020204030204"/>
                <a:ea typeface="Calibri" panose="020F0502020204030204"/>
                <a:cs typeface="Calibri" panose="020F0502020204030204"/>
                <a:sym typeface="Calibri" panose="020F0502020204030204"/>
              </a:rPr>
              <a:t>• Business software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a:solidFill>
                  <a:schemeClr val="dk1"/>
                </a:solidFill>
                <a:latin typeface="Calibri" panose="020F0502020204030204"/>
                <a:ea typeface="Calibri" panose="020F0502020204030204"/>
                <a:cs typeface="Calibri" panose="020F0502020204030204"/>
                <a:sym typeface="Calibri" panose="020F0502020204030204"/>
              </a:rPr>
              <a:t>• Computer aided design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a:solidFill>
                  <a:schemeClr val="dk1"/>
                </a:solidFill>
                <a:latin typeface="Calibri" panose="020F0502020204030204"/>
                <a:ea typeface="Calibri" panose="020F0502020204030204"/>
                <a:cs typeface="Calibri" panose="020F0502020204030204"/>
                <a:sym typeface="Calibri" panose="020F0502020204030204"/>
              </a:rPr>
              <a:t>• Databases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a:solidFill>
                  <a:schemeClr val="dk1"/>
                </a:solidFill>
                <a:latin typeface="Calibri" panose="020F0502020204030204"/>
                <a:ea typeface="Calibri" panose="020F0502020204030204"/>
                <a:cs typeface="Calibri" panose="020F0502020204030204"/>
                <a:sym typeface="Calibri" panose="020F0502020204030204"/>
              </a:rPr>
              <a:t>• Decision making software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a:solidFill>
                  <a:schemeClr val="dk1"/>
                </a:solidFill>
                <a:latin typeface="Calibri" panose="020F0502020204030204"/>
                <a:ea typeface="Calibri" panose="020F0502020204030204"/>
                <a:cs typeface="Calibri" panose="020F0502020204030204"/>
                <a:sym typeface="Calibri" panose="020F0502020204030204"/>
              </a:rPr>
              <a:t>• Educational software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a:solidFill>
                  <a:schemeClr val="dk1"/>
                </a:solidFill>
                <a:latin typeface="Calibri" panose="020F0502020204030204"/>
                <a:ea typeface="Calibri" panose="020F0502020204030204"/>
                <a:cs typeface="Calibri" panose="020F0502020204030204"/>
                <a:sym typeface="Calibri" panose="020F0502020204030204"/>
              </a:rPr>
              <a:t>• Image editing</a:t>
            </a:r>
            <a:endParaRPr lang="en-IN">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92225" y="1189990"/>
            <a:ext cx="9510395" cy="3754755"/>
          </a:xfrm>
          <a:prstGeom prst="rect">
            <a:avLst/>
          </a:prstGeom>
          <a:noFill/>
        </p:spPr>
        <p:txBody>
          <a:bodyPr wrap="square" rtlCol="0" anchor="t">
            <a:noAutofit/>
          </a:bodyPr>
          <a:p>
            <a:pPr marL="0" marR="0" lvl="0" indent="0" algn="just"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Application software </a:t>
            </a:r>
            <a:r>
              <a:rPr lang="en-IN" sz="2400">
                <a:solidFill>
                  <a:schemeClr val="dk1"/>
                </a:solidFill>
                <a:latin typeface="Calibri" panose="020F0502020204030204"/>
                <a:ea typeface="Calibri" panose="020F0502020204030204"/>
                <a:cs typeface="Calibri" panose="020F0502020204030204"/>
                <a:sym typeface="Calibri" panose="020F0502020204030204"/>
              </a:rPr>
              <a:t>is broken in to two classes: general-purpose software and application –specific software.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General purpose software </a:t>
            </a:r>
            <a:r>
              <a:rPr lang="en-IN" sz="2400">
                <a:solidFill>
                  <a:schemeClr val="dk1"/>
                </a:solidFill>
                <a:latin typeface="Calibri" panose="020F0502020204030204"/>
                <a:ea typeface="Calibri" panose="020F0502020204030204"/>
                <a:cs typeface="Calibri" panose="020F0502020204030204"/>
                <a:sym typeface="Calibri" panose="020F0502020204030204"/>
              </a:rPr>
              <a:t>is purchased from a software developer and can be used for more than one application. Examples of general-purpose software include word processors, database management systems, and computer aided design systems. They are labelled general purpose because they can solve a variety of user computing problems.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Application –specific software </a:t>
            </a:r>
            <a:r>
              <a:rPr lang="en-IN" sz="2400">
                <a:solidFill>
                  <a:schemeClr val="dk1"/>
                </a:solidFill>
                <a:latin typeface="Calibri" panose="020F0502020204030204"/>
                <a:ea typeface="Calibri" panose="020F0502020204030204"/>
                <a:cs typeface="Calibri" panose="020F0502020204030204"/>
                <a:sym typeface="Calibri" panose="020F0502020204030204"/>
              </a:rPr>
              <a:t>can be used only for its intended purpose.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128905" algn="just" rtl="0">
              <a:spcBef>
                <a:spcPts val="0"/>
              </a:spcBef>
              <a:spcAft>
                <a:spcPts val="0"/>
              </a:spcAft>
              <a:buNone/>
            </a:pPr>
            <a:endParaRPr lang="en-GB" altLang="en-US" sz="2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 name="Google Shape;200;p13"/>
          <p:cNvSpPr txBox="1"/>
          <p:nvPr/>
        </p:nvSpPr>
        <p:spPr>
          <a:xfrm>
            <a:off x="2309495" y="1000760"/>
            <a:ext cx="7449185" cy="2496185"/>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125">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 name="Google Shape;201;p13"/>
          <p:cNvSpPr/>
          <p:nvPr/>
        </p:nvSpPr>
        <p:spPr>
          <a:xfrm>
            <a:off x="2677160" y="1252855"/>
            <a:ext cx="6950075" cy="58547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 name="Google Shape;202;p13"/>
          <p:cNvSpPr txBox="1"/>
          <p:nvPr/>
        </p:nvSpPr>
        <p:spPr>
          <a:xfrm>
            <a:off x="2866390" y="1080135"/>
            <a:ext cx="6314440" cy="48387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HCI (Human Computer Interaction)</a:t>
            </a:r>
            <a:endParaRPr sz="33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3" name="Google Shape;203;p13"/>
          <p:cNvPicPr preferRelativeResize="0"/>
          <p:nvPr/>
        </p:nvPicPr>
        <p:blipFill rotWithShape="1">
          <a:blip r:embed="rId1"/>
          <a:srcRect/>
          <a:stretch>
            <a:fillRect/>
          </a:stretch>
        </p:blipFill>
        <p:spPr>
          <a:xfrm>
            <a:off x="2914015" y="1628775"/>
            <a:ext cx="6314440" cy="38995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 name="Google Shape;208;p14"/>
          <p:cNvSpPr txBox="1"/>
          <p:nvPr/>
        </p:nvSpPr>
        <p:spPr>
          <a:xfrm>
            <a:off x="1008380" y="772160"/>
            <a:ext cx="9820275" cy="309753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9" name="Google Shape;209;p14"/>
          <p:cNvSpPr/>
          <p:nvPr/>
        </p:nvSpPr>
        <p:spPr>
          <a:xfrm>
            <a:off x="1514475" y="1024255"/>
            <a:ext cx="9163050" cy="72707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 name="Google Shape;210;p14"/>
          <p:cNvSpPr txBox="1"/>
          <p:nvPr/>
        </p:nvSpPr>
        <p:spPr>
          <a:xfrm>
            <a:off x="1881505" y="851535"/>
            <a:ext cx="8324215" cy="60007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3200" b="1">
                <a:solidFill>
                  <a:schemeClr val="dk1"/>
                </a:solidFill>
                <a:latin typeface="Calibri" panose="020F0502020204030204"/>
                <a:ea typeface="Calibri" panose="020F0502020204030204"/>
                <a:cs typeface="Calibri" panose="020F0502020204030204"/>
                <a:sym typeface="Calibri" panose="020F0502020204030204"/>
              </a:rPr>
              <a:t>TYPES OF COMPUTER</a:t>
            </a:r>
            <a:endParaRPr lang="en-IN" sz="3200" b="1">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1" name="Google Shape;211;p14"/>
          <p:cNvPicPr preferRelativeResize="0"/>
          <p:nvPr/>
        </p:nvPicPr>
        <p:blipFill rotWithShape="1">
          <a:blip r:embed="rId1"/>
          <a:srcRect/>
          <a:stretch>
            <a:fillRect/>
          </a:stretch>
        </p:blipFill>
        <p:spPr>
          <a:xfrm>
            <a:off x="1339850" y="1440180"/>
            <a:ext cx="9221470" cy="4606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 name="Google Shape;216;p15"/>
          <p:cNvSpPr txBox="1"/>
          <p:nvPr/>
        </p:nvSpPr>
        <p:spPr>
          <a:xfrm>
            <a:off x="1670050" y="1061085"/>
            <a:ext cx="8741410" cy="373380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125">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Google Shape;217;p15"/>
          <p:cNvSpPr/>
          <p:nvPr/>
        </p:nvSpPr>
        <p:spPr>
          <a:xfrm>
            <a:off x="2138045" y="1313180"/>
            <a:ext cx="8155305" cy="87566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 name="Google Shape;218;p15"/>
          <p:cNvSpPr txBox="1"/>
          <p:nvPr/>
        </p:nvSpPr>
        <p:spPr>
          <a:xfrm>
            <a:off x="2455545" y="1140460"/>
            <a:ext cx="7409180" cy="72390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TYPES OF COMPUTER</a:t>
            </a:r>
            <a:endParaRPr sz="33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9" name="Google Shape;219;p15"/>
          <p:cNvPicPr preferRelativeResize="0"/>
          <p:nvPr/>
        </p:nvPicPr>
        <p:blipFill rotWithShape="1">
          <a:blip r:embed="rId1"/>
          <a:srcRect/>
          <a:stretch>
            <a:fillRect/>
          </a:stretch>
        </p:blipFill>
        <p:spPr>
          <a:xfrm>
            <a:off x="2021205" y="1961515"/>
            <a:ext cx="8357870" cy="3962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 name="Google Shape;224;p16"/>
          <p:cNvSpPr txBox="1"/>
          <p:nvPr/>
        </p:nvSpPr>
        <p:spPr>
          <a:xfrm>
            <a:off x="1605280" y="619125"/>
            <a:ext cx="8820150" cy="2873375"/>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5" name="Google Shape;225;p16"/>
          <p:cNvSpPr/>
          <p:nvPr/>
        </p:nvSpPr>
        <p:spPr>
          <a:xfrm>
            <a:off x="2025015" y="871220"/>
            <a:ext cx="8229600" cy="67183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6" name="Google Shape;226;p16"/>
          <p:cNvSpPr txBox="1"/>
          <p:nvPr/>
        </p:nvSpPr>
        <p:spPr>
          <a:xfrm>
            <a:off x="2280920" y="652145"/>
            <a:ext cx="7477125" cy="55435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3200" b="1">
                <a:solidFill>
                  <a:schemeClr val="dk1"/>
                </a:solidFill>
                <a:latin typeface="Calibri" panose="020F0502020204030204"/>
                <a:ea typeface="Calibri" panose="020F0502020204030204"/>
                <a:cs typeface="Calibri" panose="020F0502020204030204"/>
                <a:sym typeface="Calibri" panose="020F0502020204030204"/>
              </a:rPr>
              <a:t>Programming Languages</a:t>
            </a:r>
            <a:endParaRPr lang="en-IN" sz="32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7" name="Google Shape;227;p16"/>
          <p:cNvSpPr txBox="1"/>
          <p:nvPr/>
        </p:nvSpPr>
        <p:spPr>
          <a:xfrm>
            <a:off x="1294765" y="1504950"/>
            <a:ext cx="9615170" cy="4044950"/>
          </a:xfrm>
          <a:prstGeom prst="rect">
            <a:avLst/>
          </a:prstGeom>
          <a:noFill/>
          <a:ln>
            <a:noFill/>
          </a:ln>
        </p:spPr>
        <p:txBody>
          <a:bodyPr spcFirstLastPara="1" wrap="square" lIns="68550" tIns="34275" rIns="68550" bIns="34275" anchor="t" anchorCtr="0">
            <a:noAutofit/>
          </a:bodyPr>
          <a:lstStyle/>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In order to communicate with the computer user also needs to have a language that should be understood by the computer.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Languages are divided into three categories-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1940’s</a:t>
            </a:r>
            <a:r>
              <a:rPr lang="en-IN" sz="2000">
                <a:solidFill>
                  <a:schemeClr val="dk1"/>
                </a:solidFill>
                <a:latin typeface="Calibri" panose="020F0502020204030204"/>
                <a:ea typeface="Calibri" panose="020F0502020204030204"/>
                <a:cs typeface="Calibri" panose="020F0502020204030204"/>
                <a:sym typeface="Calibri" panose="020F0502020204030204"/>
              </a:rPr>
              <a:t> - Machine level Languages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1950’s</a:t>
            </a:r>
            <a:r>
              <a:rPr lang="en-IN" sz="2000">
                <a:solidFill>
                  <a:schemeClr val="dk1"/>
                </a:solidFill>
                <a:latin typeface="Calibri" panose="020F0502020204030204"/>
                <a:ea typeface="Calibri" panose="020F0502020204030204"/>
                <a:cs typeface="Calibri" panose="020F0502020204030204"/>
                <a:sym typeface="Calibri" panose="020F0502020204030204"/>
              </a:rPr>
              <a:t> – Middle Language</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1960’s</a:t>
            </a:r>
            <a:r>
              <a:rPr lang="en-IN" sz="2000">
                <a:solidFill>
                  <a:schemeClr val="dk1"/>
                </a:solidFill>
                <a:latin typeface="Calibri" panose="020F0502020204030204"/>
                <a:ea typeface="Calibri" panose="020F0502020204030204"/>
                <a:cs typeface="Calibri" panose="020F0502020204030204"/>
                <a:sym typeface="Calibri" panose="020F0502020204030204"/>
              </a:rPr>
              <a:t> - High-Level Languages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Low Level Languages : </a:t>
            </a:r>
            <a:r>
              <a:rPr lang="en-IN" sz="2000">
                <a:solidFill>
                  <a:schemeClr val="dk1"/>
                </a:solidFill>
                <a:latin typeface="Calibri" panose="020F0502020204030204"/>
                <a:ea typeface="Calibri" panose="020F0502020204030204"/>
                <a:cs typeface="Calibri" panose="020F0502020204030204"/>
                <a:sym typeface="Calibri" panose="020F0502020204030204"/>
              </a:rPr>
              <a:t>Low level computer languages are machine codes or close to it. Computer cannot understand instructions given in high level languages or in English. It can only understand and execute instructions given in the form of machine language i.e. language of 0 and 1</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Middle Level (Assembly) Language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The programs are written using the instructions of CPU is called Assembly level language. It uses symbols, or mnemonics, to represent the various machine language instructions. Examples are TASM, MASM </a:t>
            </a:r>
            <a:endParaRPr lang="en-IN" sz="20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 name="Google Shape;232;p17"/>
          <p:cNvSpPr txBox="1"/>
          <p:nvPr/>
        </p:nvSpPr>
        <p:spPr>
          <a:xfrm>
            <a:off x="3104515" y="678180"/>
            <a:ext cx="6482715" cy="2816225"/>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 name="Google Shape;233;p17"/>
          <p:cNvSpPr/>
          <p:nvPr/>
        </p:nvSpPr>
        <p:spPr>
          <a:xfrm>
            <a:off x="3456305" y="1354455"/>
            <a:ext cx="6048375" cy="66103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4" name="Google Shape;234;p17"/>
          <p:cNvSpPr txBox="1"/>
          <p:nvPr/>
        </p:nvSpPr>
        <p:spPr>
          <a:xfrm>
            <a:off x="3597910" y="1158240"/>
            <a:ext cx="5495290" cy="54610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IN" sz="3200" b="1">
                <a:solidFill>
                  <a:schemeClr val="dk1"/>
                </a:solidFill>
                <a:latin typeface="Calibri" panose="020F0502020204030204"/>
                <a:ea typeface="Calibri" panose="020F0502020204030204"/>
                <a:cs typeface="Calibri" panose="020F0502020204030204"/>
                <a:sym typeface="Calibri" panose="020F0502020204030204"/>
              </a:rPr>
              <a:t>Programming Languages</a:t>
            </a:r>
            <a:endParaRPr lang="en-IN" sz="32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5" name="Google Shape;235;p17"/>
          <p:cNvSpPr txBox="1"/>
          <p:nvPr/>
        </p:nvSpPr>
        <p:spPr>
          <a:xfrm>
            <a:off x="2189480" y="1850390"/>
            <a:ext cx="7912100" cy="3516630"/>
          </a:xfrm>
          <a:prstGeom prst="rect">
            <a:avLst/>
          </a:prstGeom>
          <a:noFill/>
          <a:ln>
            <a:noFill/>
          </a:ln>
        </p:spPr>
        <p:txBody>
          <a:bodyPr spcFirstLastPara="1" wrap="square" lIns="68550" tIns="34275" rIns="68550" bIns="34275" anchor="t" anchorCtr="0">
            <a:noAutofit/>
          </a:bodyPr>
          <a:lstStyle/>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TASM</a:t>
            </a:r>
            <a:r>
              <a:rPr lang="en-IN" sz="2000">
                <a:solidFill>
                  <a:schemeClr val="dk1"/>
                </a:solidFill>
                <a:latin typeface="Calibri" panose="020F0502020204030204"/>
                <a:ea typeface="Calibri" panose="020F0502020204030204"/>
                <a:cs typeface="Calibri" panose="020F0502020204030204"/>
                <a:sym typeface="Calibri" panose="020F0502020204030204"/>
              </a:rPr>
              <a:t> and </a:t>
            </a:r>
            <a:r>
              <a:rPr lang="en-IN" sz="2000" b="1">
                <a:solidFill>
                  <a:schemeClr val="dk1"/>
                </a:solidFill>
                <a:latin typeface="Calibri" panose="020F0502020204030204"/>
                <a:ea typeface="Calibri" panose="020F0502020204030204"/>
                <a:cs typeface="Calibri" panose="020F0502020204030204"/>
                <a:sym typeface="Calibri" panose="020F0502020204030204"/>
              </a:rPr>
              <a:t>MASM</a:t>
            </a:r>
            <a:r>
              <a:rPr lang="en-IN" sz="2000">
                <a:solidFill>
                  <a:schemeClr val="dk1"/>
                </a:solidFill>
                <a:latin typeface="Calibri" panose="020F0502020204030204"/>
                <a:ea typeface="Calibri" panose="020F0502020204030204"/>
                <a:cs typeface="Calibri" panose="020F0502020204030204"/>
                <a:sym typeface="Calibri" panose="020F0502020204030204"/>
              </a:rPr>
              <a:t> are both assemblers—programs that convert assembly language code into machine code—but they were developed by different companies and have some differences in syntax and usage.</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TASM (Turbo Assembler)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Developer:</a:t>
            </a:r>
            <a:r>
              <a:rPr lang="en-IN" sz="2000">
                <a:solidFill>
                  <a:schemeClr val="dk1"/>
                </a:solidFill>
                <a:latin typeface="Calibri" panose="020F0502020204030204"/>
                <a:ea typeface="Calibri" panose="020F0502020204030204"/>
                <a:cs typeface="Calibri" panose="020F0502020204030204"/>
                <a:sym typeface="Calibri" panose="020F0502020204030204"/>
              </a:rPr>
              <a:t> </a:t>
            </a:r>
            <a:r>
              <a:rPr lang="en-IN" sz="2000" b="1">
                <a:solidFill>
                  <a:schemeClr val="dk1"/>
                </a:solidFill>
                <a:latin typeface="Calibri" panose="020F0502020204030204"/>
                <a:ea typeface="Calibri" panose="020F0502020204030204"/>
                <a:cs typeface="Calibri" panose="020F0502020204030204"/>
                <a:sym typeface="Calibri" panose="020F0502020204030204"/>
              </a:rPr>
              <a:t>Borland</a:t>
            </a:r>
            <a:r>
              <a:rPr lang="en-IN" sz="2000">
                <a:solidFill>
                  <a:schemeClr val="dk1"/>
                </a:solidFill>
                <a:latin typeface="Calibri" panose="020F0502020204030204"/>
                <a:ea typeface="Calibri" panose="020F0502020204030204"/>
                <a:cs typeface="Calibri" panose="020F0502020204030204"/>
                <a:sym typeface="Calibri" panose="020F0502020204030204"/>
              </a:rPr>
              <a:t> (founded by Philippe Kahn)</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Platform:</a:t>
            </a:r>
            <a:r>
              <a:rPr lang="en-IN" sz="2000">
                <a:solidFill>
                  <a:schemeClr val="dk1"/>
                </a:solidFill>
                <a:latin typeface="Calibri" panose="020F0502020204030204"/>
                <a:ea typeface="Calibri" panose="020F0502020204030204"/>
                <a:cs typeface="Calibri" panose="020F0502020204030204"/>
                <a:sym typeface="Calibri" panose="020F0502020204030204"/>
              </a:rPr>
              <a:t> Primarily for </a:t>
            </a:r>
            <a:r>
              <a:rPr lang="en-IN" sz="2000" b="1">
                <a:solidFill>
                  <a:schemeClr val="dk1"/>
                </a:solidFill>
                <a:latin typeface="Calibri" panose="020F0502020204030204"/>
                <a:ea typeface="Calibri" panose="020F0502020204030204"/>
                <a:cs typeface="Calibri" panose="020F0502020204030204"/>
                <a:sym typeface="Calibri" panose="020F0502020204030204"/>
              </a:rPr>
              <a:t>MS-DOS</a:t>
            </a:r>
            <a:r>
              <a:rPr lang="en-IN" sz="2000">
                <a:solidFill>
                  <a:schemeClr val="dk1"/>
                </a:solidFill>
                <a:latin typeface="Calibri" panose="020F0502020204030204"/>
                <a:ea typeface="Calibri" panose="020F0502020204030204"/>
                <a:cs typeface="Calibri" panose="020F0502020204030204"/>
                <a:sym typeface="Calibri" panose="020F0502020204030204"/>
              </a:rPr>
              <a:t> systems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MASM (Microsoft Macro Assembler)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Developer:</a:t>
            </a:r>
            <a:r>
              <a:rPr lang="en-IN" sz="2000">
                <a:solidFill>
                  <a:schemeClr val="dk1"/>
                </a:solidFill>
                <a:latin typeface="Calibri" panose="020F0502020204030204"/>
                <a:ea typeface="Calibri" panose="020F0502020204030204"/>
                <a:cs typeface="Calibri" panose="020F0502020204030204"/>
                <a:sym typeface="Calibri" panose="020F0502020204030204"/>
              </a:rPr>
              <a:t> </a:t>
            </a:r>
            <a:r>
              <a:rPr lang="en-IN" sz="2000" b="1">
                <a:solidFill>
                  <a:schemeClr val="dk1"/>
                </a:solidFill>
                <a:latin typeface="Calibri" panose="020F0502020204030204"/>
                <a:ea typeface="Calibri" panose="020F0502020204030204"/>
                <a:cs typeface="Calibri" panose="020F0502020204030204"/>
                <a:sym typeface="Calibri" panose="020F0502020204030204"/>
              </a:rPr>
              <a:t>Microsoft</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Platform:</a:t>
            </a:r>
            <a:r>
              <a:rPr lang="en-IN" sz="2000">
                <a:solidFill>
                  <a:schemeClr val="dk1"/>
                </a:solidFill>
                <a:latin typeface="Calibri" panose="020F0502020204030204"/>
                <a:ea typeface="Calibri" panose="020F0502020204030204"/>
                <a:cs typeface="Calibri" panose="020F0502020204030204"/>
                <a:sym typeface="Calibri" panose="020F0502020204030204"/>
              </a:rPr>
              <a:t> MS-DOS and Windows (later versions support 32-bit and 64-bit)</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 name="Google Shape;240;p18"/>
          <p:cNvSpPr txBox="1"/>
          <p:nvPr/>
        </p:nvSpPr>
        <p:spPr>
          <a:xfrm>
            <a:off x="2577521" y="973837"/>
            <a:ext cx="6482999" cy="252920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1" name="Google Shape;241;p18"/>
          <p:cNvSpPr/>
          <p:nvPr/>
        </p:nvSpPr>
        <p:spPr>
          <a:xfrm>
            <a:off x="2929486" y="1226339"/>
            <a:ext cx="6048672" cy="62103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2" name="Google Shape;242;p18"/>
          <p:cNvSpPr txBox="1"/>
          <p:nvPr/>
        </p:nvSpPr>
        <p:spPr>
          <a:xfrm>
            <a:off x="3098098" y="1007049"/>
            <a:ext cx="5495424"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3200" b="1">
                <a:solidFill>
                  <a:schemeClr val="dk1"/>
                </a:solidFill>
                <a:latin typeface="Calibri" panose="020F0502020204030204"/>
                <a:ea typeface="Calibri" panose="020F0502020204030204"/>
                <a:cs typeface="Calibri" panose="020F0502020204030204"/>
                <a:sym typeface="Calibri" panose="020F0502020204030204"/>
              </a:rPr>
              <a:t>Programming Languages</a:t>
            </a:r>
            <a:endParaRPr lang="en-IN" sz="32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3" name="Google Shape;243;p18"/>
          <p:cNvSpPr txBox="1"/>
          <p:nvPr/>
        </p:nvSpPr>
        <p:spPr>
          <a:xfrm>
            <a:off x="1593850" y="1757045"/>
            <a:ext cx="8916670" cy="2652395"/>
          </a:xfrm>
          <a:prstGeom prst="rect">
            <a:avLst/>
          </a:prstGeom>
          <a:noFill/>
          <a:ln>
            <a:noFill/>
          </a:ln>
        </p:spPr>
        <p:txBody>
          <a:bodyPr spcFirstLastPara="1" wrap="square" lIns="68550" tIns="34275" rIns="68550" bIns="34275" anchor="t" anchorCtr="0">
            <a:spAutoFit/>
          </a:bodyPr>
          <a:lstStyle/>
          <a:p>
            <a:pPr marL="0" marR="0" lvl="0" indent="0" algn="just" rtl="0">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High Level Languages: </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400">
                <a:solidFill>
                  <a:schemeClr val="dk1"/>
                </a:solidFill>
                <a:latin typeface="Calibri" panose="020F0502020204030204"/>
                <a:ea typeface="Calibri" panose="020F0502020204030204"/>
                <a:cs typeface="Calibri" panose="020F0502020204030204"/>
                <a:sym typeface="Calibri" panose="020F0502020204030204"/>
              </a:rPr>
              <a:t>High-level languages are designed to relieve the programmer from the details of the assembly language. High level languages share one thing with symbolic languages, They must be converted into machine language. The process of converting them is known as compilation.</a:t>
            </a:r>
            <a:endParaRPr lang="en-IN"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4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lang="en-IN" sz="2400" b="1">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600" b="1" kern="0" spc="200" dirty="0">
                <a:solidFill>
                  <a:srgbClr val="1B998B"/>
                </a:solidFill>
                <a:latin typeface="Calibri" panose="020F0502020204030204" pitchFamily="34" charset="0"/>
                <a:ea typeface="Calibri" panose="020F0502020204030204" pitchFamily="34" charset="-122"/>
                <a:cs typeface="Calibri" panose="020F0502020204030204" pitchFamily="34" charset="-120"/>
              </a:rPr>
              <a:t>LOW-LEVEL LANGUAGES</a:t>
            </a:r>
            <a:endParaRPr lang="en-US" sz="1600" b="1" kern="0" spc="200" dirty="0">
              <a:solidFill>
                <a:srgbClr val="1B998B"/>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548640" y="749808"/>
            <a:ext cx="10515600" cy="685800"/>
          </a:xfrm>
          <a:prstGeom prst="rect">
            <a:avLst/>
          </a:prstGeom>
          <a:noFill/>
        </p:spPr>
        <p:txBody>
          <a:bodyPr wrap="square" lIns="0" tIns="0" rIns="0" bIns="0" rtlCol="0" anchor="ctr"/>
          <a:lstStyle/>
          <a:p>
            <a:pPr marL="0" indent="0">
              <a:buNone/>
            </a:pPr>
            <a:r>
              <a:rPr lang="en-US" sz="4000" b="1" dirty="0">
                <a:solidFill>
                  <a:srgbClr val="1A2430"/>
                </a:solidFill>
                <a:latin typeface="Cambria" panose="02040503050406030204" pitchFamily="34" charset="0"/>
                <a:ea typeface="Cambria" panose="02040503050406030204" pitchFamily="34" charset="-122"/>
                <a:cs typeface="Cambria" panose="02040503050406030204" pitchFamily="34" charset="-120"/>
              </a:rPr>
              <a:t>Speaking Almost Directly to the Machine</a:t>
            </a:r>
            <a:endParaRPr lang="en-US" sz="4000" b="1" dirty="0">
              <a:solidFill>
                <a:srgbClr val="1A2430"/>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48640" y="1554480"/>
            <a:ext cx="5394960" cy="4297680"/>
          </a:xfrm>
          <a:prstGeom prst="roundRect">
            <a:avLst>
              <a:gd name="adj" fmla="val 1702"/>
            </a:avLst>
          </a:prstGeom>
          <a:solidFill>
            <a:srgbClr val="FFFFFF"/>
          </a:solidFill>
          <a:ln w="12700">
            <a:solidFill>
              <a:srgbClr val="E1E6E8"/>
            </a:solidFill>
            <a:prstDash val="solid"/>
          </a:ln>
        </p:spPr>
      </p:sp>
      <p:sp>
        <p:nvSpPr>
          <p:cNvPr id="5" name="Text 3"/>
          <p:cNvSpPr/>
          <p:nvPr/>
        </p:nvSpPr>
        <p:spPr>
          <a:xfrm>
            <a:off x="868680" y="1783080"/>
            <a:ext cx="4754880" cy="411480"/>
          </a:xfrm>
          <a:prstGeom prst="rect">
            <a:avLst/>
          </a:prstGeom>
          <a:noFill/>
        </p:spPr>
        <p:txBody>
          <a:bodyPr wrap="square" lIns="0" tIns="0" rIns="0" bIns="0" rtlCol="0" anchor="ctr"/>
          <a:lstStyle/>
          <a:p>
            <a:pPr marL="0" indent="0">
              <a:buNone/>
            </a:pPr>
            <a:r>
              <a:rPr lang="en-US" sz="2400" b="1" dirty="0">
                <a:solidFill>
                  <a:srgbClr val="0D1B2A"/>
                </a:solidFill>
                <a:latin typeface="Cambria" panose="02040503050406030204" pitchFamily="34" charset="0"/>
                <a:ea typeface="Cambria" panose="02040503050406030204" pitchFamily="34" charset="-122"/>
                <a:cs typeface="Cambria" panose="02040503050406030204" pitchFamily="34" charset="-120"/>
              </a:rPr>
              <a:t>Machine Language</a:t>
            </a:r>
            <a:endParaRPr lang="en-US" sz="2400" b="1" dirty="0">
              <a:solidFill>
                <a:srgbClr val="0D1B2A"/>
              </a:solidFill>
              <a:latin typeface="Cambria" panose="02040503050406030204" pitchFamily="34" charset="0"/>
              <a:ea typeface="Cambria" panose="02040503050406030204" pitchFamily="34" charset="-122"/>
              <a:cs typeface="Cambria" panose="02040503050406030204" pitchFamily="34" charset="-120"/>
            </a:endParaRPr>
          </a:p>
        </p:txBody>
      </p:sp>
      <p:sp>
        <p:nvSpPr>
          <p:cNvPr id="6" name="Text 4"/>
          <p:cNvSpPr/>
          <p:nvPr/>
        </p:nvSpPr>
        <p:spPr>
          <a:xfrm>
            <a:off x="868680" y="2194560"/>
            <a:ext cx="4754880" cy="365760"/>
          </a:xfrm>
          <a:prstGeom prst="rect">
            <a:avLst/>
          </a:prstGeom>
          <a:noFill/>
        </p:spPr>
        <p:txBody>
          <a:bodyPr wrap="square" lIns="0" tIns="0" rIns="0" bIns="0" rtlCol="0" anchor="ctr"/>
          <a:lstStyle/>
          <a:p>
            <a:pPr marL="0" indent="0">
              <a:buNone/>
            </a:pPr>
            <a:r>
              <a:rPr lang="en-US" sz="1600" i="1" dirty="0">
                <a:solidFill>
                  <a:srgbClr val="5A6570"/>
                </a:solidFill>
                <a:latin typeface="Calibri" panose="020F0502020204030204" pitchFamily="34" charset="0"/>
                <a:ea typeface="Calibri" panose="020F0502020204030204" pitchFamily="34" charset="-122"/>
                <a:cs typeface="Calibri" panose="020F0502020204030204" pitchFamily="34" charset="-120"/>
              </a:rPr>
              <a:t>The only language a CPU executes natively</a:t>
            </a:r>
            <a:endParaRPr lang="en-US" sz="1600" i="1" dirty="0">
              <a:solidFill>
                <a:srgbClr val="5A6570"/>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868680" y="2651760"/>
            <a:ext cx="4754880" cy="960120"/>
          </a:xfrm>
          <a:prstGeom prst="rect">
            <a:avLst/>
          </a:prstGeom>
          <a:solidFill>
            <a:srgbClr val="0D1B2A"/>
          </a:solidFill>
        </p:spPr>
      </p:sp>
      <p:sp>
        <p:nvSpPr>
          <p:cNvPr id="8" name="Text 6"/>
          <p:cNvSpPr/>
          <p:nvPr/>
        </p:nvSpPr>
        <p:spPr>
          <a:xfrm>
            <a:off x="1051560" y="2724912"/>
            <a:ext cx="4389120" cy="822960"/>
          </a:xfrm>
          <a:prstGeom prst="rect">
            <a:avLst/>
          </a:prstGeom>
          <a:noFill/>
        </p:spPr>
        <p:txBody>
          <a:bodyPr wrap="square" lIns="0" tIns="0" rIns="0" bIns="0" rtlCol="0" anchor="ctr"/>
          <a:lstStyle/>
          <a:p>
            <a:pPr marL="0" indent="0">
              <a:lnSpc>
                <a:spcPct val="115000"/>
              </a:lnSpc>
              <a:buNone/>
            </a:pPr>
            <a:r>
              <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rPr>
              <a:t>10110000 01100001</a:t>
            </a:r>
            <a:endParaRPr lang="en-US" sz="1600" dirty="0"/>
          </a:p>
          <a:p>
            <a:pPr marL="0" indent="0">
              <a:lnSpc>
                <a:spcPct val="115000"/>
              </a:lnSpc>
              <a:buNone/>
            </a:pPr>
            <a:r>
              <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rPr>
              <a:t>10100011 00000000</a:t>
            </a:r>
            <a:endPar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9" name="Shape 7"/>
          <p:cNvSpPr/>
          <p:nvPr/>
        </p:nvSpPr>
        <p:spPr>
          <a:xfrm>
            <a:off x="868680" y="3913632"/>
            <a:ext cx="82296" cy="82296"/>
          </a:xfrm>
          <a:prstGeom prst="ellipse">
            <a:avLst/>
          </a:prstGeom>
          <a:solidFill>
            <a:srgbClr val="1B998B"/>
          </a:solidFill>
        </p:spPr>
      </p:sp>
      <p:sp>
        <p:nvSpPr>
          <p:cNvPr id="10" name="Text 8"/>
          <p:cNvSpPr/>
          <p:nvPr/>
        </p:nvSpPr>
        <p:spPr>
          <a:xfrm>
            <a:off x="1078992" y="38404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Written in pure binary (0s &amp; 1s)</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868680" y="4370832"/>
            <a:ext cx="82296" cy="82296"/>
          </a:xfrm>
          <a:prstGeom prst="ellipse">
            <a:avLst/>
          </a:prstGeom>
          <a:solidFill>
            <a:srgbClr val="1B998B"/>
          </a:solidFill>
        </p:spPr>
      </p:sp>
      <p:sp>
        <p:nvSpPr>
          <p:cNvPr id="12" name="Text 10"/>
          <p:cNvSpPr/>
          <p:nvPr/>
        </p:nvSpPr>
        <p:spPr>
          <a:xfrm>
            <a:off x="1078992" y="42976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Executes with no translation needed</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868680" y="4828032"/>
            <a:ext cx="82296" cy="82296"/>
          </a:xfrm>
          <a:prstGeom prst="ellipse">
            <a:avLst/>
          </a:prstGeom>
          <a:solidFill>
            <a:srgbClr val="1B998B"/>
          </a:solidFill>
        </p:spPr>
      </p:sp>
      <p:sp>
        <p:nvSpPr>
          <p:cNvPr id="14" name="Text 12"/>
          <p:cNvSpPr/>
          <p:nvPr/>
        </p:nvSpPr>
        <p:spPr>
          <a:xfrm>
            <a:off x="1078992" y="47548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Completely hardware-dependent</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868680" y="5285232"/>
            <a:ext cx="82296" cy="82296"/>
          </a:xfrm>
          <a:prstGeom prst="ellipse">
            <a:avLst/>
          </a:prstGeom>
          <a:solidFill>
            <a:srgbClr val="1B998B"/>
          </a:solidFill>
        </p:spPr>
      </p:sp>
      <p:sp>
        <p:nvSpPr>
          <p:cNvPr id="16" name="Text 14"/>
          <p:cNvSpPr/>
          <p:nvPr/>
        </p:nvSpPr>
        <p:spPr>
          <a:xfrm>
            <a:off x="1078992" y="52120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Extremely difficult to write &amp; debug</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6217920" y="1554480"/>
            <a:ext cx="5394960" cy="4297680"/>
          </a:xfrm>
          <a:prstGeom prst="roundRect">
            <a:avLst>
              <a:gd name="adj" fmla="val 1702"/>
            </a:avLst>
          </a:prstGeom>
          <a:solidFill>
            <a:srgbClr val="FFFFFF"/>
          </a:solidFill>
          <a:ln w="12700">
            <a:solidFill>
              <a:srgbClr val="E1E6E8"/>
            </a:solidFill>
            <a:prstDash val="solid"/>
          </a:ln>
        </p:spPr>
      </p:sp>
      <p:sp>
        <p:nvSpPr>
          <p:cNvPr id="18" name="Text 16"/>
          <p:cNvSpPr/>
          <p:nvPr/>
        </p:nvSpPr>
        <p:spPr>
          <a:xfrm>
            <a:off x="6537960" y="1783080"/>
            <a:ext cx="4754880" cy="411480"/>
          </a:xfrm>
          <a:prstGeom prst="rect">
            <a:avLst/>
          </a:prstGeom>
          <a:noFill/>
        </p:spPr>
        <p:txBody>
          <a:bodyPr wrap="square" lIns="0" tIns="0" rIns="0" bIns="0" rtlCol="0" anchor="ctr"/>
          <a:lstStyle/>
          <a:p>
            <a:pPr marL="0" indent="0">
              <a:buNone/>
            </a:pPr>
            <a:r>
              <a:rPr lang="en-US" sz="2400" b="1" dirty="0">
                <a:solidFill>
                  <a:srgbClr val="0D1B2A"/>
                </a:solidFill>
                <a:latin typeface="Cambria" panose="02040503050406030204" pitchFamily="34" charset="0"/>
                <a:ea typeface="Cambria" panose="02040503050406030204" pitchFamily="34" charset="-122"/>
                <a:cs typeface="Cambria" panose="02040503050406030204" pitchFamily="34" charset="-120"/>
              </a:rPr>
              <a:t>Assembly Language</a:t>
            </a:r>
            <a:endParaRPr lang="en-US" sz="2400" b="1" dirty="0">
              <a:solidFill>
                <a:srgbClr val="0D1B2A"/>
              </a:solidFill>
              <a:latin typeface="Cambria" panose="02040503050406030204" pitchFamily="34" charset="0"/>
              <a:ea typeface="Cambria" panose="02040503050406030204" pitchFamily="34" charset="-122"/>
              <a:cs typeface="Cambria" panose="02040503050406030204" pitchFamily="34" charset="-120"/>
            </a:endParaRPr>
          </a:p>
        </p:txBody>
      </p:sp>
      <p:sp>
        <p:nvSpPr>
          <p:cNvPr id="19" name="Text 17"/>
          <p:cNvSpPr/>
          <p:nvPr/>
        </p:nvSpPr>
        <p:spPr>
          <a:xfrm>
            <a:off x="6537960" y="2194560"/>
            <a:ext cx="4754880" cy="365760"/>
          </a:xfrm>
          <a:prstGeom prst="rect">
            <a:avLst/>
          </a:prstGeom>
          <a:noFill/>
        </p:spPr>
        <p:txBody>
          <a:bodyPr wrap="square" lIns="0" tIns="0" rIns="0" bIns="0" rtlCol="0" anchor="ctr"/>
          <a:lstStyle/>
          <a:p>
            <a:pPr marL="0" indent="0">
              <a:buNone/>
            </a:pPr>
            <a:r>
              <a:rPr lang="en-US" sz="1600" i="1" dirty="0">
                <a:solidFill>
                  <a:srgbClr val="5A6570"/>
                </a:solidFill>
                <a:latin typeface="Calibri" panose="020F0502020204030204" pitchFamily="34" charset="0"/>
                <a:ea typeface="Calibri" panose="020F0502020204030204" pitchFamily="34" charset="-122"/>
                <a:cs typeface="Calibri" panose="020F0502020204030204" pitchFamily="34" charset="-120"/>
              </a:rPr>
              <a:t>Human-readable symbols for machine code</a:t>
            </a:r>
            <a:endParaRPr lang="en-US" sz="1600" i="1" dirty="0">
              <a:solidFill>
                <a:srgbClr val="5A6570"/>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6537960" y="2651760"/>
            <a:ext cx="4754880" cy="960120"/>
          </a:xfrm>
          <a:prstGeom prst="rect">
            <a:avLst/>
          </a:prstGeom>
          <a:solidFill>
            <a:srgbClr val="0D1B2A"/>
          </a:solidFill>
        </p:spPr>
      </p:sp>
      <p:sp>
        <p:nvSpPr>
          <p:cNvPr id="21" name="Text 19"/>
          <p:cNvSpPr/>
          <p:nvPr/>
        </p:nvSpPr>
        <p:spPr>
          <a:xfrm>
            <a:off x="6720840" y="2724912"/>
            <a:ext cx="4389120" cy="822960"/>
          </a:xfrm>
          <a:prstGeom prst="rect">
            <a:avLst/>
          </a:prstGeom>
          <a:noFill/>
        </p:spPr>
        <p:txBody>
          <a:bodyPr wrap="square" lIns="0" tIns="0" rIns="0" bIns="0" rtlCol="0" anchor="ctr"/>
          <a:lstStyle/>
          <a:p>
            <a:pPr marL="0" indent="0">
              <a:lnSpc>
                <a:spcPct val="115000"/>
              </a:lnSpc>
              <a:buNone/>
            </a:pPr>
            <a:r>
              <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rPr>
              <a:t>MOV AL, 61h</a:t>
            </a:r>
            <a:endParaRPr lang="en-US" sz="1600" dirty="0"/>
          </a:p>
          <a:p>
            <a:pPr marL="0" indent="0">
              <a:lnSpc>
                <a:spcPct val="115000"/>
              </a:lnSpc>
              <a:buNone/>
            </a:pPr>
            <a:r>
              <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rPr>
              <a:t>ADD AL, BL</a:t>
            </a:r>
            <a:endParaRPr lang="en-US" sz="1600" dirty="0"/>
          </a:p>
          <a:p>
            <a:pPr marL="0" indent="0">
              <a:lnSpc>
                <a:spcPct val="115000"/>
              </a:lnSpc>
              <a:buNone/>
            </a:pPr>
            <a:r>
              <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rPr>
              <a:t>JMP LOOP</a:t>
            </a:r>
            <a:endParaRPr lang="en-US" sz="1600" dirty="0">
              <a:solidFill>
                <a:srgbClr val="DCEFEC"/>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22" name="Shape 20"/>
          <p:cNvSpPr/>
          <p:nvPr/>
        </p:nvSpPr>
        <p:spPr>
          <a:xfrm>
            <a:off x="6537960" y="3913632"/>
            <a:ext cx="82296" cy="82296"/>
          </a:xfrm>
          <a:prstGeom prst="ellipse">
            <a:avLst/>
          </a:prstGeom>
          <a:solidFill>
            <a:srgbClr val="1B998B"/>
          </a:solidFill>
        </p:spPr>
      </p:sp>
      <p:sp>
        <p:nvSpPr>
          <p:cNvPr id="23" name="Text 21"/>
          <p:cNvSpPr/>
          <p:nvPr/>
        </p:nvSpPr>
        <p:spPr>
          <a:xfrm>
            <a:off x="6748272" y="38404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Uses mnemonics (MOV, ADD, JMP)</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6537960" y="4370832"/>
            <a:ext cx="82296" cy="82296"/>
          </a:xfrm>
          <a:prstGeom prst="ellipse">
            <a:avLst/>
          </a:prstGeom>
          <a:solidFill>
            <a:srgbClr val="1B998B"/>
          </a:solidFill>
        </p:spPr>
      </p:sp>
      <p:sp>
        <p:nvSpPr>
          <p:cNvPr id="25" name="Text 23"/>
          <p:cNvSpPr/>
          <p:nvPr/>
        </p:nvSpPr>
        <p:spPr>
          <a:xfrm>
            <a:off x="6748272" y="42976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Needs an assembler to convert to binary</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6537960" y="4828032"/>
            <a:ext cx="82296" cy="82296"/>
          </a:xfrm>
          <a:prstGeom prst="ellipse">
            <a:avLst/>
          </a:prstGeom>
          <a:solidFill>
            <a:srgbClr val="1B998B"/>
          </a:solidFill>
        </p:spPr>
      </p:sp>
      <p:sp>
        <p:nvSpPr>
          <p:cNvPr id="27" name="Text 25"/>
          <p:cNvSpPr/>
          <p:nvPr/>
        </p:nvSpPr>
        <p:spPr>
          <a:xfrm>
            <a:off x="6748272" y="47548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One step above machine code</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6537960" y="5285232"/>
            <a:ext cx="82296" cy="82296"/>
          </a:xfrm>
          <a:prstGeom prst="ellipse">
            <a:avLst/>
          </a:prstGeom>
          <a:solidFill>
            <a:srgbClr val="1B998B"/>
          </a:solidFill>
        </p:spPr>
      </p:sp>
      <p:sp>
        <p:nvSpPr>
          <p:cNvPr id="29" name="Text 27"/>
          <p:cNvSpPr/>
          <p:nvPr/>
        </p:nvSpPr>
        <p:spPr>
          <a:xfrm>
            <a:off x="6748272" y="5212080"/>
            <a:ext cx="4526280" cy="365760"/>
          </a:xfrm>
          <a:prstGeom prst="rect">
            <a:avLst/>
          </a:prstGeom>
          <a:noFill/>
        </p:spPr>
        <p:txBody>
          <a:bodyPr wrap="square" lIns="0" tIns="0" rIns="0" bIns="0" rtlCol="0" anchor="ctr"/>
          <a:lstStyle/>
          <a:p>
            <a:pPr marL="0" indent="0">
              <a:buNone/>
            </a:pPr>
            <a:r>
              <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rPr>
              <a:t>Still tied to a specific processor</a:t>
            </a:r>
            <a:endParaRPr lang="en-US" sz="16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11475720" y="6473952"/>
            <a:ext cx="548640" cy="274320"/>
          </a:xfrm>
          <a:prstGeom prst="rect">
            <a:avLst/>
          </a:prstGeom>
          <a:noFill/>
        </p:spPr>
        <p:txBody>
          <a:bodyPr wrap="square" rtlCol="0" anchor="ctr"/>
          <a:lstStyle/>
          <a:p>
            <a:pPr marL="0" indent="0" algn="r">
              <a:buNone/>
            </a:pPr>
            <a:r>
              <a:rPr lang="en-US" sz="1400" dirty="0">
                <a:solidFill>
                  <a:srgbClr val="A9B4BC"/>
                </a:solidFill>
                <a:latin typeface="Calibri" panose="020F0502020204030204" pitchFamily="34" charset="0"/>
                <a:ea typeface="Calibri" panose="020F0502020204030204" pitchFamily="34" charset="-122"/>
                <a:cs typeface="Calibri" panose="020F0502020204030204" pitchFamily="34" charset="-120"/>
              </a:rPr>
              <a:t>03</a:t>
            </a:r>
            <a:endParaRPr lang="en-US" sz="1400" dirty="0">
              <a:solidFill>
                <a:srgbClr val="A9B4BC"/>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600"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HIGH-LEVEL LANGUAGES</a:t>
            </a:r>
            <a:endParaRPr lang="en-US" sz="1600"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548640" y="749808"/>
            <a:ext cx="10515600" cy="685800"/>
          </a:xfrm>
          <a:prstGeom prst="rect">
            <a:avLst/>
          </a:prstGeom>
          <a:noFill/>
        </p:spPr>
        <p:txBody>
          <a:bodyPr wrap="square" lIns="0" tIns="0" rIns="0" bIns="0" rtlCol="0" anchor="ctr"/>
          <a:lstStyle/>
          <a:p>
            <a:pPr marL="0" indent="0">
              <a:buNone/>
            </a:pPr>
            <a:r>
              <a:rPr lang="en-US" sz="36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Designed for People, Translated for Machines</a:t>
            </a:r>
            <a:endParaRPr lang="en-US" sz="36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4" name="Text 2"/>
          <p:cNvSpPr/>
          <p:nvPr/>
        </p:nvSpPr>
        <p:spPr>
          <a:xfrm>
            <a:off x="548640" y="1417320"/>
            <a:ext cx="10607040" cy="640080"/>
          </a:xfrm>
          <a:prstGeom prst="rect">
            <a:avLst/>
          </a:prstGeom>
          <a:noFill/>
        </p:spPr>
        <p:txBody>
          <a:bodyPr wrap="square" rtlCol="0" anchor="ctr"/>
          <a:lstStyle/>
          <a:p>
            <a:pPr marL="0" indent="0">
              <a:lnSpc>
                <a:spcPct val="125000"/>
              </a:lnSpc>
              <a:buNone/>
            </a:pPr>
            <a:r>
              <a:rPr lang="en-US" sz="16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High-level languages read closer to English and math notation. A compiler or interpreter translates the code into machine instructions, which makes these languages portable across different hardware.</a:t>
            </a:r>
            <a:endParaRPr lang="en-US" sz="16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nvSpPr>
        <p:spPr>
          <a:xfrm>
            <a:off x="548640" y="2331720"/>
            <a:ext cx="5166360" cy="1234440"/>
          </a:xfrm>
          <a:prstGeom prst="roundRect">
            <a:avLst>
              <a:gd name="adj" fmla="val 5926"/>
            </a:avLst>
          </a:prstGeom>
          <a:solidFill>
            <a:srgbClr val="16283D"/>
          </a:solidFill>
        </p:spPr>
      </p:sp>
      <p:sp>
        <p:nvSpPr>
          <p:cNvPr id="6" name="Shape 4"/>
          <p:cNvSpPr/>
          <p:nvPr/>
        </p:nvSpPr>
        <p:spPr>
          <a:xfrm>
            <a:off x="777240" y="2560320"/>
            <a:ext cx="384048" cy="384048"/>
          </a:xfrm>
          <a:prstGeom prst="ellipse">
            <a:avLst/>
          </a:prstGeom>
          <a:solidFill>
            <a:srgbClr val="1B998B"/>
          </a:solidFill>
        </p:spPr>
      </p:sp>
      <p:sp>
        <p:nvSpPr>
          <p:cNvPr id="7" name="Text 5"/>
          <p:cNvSpPr/>
          <p:nvPr/>
        </p:nvSpPr>
        <p:spPr>
          <a:xfrm>
            <a:off x="777240" y="2560320"/>
            <a:ext cx="384048" cy="384048"/>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1325880" y="2514600"/>
            <a:ext cx="4206240" cy="320040"/>
          </a:xfrm>
          <a:prstGeom prst="rect">
            <a:avLst/>
          </a:prstGeom>
          <a:noFill/>
        </p:spPr>
        <p:txBody>
          <a:bodyPr wrap="square" lIns="0" tIns="0" rIns="0" bIns="0" rtlCol="0" anchor="ctr"/>
          <a:lstStyle/>
          <a:p>
            <a:pPr marL="0" indent="0">
              <a:buNone/>
            </a:pPr>
            <a:r>
              <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rPr>
              <a:t>Portability</a:t>
            </a:r>
            <a:endPar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9" name="Text 7"/>
          <p:cNvSpPr/>
          <p:nvPr/>
        </p:nvSpPr>
        <p:spPr>
          <a:xfrm>
            <a:off x="1325880" y="2862072"/>
            <a:ext cx="4160520" cy="594360"/>
          </a:xfrm>
          <a:prstGeom prst="rect">
            <a:avLst/>
          </a:prstGeom>
          <a:noFill/>
        </p:spPr>
        <p:txBody>
          <a:bodyPr wrap="square" lIns="0" tIns="0" rIns="0" bIns="0" rtlCol="0" anchor="ctr"/>
          <a:lstStyle/>
          <a:p>
            <a:pPr marL="0" indent="0">
              <a:lnSpc>
                <a:spcPct val="115000"/>
              </a:lnSpc>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Same source code can run on many machines with little or no change.</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989320" y="2331720"/>
            <a:ext cx="5166360" cy="1234440"/>
          </a:xfrm>
          <a:prstGeom prst="roundRect">
            <a:avLst>
              <a:gd name="adj" fmla="val 5926"/>
            </a:avLst>
          </a:prstGeom>
          <a:solidFill>
            <a:srgbClr val="16283D"/>
          </a:solidFill>
        </p:spPr>
      </p:sp>
      <p:sp>
        <p:nvSpPr>
          <p:cNvPr id="11" name="Shape 9"/>
          <p:cNvSpPr/>
          <p:nvPr/>
        </p:nvSpPr>
        <p:spPr>
          <a:xfrm>
            <a:off x="6217920" y="2560320"/>
            <a:ext cx="384048" cy="384048"/>
          </a:xfrm>
          <a:prstGeom prst="ellipse">
            <a:avLst/>
          </a:prstGeom>
          <a:solidFill>
            <a:srgbClr val="1B998B"/>
          </a:solidFill>
        </p:spPr>
      </p:sp>
      <p:sp>
        <p:nvSpPr>
          <p:cNvPr id="12" name="Text 10"/>
          <p:cNvSpPr/>
          <p:nvPr/>
        </p:nvSpPr>
        <p:spPr>
          <a:xfrm>
            <a:off x="6217920" y="2560320"/>
            <a:ext cx="384048" cy="384048"/>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6766560" y="2514600"/>
            <a:ext cx="4206240" cy="320040"/>
          </a:xfrm>
          <a:prstGeom prst="rect">
            <a:avLst/>
          </a:prstGeom>
          <a:noFill/>
        </p:spPr>
        <p:txBody>
          <a:bodyPr wrap="square" lIns="0" tIns="0" rIns="0" bIns="0" rtlCol="0" anchor="ctr"/>
          <a:lstStyle/>
          <a:p>
            <a:pPr marL="0" indent="0">
              <a:buNone/>
            </a:pPr>
            <a:r>
              <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rPr>
              <a:t>Readability</a:t>
            </a:r>
            <a:endPar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4" name="Text 12"/>
          <p:cNvSpPr/>
          <p:nvPr/>
        </p:nvSpPr>
        <p:spPr>
          <a:xfrm>
            <a:off x="6766560" y="2862072"/>
            <a:ext cx="4160520" cy="594360"/>
          </a:xfrm>
          <a:prstGeom prst="rect">
            <a:avLst/>
          </a:prstGeom>
          <a:noFill/>
        </p:spPr>
        <p:txBody>
          <a:bodyPr wrap="square" lIns="0" tIns="0" rIns="0" bIns="0" rtlCol="0" anchor="ctr"/>
          <a:lstStyle/>
          <a:p>
            <a:pPr marL="0" indent="0">
              <a:lnSpc>
                <a:spcPct val="115000"/>
              </a:lnSpc>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Uses English-like keywords: if, while, print, function.</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548640" y="3840480"/>
            <a:ext cx="5166360" cy="1234440"/>
          </a:xfrm>
          <a:prstGeom prst="roundRect">
            <a:avLst>
              <a:gd name="adj" fmla="val 5926"/>
            </a:avLst>
          </a:prstGeom>
          <a:solidFill>
            <a:srgbClr val="16283D"/>
          </a:solidFill>
        </p:spPr>
      </p:sp>
      <p:sp>
        <p:nvSpPr>
          <p:cNvPr id="16" name="Shape 14"/>
          <p:cNvSpPr/>
          <p:nvPr/>
        </p:nvSpPr>
        <p:spPr>
          <a:xfrm>
            <a:off x="777240" y="4069080"/>
            <a:ext cx="384048" cy="384048"/>
          </a:xfrm>
          <a:prstGeom prst="ellipse">
            <a:avLst/>
          </a:prstGeom>
          <a:solidFill>
            <a:srgbClr val="1B998B"/>
          </a:solidFill>
        </p:spPr>
      </p:sp>
      <p:sp>
        <p:nvSpPr>
          <p:cNvPr id="17" name="Text 15"/>
          <p:cNvSpPr/>
          <p:nvPr/>
        </p:nvSpPr>
        <p:spPr>
          <a:xfrm>
            <a:off x="777240" y="4069080"/>
            <a:ext cx="384048" cy="384048"/>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1325880" y="4023360"/>
            <a:ext cx="4206240" cy="320040"/>
          </a:xfrm>
          <a:prstGeom prst="rect">
            <a:avLst/>
          </a:prstGeom>
          <a:noFill/>
        </p:spPr>
        <p:txBody>
          <a:bodyPr wrap="square" lIns="0" tIns="0" rIns="0" bIns="0" rtlCol="0" anchor="ctr"/>
          <a:lstStyle/>
          <a:p>
            <a:pPr marL="0" indent="0">
              <a:buNone/>
            </a:pPr>
            <a:r>
              <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rPr>
              <a:t>Faster Development</a:t>
            </a:r>
            <a:endPar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9" name="Text 17"/>
          <p:cNvSpPr/>
          <p:nvPr/>
        </p:nvSpPr>
        <p:spPr>
          <a:xfrm>
            <a:off x="1325880" y="4370832"/>
            <a:ext cx="4160520" cy="594360"/>
          </a:xfrm>
          <a:prstGeom prst="rect">
            <a:avLst/>
          </a:prstGeom>
          <a:noFill/>
        </p:spPr>
        <p:txBody>
          <a:bodyPr wrap="square" lIns="0" tIns="0" rIns="0" bIns="0" rtlCol="0" anchor="ctr"/>
          <a:lstStyle/>
          <a:p>
            <a:pPr marL="0" indent="0">
              <a:lnSpc>
                <a:spcPct val="115000"/>
              </a:lnSpc>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Less code needed to express the same logic than assembly.</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5989320" y="3840480"/>
            <a:ext cx="5166360" cy="1234440"/>
          </a:xfrm>
          <a:prstGeom prst="roundRect">
            <a:avLst>
              <a:gd name="adj" fmla="val 5926"/>
            </a:avLst>
          </a:prstGeom>
          <a:solidFill>
            <a:srgbClr val="16283D"/>
          </a:solidFill>
        </p:spPr>
      </p:sp>
      <p:sp>
        <p:nvSpPr>
          <p:cNvPr id="21" name="Shape 19"/>
          <p:cNvSpPr/>
          <p:nvPr/>
        </p:nvSpPr>
        <p:spPr>
          <a:xfrm>
            <a:off x="6217920" y="4069080"/>
            <a:ext cx="384048" cy="384048"/>
          </a:xfrm>
          <a:prstGeom prst="ellipse">
            <a:avLst/>
          </a:prstGeom>
          <a:solidFill>
            <a:srgbClr val="1B998B"/>
          </a:solidFill>
        </p:spPr>
      </p:sp>
      <p:sp>
        <p:nvSpPr>
          <p:cNvPr id="22" name="Text 20"/>
          <p:cNvSpPr/>
          <p:nvPr/>
        </p:nvSpPr>
        <p:spPr>
          <a:xfrm>
            <a:off x="6217920" y="4069080"/>
            <a:ext cx="384048" cy="384048"/>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6766560" y="4023360"/>
            <a:ext cx="4206240" cy="320040"/>
          </a:xfrm>
          <a:prstGeom prst="rect">
            <a:avLst/>
          </a:prstGeom>
          <a:noFill/>
        </p:spPr>
        <p:txBody>
          <a:bodyPr wrap="square" lIns="0" tIns="0" rIns="0" bIns="0" rtlCol="0" anchor="ctr"/>
          <a:lstStyle/>
          <a:p>
            <a:pPr marL="0" indent="0">
              <a:buNone/>
            </a:pPr>
            <a:r>
              <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rPr>
              <a:t>Needs Translation</a:t>
            </a:r>
            <a:endParaRPr lang="en-US"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4" name="Text 22"/>
          <p:cNvSpPr/>
          <p:nvPr/>
        </p:nvSpPr>
        <p:spPr>
          <a:xfrm>
            <a:off x="6766560" y="4370832"/>
            <a:ext cx="4160520" cy="594360"/>
          </a:xfrm>
          <a:prstGeom prst="rect">
            <a:avLst/>
          </a:prstGeom>
          <a:noFill/>
        </p:spPr>
        <p:txBody>
          <a:bodyPr wrap="square" lIns="0" tIns="0" rIns="0" bIns="0" rtlCol="0" anchor="ctr"/>
          <a:lstStyle/>
          <a:p>
            <a:pPr marL="0" indent="0">
              <a:lnSpc>
                <a:spcPct val="115000"/>
              </a:lnSpc>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Requires a compiler or interpreter before/while it runs.</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548640" y="5623560"/>
            <a:ext cx="3657600" cy="274320"/>
          </a:xfrm>
          <a:prstGeom prst="rect">
            <a:avLst/>
          </a:prstGeom>
          <a:noFill/>
        </p:spPr>
        <p:txBody>
          <a:bodyPr wrap="square" rtlCol="0" anchor="ctr"/>
          <a:lstStyle/>
          <a:p>
            <a:pPr marL="0" indent="0">
              <a:buNone/>
            </a:pPr>
            <a:r>
              <a:rPr lang="en-US" sz="1400"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COMMON EXAMPLES</a:t>
            </a:r>
            <a:endParaRPr lang="en-US" sz="1400"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548640" y="5943600"/>
            <a:ext cx="1417320" cy="502920"/>
          </a:xfrm>
          <a:prstGeom prst="roundRect">
            <a:avLst>
              <a:gd name="adj" fmla="val 49091"/>
            </a:avLst>
          </a:prstGeom>
          <a:solidFill>
            <a:srgbClr val="1F3549"/>
          </a:solidFill>
          <a:ln w="12700">
            <a:solidFill>
              <a:srgbClr val="1B998B"/>
            </a:solidFill>
            <a:prstDash val="solid"/>
          </a:ln>
        </p:spPr>
      </p:sp>
      <p:sp>
        <p:nvSpPr>
          <p:cNvPr id="27" name="Text 25"/>
          <p:cNvSpPr/>
          <p:nvPr/>
        </p:nvSpPr>
        <p:spPr>
          <a:xfrm>
            <a:off x="548640" y="5943600"/>
            <a:ext cx="14173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2148840" y="5943600"/>
            <a:ext cx="1417320" cy="502920"/>
          </a:xfrm>
          <a:prstGeom prst="roundRect">
            <a:avLst>
              <a:gd name="adj" fmla="val 49091"/>
            </a:avLst>
          </a:prstGeom>
          <a:solidFill>
            <a:srgbClr val="1F3549"/>
          </a:solidFill>
          <a:ln w="12700">
            <a:solidFill>
              <a:srgbClr val="1B998B"/>
            </a:solidFill>
            <a:prstDash val="solid"/>
          </a:ln>
        </p:spPr>
      </p:sp>
      <p:sp>
        <p:nvSpPr>
          <p:cNvPr id="29" name="Text 27"/>
          <p:cNvSpPr/>
          <p:nvPr/>
        </p:nvSpPr>
        <p:spPr>
          <a:xfrm>
            <a:off x="2148840" y="5943600"/>
            <a:ext cx="14173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Shape 28"/>
          <p:cNvSpPr/>
          <p:nvPr/>
        </p:nvSpPr>
        <p:spPr>
          <a:xfrm>
            <a:off x="3749040" y="5943600"/>
            <a:ext cx="1417320" cy="502920"/>
          </a:xfrm>
          <a:prstGeom prst="roundRect">
            <a:avLst>
              <a:gd name="adj" fmla="val 49091"/>
            </a:avLst>
          </a:prstGeom>
          <a:solidFill>
            <a:srgbClr val="1F3549"/>
          </a:solidFill>
          <a:ln w="12700">
            <a:solidFill>
              <a:srgbClr val="1B998B"/>
            </a:solidFill>
            <a:prstDash val="solid"/>
          </a:ln>
        </p:spPr>
      </p:sp>
      <p:sp>
        <p:nvSpPr>
          <p:cNvPr id="31" name="Text 29"/>
          <p:cNvSpPr/>
          <p:nvPr/>
        </p:nvSpPr>
        <p:spPr>
          <a:xfrm>
            <a:off x="3749040" y="5943600"/>
            <a:ext cx="14173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Java</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Shape 30"/>
          <p:cNvSpPr/>
          <p:nvPr/>
        </p:nvSpPr>
        <p:spPr>
          <a:xfrm>
            <a:off x="5349240" y="5943600"/>
            <a:ext cx="1417320" cy="502920"/>
          </a:xfrm>
          <a:prstGeom prst="roundRect">
            <a:avLst>
              <a:gd name="adj" fmla="val 49091"/>
            </a:avLst>
          </a:prstGeom>
          <a:solidFill>
            <a:srgbClr val="1F3549"/>
          </a:solidFill>
          <a:ln w="12700">
            <a:solidFill>
              <a:srgbClr val="1B998B"/>
            </a:solidFill>
            <a:prstDash val="solid"/>
          </a:ln>
        </p:spPr>
      </p:sp>
      <p:sp>
        <p:nvSpPr>
          <p:cNvPr id="33" name="Text 31"/>
          <p:cNvSpPr/>
          <p:nvPr/>
        </p:nvSpPr>
        <p:spPr>
          <a:xfrm>
            <a:off x="5349240" y="5943600"/>
            <a:ext cx="14173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Python</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Shape 32"/>
          <p:cNvSpPr/>
          <p:nvPr/>
        </p:nvSpPr>
        <p:spPr>
          <a:xfrm>
            <a:off x="6949440" y="5943600"/>
            <a:ext cx="1417320" cy="502920"/>
          </a:xfrm>
          <a:prstGeom prst="roundRect">
            <a:avLst>
              <a:gd name="adj" fmla="val 49091"/>
            </a:avLst>
          </a:prstGeom>
          <a:solidFill>
            <a:srgbClr val="1F3549"/>
          </a:solidFill>
          <a:ln w="12700">
            <a:solidFill>
              <a:srgbClr val="1B998B"/>
            </a:solidFill>
            <a:prstDash val="solid"/>
          </a:ln>
        </p:spPr>
      </p:sp>
      <p:sp>
        <p:nvSpPr>
          <p:cNvPr id="35" name="Text 33"/>
          <p:cNvSpPr/>
          <p:nvPr/>
        </p:nvSpPr>
        <p:spPr>
          <a:xfrm>
            <a:off x="6949440" y="5943600"/>
            <a:ext cx="14173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JavaScript</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Text 34"/>
          <p:cNvSpPr/>
          <p:nvPr/>
        </p:nvSpPr>
        <p:spPr>
          <a:xfrm>
            <a:off x="11475720" y="6473952"/>
            <a:ext cx="548640" cy="274320"/>
          </a:xfrm>
          <a:prstGeom prst="rect">
            <a:avLst/>
          </a:prstGeom>
          <a:noFill/>
        </p:spPr>
        <p:txBody>
          <a:bodyPr wrap="square" rtlCol="0" anchor="ctr"/>
          <a:lstStyle/>
          <a:p>
            <a:pPr marL="0" indent="0" algn="r">
              <a:buNone/>
            </a:pPr>
            <a:r>
              <a:rPr lang="en-US" sz="1400" dirty="0">
                <a:solidFill>
                  <a:srgbClr val="8A98A6"/>
                </a:solidFill>
                <a:latin typeface="Calibri" panose="020F0502020204030204" pitchFamily="34" charset="0"/>
                <a:ea typeface="Calibri" panose="020F0502020204030204" pitchFamily="34" charset="-122"/>
                <a:cs typeface="Calibri" panose="020F0502020204030204" pitchFamily="34" charset="-120"/>
              </a:rPr>
              <a:t>04</a:t>
            </a:r>
            <a:endParaRPr lang="en-US" sz="1400" dirty="0">
              <a:solidFill>
                <a:srgbClr val="8A98A6"/>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749808"/>
            <a:ext cx="10515600" cy="685800"/>
          </a:xfrm>
          <a:prstGeom prst="rect">
            <a:avLst/>
          </a:prstGeom>
          <a:noFill/>
        </p:spPr>
        <p:txBody>
          <a:bodyPr wrap="square" lIns="0" tIns="0" rIns="0" bIns="0" rtlCol="0" anchor="ctr"/>
          <a:lstStyle/>
          <a:p>
            <a:pPr marL="0" indent="0">
              <a:buNone/>
            </a:pPr>
            <a:r>
              <a:rPr lang="en-US" sz="4000" b="1" dirty="0">
                <a:solidFill>
                  <a:srgbClr val="1A2430"/>
                </a:solidFill>
                <a:latin typeface="Cambria" panose="02040503050406030204" pitchFamily="34" charset="0"/>
                <a:ea typeface="Cambria" panose="02040503050406030204" pitchFamily="34" charset="-122"/>
                <a:cs typeface="Cambria" panose="02040503050406030204" pitchFamily="34" charset="-120"/>
              </a:rPr>
              <a:t>Low-Level vs. High-Level Languages</a:t>
            </a:r>
            <a:endParaRPr lang="en-US" sz="4000" b="1" dirty="0">
              <a:solidFill>
                <a:srgbClr val="1A2430"/>
              </a:solidFill>
              <a:latin typeface="Cambria" panose="02040503050406030204" pitchFamily="34" charset="0"/>
              <a:ea typeface="Cambria" panose="02040503050406030204" pitchFamily="34" charset="-122"/>
              <a:cs typeface="Cambria" panose="02040503050406030204" pitchFamily="34" charset="-120"/>
            </a:endParaRPr>
          </a:p>
        </p:txBody>
      </p:sp>
      <p:graphicFrame>
        <p:nvGraphicFramePr>
          <p:cNvPr id="10" name="Table 0"/>
          <p:cNvGraphicFramePr>
            <a:graphicFrameLocks noGrp="1"/>
          </p:cNvGraphicFramePr>
          <p:nvPr/>
        </p:nvGraphicFramePr>
        <p:xfrm>
          <a:off x="548640" y="1508760"/>
          <a:ext cx="11064240" cy="4572000"/>
        </p:xfrm>
        <a:graphic>
          <a:graphicData uri="http://schemas.openxmlformats.org/drawingml/2006/table">
            <a:tbl>
              <a:tblPr/>
              <a:tblGrid>
                <a:gridCol w="3200400"/>
                <a:gridCol w="3931920"/>
                <a:gridCol w="3931920"/>
              </a:tblGrid>
              <a:tr h="566928">
                <a:tc>
                  <a:txBody>
                    <a:bodyP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Aspect</a:t>
                      </a:r>
                      <a:endPar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0D1B2A"/>
                    </a:solidFill>
                  </a:tcPr>
                </a:tc>
                <a:tc>
                  <a:txBody>
                    <a:bodyP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Low-Level Language</a:t>
                      </a:r>
                      <a:endPar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0D1B2A"/>
                    </a:solidFill>
                  </a:tcPr>
                </a:tc>
                <a:tc>
                  <a:txBody>
                    <a:bodyP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High-Level Language</a:t>
                      </a:r>
                      <a:endPar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0D1B2A"/>
                    </a:solidFill>
                  </a:tcPr>
                </a:tc>
              </a:tr>
              <a:tr h="566928">
                <a:tc>
                  <a:txBody>
                    <a:bodyPr/>
                    <a:lstStyle/>
                    <a:p>
                      <a:pPr marL="0" indent="0" algn="l">
                        <a:buNone/>
                      </a:pPr>
                      <a:r>
                        <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rPr>
                        <a:t>Closeness to hardware</a:t>
                      </a:r>
                      <a:endPar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Very close</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Abstracted away</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r>
              <a:tr h="566928">
                <a:tc>
                  <a:txBody>
                    <a:bodyPr/>
                    <a:lstStyle/>
                    <a:p>
                      <a:pPr marL="0" indent="0" algn="l">
                        <a:buNone/>
                      </a:pPr>
                      <a:r>
                        <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rPr>
                        <a:t>Readability</a:t>
                      </a:r>
                      <a:endPar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Difficult (binary / mnemonics)</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Easy, English-like syntax</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r>
              <a:tr h="566928">
                <a:tc>
                  <a:txBody>
                    <a:bodyPr/>
                    <a:lstStyle/>
                    <a:p>
                      <a:pPr marL="0" indent="0" algn="l">
                        <a:buNone/>
                      </a:pPr>
                      <a:r>
                        <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rPr>
                        <a:t>Execution speed</a:t>
                      </a:r>
                      <a:endPar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Very fast</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Slower (needs translation)</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r>
              <a:tr h="566928">
                <a:tc>
                  <a:txBody>
                    <a:bodyPr/>
                    <a:lstStyle/>
                    <a:p>
                      <a:pPr marL="0" indent="0" algn="l">
                        <a:buNone/>
                      </a:pPr>
                      <a:r>
                        <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rPr>
                        <a:t>Portability</a:t>
                      </a:r>
                      <a:endPar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Machine-specific</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Portable across platforms</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r>
              <a:tr h="566928">
                <a:tc>
                  <a:txBody>
                    <a:bodyPr/>
                    <a:lstStyle/>
                    <a:p>
                      <a:pPr marL="0" indent="0" algn="l">
                        <a:buNone/>
                      </a:pPr>
                      <a:r>
                        <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rPr>
                        <a:t>Development time</a:t>
                      </a:r>
                      <a:endPar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Long, complex</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Short, productive</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FFFFFF"/>
                    </a:solidFill>
                  </a:tcPr>
                </a:tc>
              </a:tr>
              <a:tr h="566928">
                <a:tc>
                  <a:txBody>
                    <a:bodyPr/>
                    <a:lstStyle/>
                    <a:p>
                      <a:pPr marL="0" indent="0" algn="l">
                        <a:buNone/>
                      </a:pPr>
                      <a:r>
                        <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rPr>
                        <a:t>Typical examples</a:t>
                      </a:r>
                      <a:endParaRPr lang="en-US" sz="1800" b="1"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Machine code, Assembly</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c>
                  <a:txBody>
                    <a:bodyPr/>
                    <a:lstStyle/>
                    <a:p>
                      <a:pPr marL="0" indent="0" algn="ctr">
                        <a:buNone/>
                      </a:pPr>
                      <a:r>
                        <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rPr>
                        <a:t>C, Python, Java</a:t>
                      </a:r>
                      <a:endParaRPr lang="en-US" sz="18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E1E6E8"/>
                      </a:solidFill>
                      <a:prstDash val="solid"/>
                      <a:round/>
                      <a:headEnd type="none" w="med" len="med"/>
                      <a:tailEnd type="none" w="med" len="med"/>
                    </a:lnL>
                    <a:lnR w="9525" cap="flat" cmpd="sng" algn="ctr">
                      <a:solidFill>
                        <a:srgbClr val="E1E6E8"/>
                      </a:solidFill>
                      <a:prstDash val="solid"/>
                      <a:round/>
                      <a:headEnd type="none" w="med" len="med"/>
                      <a:tailEnd type="none" w="med" len="med"/>
                    </a:lnR>
                    <a:lnT w="9525" cap="flat" cmpd="sng" algn="ctr">
                      <a:solidFill>
                        <a:srgbClr val="E1E6E8"/>
                      </a:solidFill>
                      <a:prstDash val="solid"/>
                      <a:round/>
                      <a:headEnd type="none" w="med" len="med"/>
                      <a:tailEnd type="none" w="med" len="med"/>
                    </a:lnT>
                    <a:lnB w="9525" cap="flat" cmpd="sng" algn="ctr">
                      <a:solidFill>
                        <a:srgbClr val="E1E6E8"/>
                      </a:solidFill>
                      <a:prstDash val="solid"/>
                      <a:round/>
                      <a:headEnd type="none" w="med" len="med"/>
                      <a:tailEnd type="none" w="med" len="med"/>
                    </a:lnB>
                    <a:solidFill>
                      <a:srgbClr val="EEF2F3"/>
                    </a:solidFill>
                  </a:tcPr>
                </a:tc>
              </a:tr>
            </a:tbl>
          </a:graphicData>
        </a:graphic>
      </p:graphicFrame>
      <p:sp>
        <p:nvSpPr>
          <p:cNvPr id="5" name="Text 2"/>
          <p:cNvSpPr/>
          <p:nvPr/>
        </p:nvSpPr>
        <p:spPr>
          <a:xfrm>
            <a:off x="11475720" y="6473952"/>
            <a:ext cx="548640" cy="274320"/>
          </a:xfrm>
          <a:prstGeom prst="rect">
            <a:avLst/>
          </a:prstGeom>
          <a:noFill/>
        </p:spPr>
        <p:txBody>
          <a:bodyPr wrap="square" rtlCol="0" anchor="ctr"/>
          <a:lstStyle/>
          <a:p>
            <a:pPr marL="0" indent="0" algn="r">
              <a:buNone/>
            </a:pPr>
            <a:r>
              <a:rPr lang="en-US" sz="1600" dirty="0">
                <a:solidFill>
                  <a:srgbClr val="A9B4BC"/>
                </a:solidFill>
                <a:latin typeface="Calibri" panose="020F0502020204030204" pitchFamily="34" charset="0"/>
                <a:ea typeface="Calibri" panose="020F0502020204030204" pitchFamily="34" charset="-122"/>
                <a:cs typeface="Calibri" panose="020F0502020204030204" pitchFamily="34" charset="-120"/>
              </a:rPr>
              <a:t>09</a:t>
            </a:r>
            <a:endParaRPr lang="en-US" sz="1600" dirty="0">
              <a:solidFill>
                <a:srgbClr val="A9B4BC"/>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600" b="1" kern="0" spc="200" dirty="0">
                <a:solidFill>
                  <a:srgbClr val="1B998B"/>
                </a:solidFill>
                <a:latin typeface="Calibri" panose="020F0502020204030204" pitchFamily="34" charset="0"/>
                <a:ea typeface="Calibri" panose="020F0502020204030204" pitchFamily="34" charset="-122"/>
                <a:cs typeface="Calibri" panose="020F0502020204030204" pitchFamily="34" charset="-120"/>
              </a:rPr>
              <a:t>EVOLUTION</a:t>
            </a:r>
            <a:endParaRPr lang="en-US" sz="1600" b="1" kern="0" spc="200" dirty="0">
              <a:solidFill>
                <a:srgbClr val="1B998B"/>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548640" y="749808"/>
            <a:ext cx="10515600" cy="685800"/>
          </a:xfrm>
          <a:prstGeom prst="rect">
            <a:avLst/>
          </a:prstGeom>
          <a:noFill/>
        </p:spPr>
        <p:txBody>
          <a:bodyPr wrap="square" lIns="0" tIns="0" rIns="0" bIns="0" rtlCol="0" anchor="ctr"/>
          <a:lstStyle/>
          <a:p>
            <a:pPr marL="0" indent="0">
              <a:buNone/>
            </a:pPr>
            <a:r>
              <a:rPr lang="en-US" sz="4000" b="1" dirty="0">
                <a:solidFill>
                  <a:schemeClr val="accent1"/>
                </a:solidFill>
                <a:effectLst>
                  <a:outerShdw blurRad="38100" dist="25400" dir="5400000" algn="ctr" rotWithShape="0">
                    <a:srgbClr val="6E747A">
                      <a:alpha val="43000"/>
                    </a:srgbClr>
                  </a:outerShdw>
                </a:effectLst>
                <a:latin typeface="Cambria" panose="02040503050406030204" pitchFamily="34" charset="0"/>
                <a:ea typeface="Cambria" panose="02040503050406030204" pitchFamily="34" charset="-122"/>
                <a:cs typeface="Cambria" panose="02040503050406030204" pitchFamily="34" charset="-120"/>
              </a:rPr>
              <a:t>Five Generations of Programming Languages</a:t>
            </a:r>
            <a:endParaRPr lang="en-US" sz="4000" b="1" dirty="0">
              <a:solidFill>
                <a:schemeClr val="accent1"/>
              </a:solidFill>
              <a:effectLst>
                <a:outerShdw blurRad="38100" dist="25400" dir="5400000" algn="ctr" rotWithShape="0">
                  <a:srgbClr val="6E747A">
                    <a:alpha val="43000"/>
                  </a:srgb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4" name="Text 2"/>
          <p:cNvSpPr/>
          <p:nvPr/>
        </p:nvSpPr>
        <p:spPr>
          <a:xfrm>
            <a:off x="548640" y="1417320"/>
            <a:ext cx="10607040" cy="548640"/>
          </a:xfrm>
          <a:prstGeom prst="rect">
            <a:avLst/>
          </a:prstGeom>
          <a:noFill/>
        </p:spPr>
        <p:txBody>
          <a:bodyPr wrap="square" rtlCol="0" anchor="ctr"/>
          <a:lstStyle/>
          <a:p>
            <a:pPr marL="0" indent="0">
              <a:lnSpc>
                <a:spcPct val="120000"/>
              </a:lnSpc>
              <a:buNone/>
            </a:pPr>
            <a:r>
              <a:rPr lang="en-US" sz="2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alibri" panose="020F0502020204030204" pitchFamily="34" charset="0"/>
                <a:ea typeface="Calibri" panose="020F0502020204030204" pitchFamily="34" charset="-122"/>
                <a:cs typeface="Calibri" panose="020F0502020204030204" pitchFamily="34" charset="-120"/>
              </a:rPr>
              <a:t>Beyond the low/high-level split, languages are grouped into five generations that trace their historical evolution from raw binary to AI-driven, goal-based programming.</a:t>
            </a:r>
            <a:endParaRPr lang="en-US" sz="20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custDataLst>
              <p:tags r:id="rId1"/>
            </p:custDataLst>
          </p:nvPr>
        </p:nvSpPr>
        <p:spPr>
          <a:xfrm>
            <a:off x="1005840" y="3908425"/>
            <a:ext cx="10149840" cy="0"/>
          </a:xfrm>
          <a:prstGeom prst="line">
            <a:avLst/>
          </a:prstGeom>
          <a:noFill/>
          <a:ln w="25400">
            <a:solidFill>
              <a:srgbClr val="E1E6E8"/>
            </a:solidFill>
            <a:prstDash val="solid"/>
          </a:ln>
        </p:spPr>
      </p:sp>
      <p:sp>
        <p:nvSpPr>
          <p:cNvPr id="6" name="Shape 4"/>
          <p:cNvSpPr/>
          <p:nvPr>
            <p:custDataLst>
              <p:tags r:id="rId2"/>
            </p:custDataLst>
          </p:nvPr>
        </p:nvSpPr>
        <p:spPr>
          <a:xfrm>
            <a:off x="1636776" y="3780409"/>
            <a:ext cx="256032" cy="256032"/>
          </a:xfrm>
          <a:prstGeom prst="ellipse">
            <a:avLst/>
          </a:prstGeom>
          <a:solidFill>
            <a:srgbClr val="1B998B"/>
          </a:solidFill>
          <a:ln w="25400">
            <a:solidFill>
              <a:srgbClr val="FFFFFF"/>
            </a:solidFill>
            <a:prstDash val="solid"/>
          </a:ln>
        </p:spPr>
      </p:sp>
      <p:sp>
        <p:nvSpPr>
          <p:cNvPr id="7" name="Shape 5"/>
          <p:cNvSpPr/>
          <p:nvPr>
            <p:custDataLst>
              <p:tags r:id="rId3"/>
            </p:custDataLst>
          </p:nvPr>
        </p:nvSpPr>
        <p:spPr>
          <a:xfrm>
            <a:off x="685800" y="2216785"/>
            <a:ext cx="2157984" cy="1371600"/>
          </a:xfrm>
          <a:prstGeom prst="roundRect">
            <a:avLst>
              <a:gd name="adj" fmla="val 5333"/>
            </a:avLst>
          </a:prstGeom>
          <a:solidFill>
            <a:srgbClr val="FFFFFF"/>
          </a:solidFill>
          <a:ln w="12700">
            <a:solidFill>
              <a:srgbClr val="E1E6E8"/>
            </a:solidFill>
            <a:prstDash val="solid"/>
          </a:ln>
        </p:spPr>
      </p:sp>
      <p:sp>
        <p:nvSpPr>
          <p:cNvPr id="8" name="Text 6"/>
          <p:cNvSpPr/>
          <p:nvPr>
            <p:custDataLst>
              <p:tags r:id="rId4"/>
            </p:custDataLst>
          </p:nvPr>
        </p:nvSpPr>
        <p:spPr>
          <a:xfrm>
            <a:off x="822960" y="2326513"/>
            <a:ext cx="1883664" cy="365760"/>
          </a:xfrm>
          <a:prstGeom prst="rect">
            <a:avLst/>
          </a:prstGeom>
          <a:noFill/>
        </p:spPr>
        <p:txBody>
          <a:bodyPr wrap="square" lIns="0" tIns="0" rIns="0" bIns="0" rtlCol="0" anchor="ctr"/>
          <a:lstStyle/>
          <a:p>
            <a:pPr marL="0" indent="0">
              <a:buNone/>
            </a:pPr>
            <a:r>
              <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rPr>
              <a:t>1GL</a:t>
            </a:r>
            <a:endPar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endParaRPr>
          </a:p>
        </p:txBody>
      </p:sp>
      <p:sp>
        <p:nvSpPr>
          <p:cNvPr id="9" name="Text 7"/>
          <p:cNvSpPr/>
          <p:nvPr>
            <p:custDataLst>
              <p:tags r:id="rId5"/>
            </p:custDataLst>
          </p:nvPr>
        </p:nvSpPr>
        <p:spPr>
          <a:xfrm>
            <a:off x="822960" y="2719705"/>
            <a:ext cx="1883664" cy="548640"/>
          </a:xfrm>
          <a:prstGeom prst="rect">
            <a:avLst/>
          </a:prstGeom>
          <a:noFill/>
        </p:spPr>
        <p:txBody>
          <a:bodyPr wrap="square" lIns="0" tIns="0" rIns="0" bIns="0" rtlCol="0" anchor="ctr"/>
          <a:lstStyle/>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Machine</a:t>
            </a:r>
            <a:endParaRPr lang="en-US" dirty="0"/>
          </a:p>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Language</a:t>
            </a:r>
            <a:endPar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custDataLst>
              <p:tags r:id="rId6"/>
            </p:custDataLst>
          </p:nvPr>
        </p:nvSpPr>
        <p:spPr>
          <a:xfrm>
            <a:off x="822960" y="3268345"/>
            <a:ext cx="1883664" cy="274320"/>
          </a:xfrm>
          <a:prstGeom prst="rect">
            <a:avLst/>
          </a:prstGeom>
          <a:noFill/>
        </p:spPr>
        <p:txBody>
          <a:bodyPr wrap="square" lIns="0" tIns="0" rIns="0" bIns="0" rtlCol="0" anchor="ctr"/>
          <a:lstStyle/>
          <a:p>
            <a:pPr marL="0" indent="0">
              <a:buNone/>
            </a:pPr>
            <a:r>
              <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rPr>
              <a:t>1940s</a:t>
            </a:r>
            <a:endPar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custDataLst>
              <p:tags r:id="rId7"/>
            </p:custDataLst>
          </p:nvPr>
        </p:nvSpPr>
        <p:spPr>
          <a:xfrm>
            <a:off x="1764792" y="3588385"/>
            <a:ext cx="0" cy="320040"/>
          </a:xfrm>
          <a:prstGeom prst="line">
            <a:avLst/>
          </a:prstGeom>
          <a:noFill/>
          <a:ln w="12700">
            <a:solidFill>
              <a:srgbClr val="E1E6E8"/>
            </a:solidFill>
            <a:prstDash val="dash"/>
          </a:ln>
        </p:spPr>
      </p:sp>
      <p:sp>
        <p:nvSpPr>
          <p:cNvPr id="12" name="Shape 10"/>
          <p:cNvSpPr/>
          <p:nvPr>
            <p:custDataLst>
              <p:tags r:id="rId8"/>
            </p:custDataLst>
          </p:nvPr>
        </p:nvSpPr>
        <p:spPr>
          <a:xfrm>
            <a:off x="3931920" y="3780409"/>
            <a:ext cx="256032" cy="256032"/>
          </a:xfrm>
          <a:prstGeom prst="ellipse">
            <a:avLst/>
          </a:prstGeom>
          <a:solidFill>
            <a:srgbClr val="1B998B"/>
          </a:solidFill>
          <a:ln w="25400">
            <a:solidFill>
              <a:srgbClr val="FFFFFF"/>
            </a:solidFill>
            <a:prstDash val="solid"/>
          </a:ln>
        </p:spPr>
      </p:sp>
      <p:sp>
        <p:nvSpPr>
          <p:cNvPr id="13" name="Shape 11"/>
          <p:cNvSpPr/>
          <p:nvPr>
            <p:custDataLst>
              <p:tags r:id="rId9"/>
            </p:custDataLst>
          </p:nvPr>
        </p:nvSpPr>
        <p:spPr>
          <a:xfrm>
            <a:off x="2980944" y="4228465"/>
            <a:ext cx="2157984" cy="1371600"/>
          </a:xfrm>
          <a:prstGeom prst="roundRect">
            <a:avLst>
              <a:gd name="adj" fmla="val 5333"/>
            </a:avLst>
          </a:prstGeom>
          <a:solidFill>
            <a:srgbClr val="FFFFFF"/>
          </a:solidFill>
          <a:ln w="12700">
            <a:solidFill>
              <a:srgbClr val="E1E6E8"/>
            </a:solidFill>
            <a:prstDash val="solid"/>
          </a:ln>
        </p:spPr>
      </p:sp>
      <p:sp>
        <p:nvSpPr>
          <p:cNvPr id="14" name="Text 12"/>
          <p:cNvSpPr/>
          <p:nvPr>
            <p:custDataLst>
              <p:tags r:id="rId10"/>
            </p:custDataLst>
          </p:nvPr>
        </p:nvSpPr>
        <p:spPr>
          <a:xfrm>
            <a:off x="3118104" y="4338193"/>
            <a:ext cx="1883664" cy="365760"/>
          </a:xfrm>
          <a:prstGeom prst="rect">
            <a:avLst/>
          </a:prstGeom>
          <a:noFill/>
        </p:spPr>
        <p:txBody>
          <a:bodyPr wrap="square" lIns="0" tIns="0" rIns="0" bIns="0" rtlCol="0" anchor="ctr"/>
          <a:lstStyle/>
          <a:p>
            <a:pPr marL="0" indent="0">
              <a:buNone/>
            </a:pPr>
            <a:r>
              <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rPr>
              <a:t>2GL</a:t>
            </a:r>
            <a:endPar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endParaRPr>
          </a:p>
        </p:txBody>
      </p:sp>
      <p:sp>
        <p:nvSpPr>
          <p:cNvPr id="15" name="Text 13"/>
          <p:cNvSpPr/>
          <p:nvPr>
            <p:custDataLst>
              <p:tags r:id="rId11"/>
            </p:custDataLst>
          </p:nvPr>
        </p:nvSpPr>
        <p:spPr>
          <a:xfrm>
            <a:off x="3118104" y="4731385"/>
            <a:ext cx="1883664" cy="548640"/>
          </a:xfrm>
          <a:prstGeom prst="rect">
            <a:avLst/>
          </a:prstGeom>
          <a:noFill/>
        </p:spPr>
        <p:txBody>
          <a:bodyPr wrap="square" lIns="0" tIns="0" rIns="0" bIns="0" rtlCol="0" anchor="ctr"/>
          <a:lstStyle/>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Assembly</a:t>
            </a:r>
            <a:endParaRPr lang="en-US" dirty="0"/>
          </a:p>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Language</a:t>
            </a:r>
            <a:endPar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custDataLst>
              <p:tags r:id="rId12"/>
            </p:custDataLst>
          </p:nvPr>
        </p:nvSpPr>
        <p:spPr>
          <a:xfrm>
            <a:off x="3118104" y="5280025"/>
            <a:ext cx="1883664" cy="274320"/>
          </a:xfrm>
          <a:prstGeom prst="rect">
            <a:avLst/>
          </a:prstGeom>
          <a:noFill/>
        </p:spPr>
        <p:txBody>
          <a:bodyPr wrap="square" lIns="0" tIns="0" rIns="0" bIns="0" rtlCol="0" anchor="ctr"/>
          <a:lstStyle/>
          <a:p>
            <a:pPr marL="0" indent="0">
              <a:buNone/>
            </a:pPr>
            <a:r>
              <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rPr>
              <a:t>1950s</a:t>
            </a:r>
            <a:endPar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custDataLst>
              <p:tags r:id="rId13"/>
            </p:custDataLst>
          </p:nvPr>
        </p:nvSpPr>
        <p:spPr>
          <a:xfrm>
            <a:off x="4059936" y="3908425"/>
            <a:ext cx="0" cy="320040"/>
          </a:xfrm>
          <a:prstGeom prst="line">
            <a:avLst/>
          </a:prstGeom>
          <a:noFill/>
          <a:ln w="12700">
            <a:solidFill>
              <a:srgbClr val="E1E6E8"/>
            </a:solidFill>
            <a:prstDash val="dash"/>
          </a:ln>
        </p:spPr>
      </p:sp>
      <p:sp>
        <p:nvSpPr>
          <p:cNvPr id="18" name="Shape 16"/>
          <p:cNvSpPr/>
          <p:nvPr>
            <p:custDataLst>
              <p:tags r:id="rId14"/>
            </p:custDataLst>
          </p:nvPr>
        </p:nvSpPr>
        <p:spPr>
          <a:xfrm>
            <a:off x="6227064" y="3780409"/>
            <a:ext cx="256032" cy="256032"/>
          </a:xfrm>
          <a:prstGeom prst="ellipse">
            <a:avLst/>
          </a:prstGeom>
          <a:solidFill>
            <a:srgbClr val="FFB627"/>
          </a:solidFill>
          <a:ln w="25400">
            <a:solidFill>
              <a:srgbClr val="FFFFFF"/>
            </a:solidFill>
            <a:prstDash val="solid"/>
          </a:ln>
        </p:spPr>
      </p:sp>
      <p:sp>
        <p:nvSpPr>
          <p:cNvPr id="19" name="Shape 17"/>
          <p:cNvSpPr/>
          <p:nvPr>
            <p:custDataLst>
              <p:tags r:id="rId15"/>
            </p:custDataLst>
          </p:nvPr>
        </p:nvSpPr>
        <p:spPr>
          <a:xfrm>
            <a:off x="5276088" y="2216785"/>
            <a:ext cx="2157984" cy="1371600"/>
          </a:xfrm>
          <a:prstGeom prst="roundRect">
            <a:avLst>
              <a:gd name="adj" fmla="val 5333"/>
            </a:avLst>
          </a:prstGeom>
          <a:solidFill>
            <a:srgbClr val="0D1B2A"/>
          </a:solidFill>
          <a:ln w="12700">
            <a:solidFill>
              <a:srgbClr val="0D1B2A"/>
            </a:solidFill>
            <a:prstDash val="solid"/>
          </a:ln>
        </p:spPr>
      </p:sp>
      <p:sp>
        <p:nvSpPr>
          <p:cNvPr id="20" name="Text 18"/>
          <p:cNvSpPr/>
          <p:nvPr>
            <p:custDataLst>
              <p:tags r:id="rId16"/>
            </p:custDataLst>
          </p:nvPr>
        </p:nvSpPr>
        <p:spPr>
          <a:xfrm>
            <a:off x="5413248" y="2326513"/>
            <a:ext cx="1883664" cy="365760"/>
          </a:xfrm>
          <a:prstGeom prst="rect">
            <a:avLst/>
          </a:prstGeom>
          <a:noFill/>
        </p:spPr>
        <p:txBody>
          <a:bodyPr wrap="square" lIns="0" tIns="0" rIns="0" bIns="0" rtlCol="0" anchor="ctr"/>
          <a:lstStyle/>
          <a:p>
            <a:pPr marL="0" indent="0">
              <a:buNone/>
            </a:pPr>
            <a:r>
              <a:rPr lang="en-US" sz="2800" b="1" dirty="0">
                <a:solidFill>
                  <a:srgbClr val="FFB627"/>
                </a:solidFill>
                <a:latin typeface="Cambria" panose="02040503050406030204" pitchFamily="34" charset="0"/>
                <a:ea typeface="Cambria" panose="02040503050406030204" pitchFamily="34" charset="-122"/>
                <a:cs typeface="Cambria" panose="02040503050406030204" pitchFamily="34" charset="-120"/>
              </a:rPr>
              <a:t>3GL</a:t>
            </a:r>
            <a:endParaRPr lang="en-US" sz="2800" b="1" dirty="0">
              <a:solidFill>
                <a:srgbClr val="FFB627"/>
              </a:solidFill>
              <a:latin typeface="Cambria" panose="02040503050406030204" pitchFamily="34" charset="0"/>
              <a:ea typeface="Cambria" panose="02040503050406030204" pitchFamily="34" charset="-122"/>
              <a:cs typeface="Cambria" panose="02040503050406030204" pitchFamily="34" charset="-120"/>
            </a:endParaRPr>
          </a:p>
        </p:txBody>
      </p:sp>
      <p:sp>
        <p:nvSpPr>
          <p:cNvPr id="21" name="Text 19"/>
          <p:cNvSpPr/>
          <p:nvPr>
            <p:custDataLst>
              <p:tags r:id="rId17"/>
            </p:custDataLst>
          </p:nvPr>
        </p:nvSpPr>
        <p:spPr>
          <a:xfrm>
            <a:off x="5413248" y="2719705"/>
            <a:ext cx="1883664" cy="548640"/>
          </a:xfrm>
          <a:prstGeom prst="rect">
            <a:avLst/>
          </a:prstGeom>
          <a:noFill/>
        </p:spPr>
        <p:txBody>
          <a:bodyPr wrap="square" lIns="0" tIns="0" rIns="0" bIns="0" rtlCol="0" anchor="ctr"/>
          <a:lstStyle/>
          <a:p>
            <a:pPr marL="0" indent="0">
              <a:lnSpc>
                <a:spcPct val="11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High-Level</a:t>
            </a:r>
            <a:endParaRPr lang="en-US" sz="1400" dirty="0"/>
          </a:p>
          <a:p>
            <a:pPr marL="0" indent="0">
              <a:lnSpc>
                <a:spcPct val="11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(incl. C)</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custDataLst>
              <p:tags r:id="rId18"/>
            </p:custDataLst>
          </p:nvPr>
        </p:nvSpPr>
        <p:spPr>
          <a:xfrm>
            <a:off x="5413248" y="3268345"/>
            <a:ext cx="1883664" cy="274320"/>
          </a:xfrm>
          <a:prstGeom prst="rect">
            <a:avLst/>
          </a:prstGeom>
          <a:noFill/>
        </p:spPr>
        <p:txBody>
          <a:bodyPr wrap="square" lIns="0" tIns="0" rIns="0" bIns="0" rtlCol="0" anchor="ctr"/>
          <a:lstStyle/>
          <a:p>
            <a:pPr marL="0" indent="0">
              <a:buNone/>
            </a:pPr>
            <a:r>
              <a:rPr lang="en-US" sz="1400" i="1" dirty="0">
                <a:solidFill>
                  <a:srgbClr val="DCEFEC"/>
                </a:solidFill>
                <a:latin typeface="Calibri" panose="020F0502020204030204" pitchFamily="34" charset="0"/>
                <a:ea typeface="Calibri" panose="020F0502020204030204" pitchFamily="34" charset="-122"/>
                <a:cs typeface="Calibri" panose="020F0502020204030204" pitchFamily="34" charset="-120"/>
              </a:rPr>
              <a:t>1957–70s</a:t>
            </a:r>
            <a:endParaRPr lang="en-US" sz="1400" i="1" dirty="0">
              <a:solidFill>
                <a:srgbClr val="DCEFEC"/>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custDataLst>
              <p:tags r:id="rId19"/>
            </p:custDataLst>
          </p:nvPr>
        </p:nvSpPr>
        <p:spPr>
          <a:xfrm>
            <a:off x="6355080" y="3588385"/>
            <a:ext cx="0" cy="320040"/>
          </a:xfrm>
          <a:prstGeom prst="line">
            <a:avLst/>
          </a:prstGeom>
          <a:noFill/>
          <a:ln w="12700">
            <a:solidFill>
              <a:srgbClr val="E1E6E8"/>
            </a:solidFill>
            <a:prstDash val="dash"/>
          </a:ln>
        </p:spPr>
      </p:sp>
      <p:sp>
        <p:nvSpPr>
          <p:cNvPr id="24" name="Shape 22"/>
          <p:cNvSpPr/>
          <p:nvPr>
            <p:custDataLst>
              <p:tags r:id="rId20"/>
            </p:custDataLst>
          </p:nvPr>
        </p:nvSpPr>
        <p:spPr>
          <a:xfrm>
            <a:off x="8522208" y="3780409"/>
            <a:ext cx="256032" cy="256032"/>
          </a:xfrm>
          <a:prstGeom prst="ellipse">
            <a:avLst/>
          </a:prstGeom>
          <a:solidFill>
            <a:srgbClr val="1B998B"/>
          </a:solidFill>
          <a:ln w="25400">
            <a:solidFill>
              <a:srgbClr val="FFFFFF"/>
            </a:solidFill>
            <a:prstDash val="solid"/>
          </a:ln>
        </p:spPr>
      </p:sp>
      <p:sp>
        <p:nvSpPr>
          <p:cNvPr id="25" name="Shape 23"/>
          <p:cNvSpPr/>
          <p:nvPr>
            <p:custDataLst>
              <p:tags r:id="rId21"/>
            </p:custDataLst>
          </p:nvPr>
        </p:nvSpPr>
        <p:spPr>
          <a:xfrm>
            <a:off x="7571232" y="4228465"/>
            <a:ext cx="2157984" cy="1371600"/>
          </a:xfrm>
          <a:prstGeom prst="roundRect">
            <a:avLst>
              <a:gd name="adj" fmla="val 5333"/>
            </a:avLst>
          </a:prstGeom>
          <a:solidFill>
            <a:srgbClr val="FFFFFF"/>
          </a:solidFill>
          <a:ln w="12700">
            <a:solidFill>
              <a:srgbClr val="E1E6E8"/>
            </a:solidFill>
            <a:prstDash val="solid"/>
          </a:ln>
        </p:spPr>
      </p:sp>
      <p:sp>
        <p:nvSpPr>
          <p:cNvPr id="26" name="Text 24"/>
          <p:cNvSpPr/>
          <p:nvPr>
            <p:custDataLst>
              <p:tags r:id="rId22"/>
            </p:custDataLst>
          </p:nvPr>
        </p:nvSpPr>
        <p:spPr>
          <a:xfrm>
            <a:off x="7708392" y="4338193"/>
            <a:ext cx="1883664" cy="365760"/>
          </a:xfrm>
          <a:prstGeom prst="rect">
            <a:avLst/>
          </a:prstGeom>
          <a:noFill/>
        </p:spPr>
        <p:txBody>
          <a:bodyPr wrap="square" lIns="0" tIns="0" rIns="0" bIns="0" rtlCol="0" anchor="ctr"/>
          <a:lstStyle/>
          <a:p>
            <a:pPr marL="0" indent="0">
              <a:buNone/>
            </a:pPr>
            <a:r>
              <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rPr>
              <a:t>4GL</a:t>
            </a:r>
            <a:endPar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endParaRPr>
          </a:p>
        </p:txBody>
      </p:sp>
      <p:sp>
        <p:nvSpPr>
          <p:cNvPr id="27" name="Text 25"/>
          <p:cNvSpPr/>
          <p:nvPr>
            <p:custDataLst>
              <p:tags r:id="rId23"/>
            </p:custDataLst>
          </p:nvPr>
        </p:nvSpPr>
        <p:spPr>
          <a:xfrm>
            <a:off x="7708392" y="4731385"/>
            <a:ext cx="1883664" cy="548640"/>
          </a:xfrm>
          <a:prstGeom prst="rect">
            <a:avLst/>
          </a:prstGeom>
          <a:noFill/>
        </p:spPr>
        <p:txBody>
          <a:bodyPr wrap="square" lIns="0" tIns="0" rIns="0" bIns="0" rtlCol="0" anchor="ctr"/>
          <a:lstStyle/>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Domain-Specific</a:t>
            </a:r>
            <a:endParaRPr lang="en-US" dirty="0"/>
          </a:p>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(e.g. SQL)</a:t>
            </a:r>
            <a:endPar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custDataLst>
              <p:tags r:id="rId24"/>
            </p:custDataLst>
          </p:nvPr>
        </p:nvSpPr>
        <p:spPr>
          <a:xfrm>
            <a:off x="7708392" y="5280025"/>
            <a:ext cx="1883664" cy="274320"/>
          </a:xfrm>
          <a:prstGeom prst="rect">
            <a:avLst/>
          </a:prstGeom>
          <a:noFill/>
        </p:spPr>
        <p:txBody>
          <a:bodyPr wrap="square" lIns="0" tIns="0" rIns="0" bIns="0" rtlCol="0" anchor="ctr"/>
          <a:lstStyle/>
          <a:p>
            <a:pPr marL="0" indent="0">
              <a:buNone/>
            </a:pPr>
            <a:r>
              <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rPr>
              <a:t>1970s–80s</a:t>
            </a:r>
            <a:endPar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custDataLst>
              <p:tags r:id="rId25"/>
            </p:custDataLst>
          </p:nvPr>
        </p:nvSpPr>
        <p:spPr>
          <a:xfrm>
            <a:off x="8650224" y="3908425"/>
            <a:ext cx="0" cy="320040"/>
          </a:xfrm>
          <a:prstGeom prst="line">
            <a:avLst/>
          </a:prstGeom>
          <a:noFill/>
          <a:ln w="12700">
            <a:solidFill>
              <a:srgbClr val="E1E6E8"/>
            </a:solidFill>
            <a:prstDash val="dash"/>
          </a:ln>
        </p:spPr>
      </p:sp>
      <p:sp>
        <p:nvSpPr>
          <p:cNvPr id="30" name="Shape 28"/>
          <p:cNvSpPr/>
          <p:nvPr>
            <p:custDataLst>
              <p:tags r:id="rId26"/>
            </p:custDataLst>
          </p:nvPr>
        </p:nvSpPr>
        <p:spPr>
          <a:xfrm>
            <a:off x="10817352" y="3780409"/>
            <a:ext cx="256032" cy="256032"/>
          </a:xfrm>
          <a:prstGeom prst="ellipse">
            <a:avLst/>
          </a:prstGeom>
          <a:solidFill>
            <a:srgbClr val="1B998B"/>
          </a:solidFill>
          <a:ln w="25400">
            <a:solidFill>
              <a:srgbClr val="FFFFFF"/>
            </a:solidFill>
            <a:prstDash val="solid"/>
          </a:ln>
        </p:spPr>
      </p:sp>
      <p:sp>
        <p:nvSpPr>
          <p:cNvPr id="31" name="Shape 29"/>
          <p:cNvSpPr/>
          <p:nvPr>
            <p:custDataLst>
              <p:tags r:id="rId27"/>
            </p:custDataLst>
          </p:nvPr>
        </p:nvSpPr>
        <p:spPr>
          <a:xfrm>
            <a:off x="9866376" y="2216785"/>
            <a:ext cx="2157984" cy="1371600"/>
          </a:xfrm>
          <a:prstGeom prst="roundRect">
            <a:avLst>
              <a:gd name="adj" fmla="val 5333"/>
            </a:avLst>
          </a:prstGeom>
          <a:solidFill>
            <a:srgbClr val="FFFFFF"/>
          </a:solidFill>
          <a:ln w="12700">
            <a:solidFill>
              <a:srgbClr val="E1E6E8"/>
            </a:solidFill>
            <a:prstDash val="solid"/>
          </a:ln>
        </p:spPr>
      </p:sp>
      <p:sp>
        <p:nvSpPr>
          <p:cNvPr id="32" name="Text 30"/>
          <p:cNvSpPr/>
          <p:nvPr>
            <p:custDataLst>
              <p:tags r:id="rId28"/>
            </p:custDataLst>
          </p:nvPr>
        </p:nvSpPr>
        <p:spPr>
          <a:xfrm>
            <a:off x="10003536" y="2326513"/>
            <a:ext cx="1883664" cy="365760"/>
          </a:xfrm>
          <a:prstGeom prst="rect">
            <a:avLst/>
          </a:prstGeom>
          <a:noFill/>
        </p:spPr>
        <p:txBody>
          <a:bodyPr wrap="square" lIns="0" tIns="0" rIns="0" bIns="0" rtlCol="0" anchor="ctr"/>
          <a:lstStyle/>
          <a:p>
            <a:pPr marL="0" indent="0">
              <a:buNone/>
            </a:pPr>
            <a:r>
              <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rPr>
              <a:t>5GL</a:t>
            </a:r>
            <a:endParaRPr lang="en-US" sz="2800" b="1" dirty="0">
              <a:solidFill>
                <a:srgbClr val="0D1B2A"/>
              </a:solidFill>
              <a:latin typeface="Cambria" panose="02040503050406030204" pitchFamily="34" charset="0"/>
              <a:ea typeface="Cambria" panose="02040503050406030204" pitchFamily="34" charset="-122"/>
              <a:cs typeface="Cambria" panose="02040503050406030204" pitchFamily="34" charset="-120"/>
            </a:endParaRPr>
          </a:p>
        </p:txBody>
      </p:sp>
      <p:sp>
        <p:nvSpPr>
          <p:cNvPr id="33" name="Text 31"/>
          <p:cNvSpPr/>
          <p:nvPr>
            <p:custDataLst>
              <p:tags r:id="rId29"/>
            </p:custDataLst>
          </p:nvPr>
        </p:nvSpPr>
        <p:spPr>
          <a:xfrm>
            <a:off x="10003536" y="2719705"/>
            <a:ext cx="1883664" cy="548640"/>
          </a:xfrm>
          <a:prstGeom prst="rect">
            <a:avLst/>
          </a:prstGeom>
          <a:noFill/>
        </p:spPr>
        <p:txBody>
          <a:bodyPr wrap="square" lIns="0" tIns="0" rIns="0" bIns="0" rtlCol="0" anchor="ctr"/>
          <a:lstStyle/>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AI / Logic-Based</a:t>
            </a:r>
            <a:endParaRPr lang="en-US" dirty="0"/>
          </a:p>
          <a:p>
            <a:pPr marL="0" indent="0">
              <a:lnSpc>
                <a:spcPct val="110000"/>
              </a:lnSpc>
              <a:buNone/>
            </a:pPr>
            <a:r>
              <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rPr>
              <a:t>(e.g. Prolog)</a:t>
            </a:r>
            <a:endParaRPr lang="en-US"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custDataLst>
              <p:tags r:id="rId30"/>
            </p:custDataLst>
          </p:nvPr>
        </p:nvSpPr>
        <p:spPr>
          <a:xfrm>
            <a:off x="10003536" y="3268345"/>
            <a:ext cx="1883664" cy="274320"/>
          </a:xfrm>
          <a:prstGeom prst="rect">
            <a:avLst/>
          </a:prstGeom>
          <a:noFill/>
        </p:spPr>
        <p:txBody>
          <a:bodyPr wrap="square" lIns="0" tIns="0" rIns="0" bIns="0" rtlCol="0" anchor="ctr"/>
          <a:lstStyle/>
          <a:p>
            <a:pPr marL="0" indent="0">
              <a:buNone/>
            </a:pPr>
            <a:r>
              <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rPr>
              <a:t>1980s–now</a:t>
            </a:r>
            <a:endParaRPr lang="en-US" i="1" dirty="0">
              <a:solidFill>
                <a:srgbClr val="5A6570"/>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Shape 33"/>
          <p:cNvSpPr/>
          <p:nvPr>
            <p:custDataLst>
              <p:tags r:id="rId31"/>
            </p:custDataLst>
          </p:nvPr>
        </p:nvSpPr>
        <p:spPr>
          <a:xfrm>
            <a:off x="10945368" y="3588385"/>
            <a:ext cx="0" cy="320040"/>
          </a:xfrm>
          <a:prstGeom prst="line">
            <a:avLst/>
          </a:prstGeom>
          <a:noFill/>
          <a:ln w="12700">
            <a:solidFill>
              <a:srgbClr val="E1E6E8"/>
            </a:solidFill>
            <a:prstDash val="dash"/>
          </a:ln>
        </p:spPr>
      </p:sp>
      <p:sp>
        <p:nvSpPr>
          <p:cNvPr id="36" name="Text 34"/>
          <p:cNvSpPr/>
          <p:nvPr/>
        </p:nvSpPr>
        <p:spPr>
          <a:xfrm>
            <a:off x="11475720" y="6473952"/>
            <a:ext cx="548640" cy="274320"/>
          </a:xfrm>
          <a:prstGeom prst="rect">
            <a:avLst/>
          </a:prstGeom>
          <a:noFill/>
        </p:spPr>
        <p:txBody>
          <a:bodyPr wrap="square" rtlCol="0" anchor="ctr"/>
          <a:lstStyle/>
          <a:p>
            <a:pPr marL="0" indent="0" algn="r">
              <a:buNone/>
            </a:pPr>
            <a:r>
              <a:rPr lang="en-US" sz="1400" dirty="0">
                <a:solidFill>
                  <a:srgbClr val="A9B4BC"/>
                </a:solidFill>
                <a:latin typeface="Calibri" panose="020F0502020204030204" pitchFamily="34" charset="0"/>
                <a:ea typeface="Calibri" panose="020F0502020204030204" pitchFamily="34" charset="-122"/>
                <a:cs typeface="Calibri" panose="020F0502020204030204" pitchFamily="34" charset="-120"/>
              </a:rPr>
              <a:t>05</a:t>
            </a:r>
            <a:endParaRPr lang="en-US" sz="1400" dirty="0">
              <a:solidFill>
                <a:srgbClr val="A9B4BC"/>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scene3d>
              <a:camera prst="orthographicFront"/>
              <a:lightRig rig="threePt" dir="t"/>
            </a:scene3d>
          </a:bodyPr>
          <a:lstStyle/>
          <a:p>
            <a:pPr marL="0" indent="0">
              <a:buNone/>
            </a:pPr>
            <a:r>
              <a:rPr lang="en-US"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GENERATIONS 1 &amp; 2</a:t>
            </a:r>
            <a:endParaRPr lang="en-US"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548640" y="749808"/>
            <a:ext cx="10515600" cy="685800"/>
          </a:xfrm>
          <a:prstGeom prst="rect">
            <a:avLst/>
          </a:prstGeom>
          <a:noFill/>
        </p:spPr>
        <p:txBody>
          <a:bodyPr wrap="square" lIns="0" tIns="0" rIns="0" bIns="0" rtlCol="0" anchor="ctr">
            <a:scene3d>
              <a:camera prst="orthographicFront"/>
              <a:lightRig rig="threePt" dir="t"/>
            </a:scene3d>
          </a:bodyPr>
          <a:lstStyle/>
          <a:p>
            <a:pPr marL="0" indent="0">
              <a:buNone/>
            </a:pPr>
            <a:r>
              <a:rPr lang="en-US" sz="40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1GL and 2GL: The Foundation Layers</a:t>
            </a:r>
            <a:endParaRPr lang="en-US" sz="40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48640" y="1508760"/>
            <a:ext cx="5394960" cy="4434840"/>
          </a:xfrm>
          <a:prstGeom prst="roundRect">
            <a:avLst>
              <a:gd name="adj" fmla="val 1649"/>
            </a:avLst>
          </a:prstGeom>
          <a:solidFill>
            <a:srgbClr val="FFFFFF"/>
          </a:solidFill>
          <a:ln w="12700">
            <a:solidFill>
              <a:srgbClr val="E1E6E8"/>
            </a:solidFill>
            <a:prstDash val="solid"/>
          </a:ln>
        </p:spPr>
      </p:sp>
      <p:sp>
        <p:nvSpPr>
          <p:cNvPr id="5" name="Shape 3"/>
          <p:cNvSpPr/>
          <p:nvPr/>
        </p:nvSpPr>
        <p:spPr>
          <a:xfrm>
            <a:off x="822960" y="1783080"/>
            <a:ext cx="868680" cy="457200"/>
          </a:xfrm>
          <a:prstGeom prst="roundRect">
            <a:avLst>
              <a:gd name="adj" fmla="val 12000"/>
            </a:avLst>
          </a:prstGeom>
          <a:solidFill>
            <a:srgbClr val="1B998B"/>
          </a:solidFill>
        </p:spPr>
      </p:sp>
      <p:sp>
        <p:nvSpPr>
          <p:cNvPr id="6" name="Text 4"/>
          <p:cNvSpPr/>
          <p:nvPr/>
        </p:nvSpPr>
        <p:spPr>
          <a:xfrm>
            <a:off x="822960" y="1783080"/>
            <a:ext cx="868680" cy="457200"/>
          </a:xfrm>
          <a:prstGeom prst="rect">
            <a:avLst/>
          </a:prstGeom>
          <a:noFill/>
        </p:spPr>
        <p:txBody>
          <a:bodyPr wrap="square" lIns="0" tIns="0" rIns="0" bIns="0" rtlCol="0" anchor="ctr">
            <a:scene3d>
              <a:camera prst="orthographicFront"/>
              <a:lightRig rig="threePt" dir="t"/>
            </a:scene3d>
          </a:bodyPr>
          <a:lstStyle/>
          <a:p>
            <a:pPr marL="0" indent="0" algn="ctr">
              <a:buNone/>
            </a:pPr>
            <a:r>
              <a:rPr lang="en-US" sz="28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1GL</a:t>
            </a:r>
            <a:endParaRPr lang="en-US" sz="28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7" name="Text 5"/>
          <p:cNvSpPr/>
          <p:nvPr/>
        </p:nvSpPr>
        <p:spPr>
          <a:xfrm>
            <a:off x="1828800" y="1783080"/>
            <a:ext cx="3749040" cy="457200"/>
          </a:xfrm>
          <a:prstGeom prst="rect">
            <a:avLst/>
          </a:prstGeom>
          <a:noFill/>
        </p:spPr>
        <p:txBody>
          <a:bodyPr wrap="square" lIns="0" tIns="0" rIns="0" bIns="0" rtlCol="0" anchor="ctr">
            <a:scene3d>
              <a:camera prst="orthographicFront"/>
              <a:lightRig rig="threePt" dir="t"/>
            </a:scene3d>
          </a:bodyPr>
          <a:lstStyle/>
          <a:p>
            <a:pPr marL="0" indent="0">
              <a:buNone/>
            </a:pPr>
            <a:r>
              <a:rPr lang="en-US" sz="32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Machine Language</a:t>
            </a:r>
            <a:endParaRPr lang="en-US" sz="32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8" name="Text 6"/>
          <p:cNvSpPr/>
          <p:nvPr/>
        </p:nvSpPr>
        <p:spPr>
          <a:xfrm>
            <a:off x="822960" y="25146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FORM</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2240280" y="25146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sz="20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Pure binary (0s and 1s)</a:t>
            </a:r>
            <a:endParaRPr lang="en-US" sz="20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822960" y="3081528"/>
            <a:ext cx="4846320" cy="0"/>
          </a:xfrm>
          <a:prstGeom prst="line">
            <a:avLst/>
          </a:prstGeom>
          <a:noFill/>
          <a:ln w="9525">
            <a:solidFill>
              <a:srgbClr val="E1E6E8"/>
            </a:solidFill>
            <a:prstDash val="solid"/>
          </a:ln>
        </p:spPr>
      </p:sp>
      <p:sp>
        <p:nvSpPr>
          <p:cNvPr id="11" name="Text 9"/>
          <p:cNvSpPr/>
          <p:nvPr/>
        </p:nvSpPr>
        <p:spPr>
          <a:xfrm>
            <a:off x="822960" y="32004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ERA</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2240280" y="32004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sz="20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1940s, earliest computers</a:t>
            </a:r>
            <a:endParaRPr lang="en-US" sz="20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822960" y="3767328"/>
            <a:ext cx="4846320" cy="0"/>
          </a:xfrm>
          <a:prstGeom prst="line">
            <a:avLst/>
          </a:prstGeom>
          <a:noFill/>
          <a:ln w="9525">
            <a:solidFill>
              <a:srgbClr val="E1E6E8"/>
            </a:solidFill>
            <a:prstDash val="solid"/>
          </a:ln>
        </p:spPr>
      </p:sp>
      <p:sp>
        <p:nvSpPr>
          <p:cNvPr id="14" name="Text 12"/>
          <p:cNvSpPr/>
          <p:nvPr/>
        </p:nvSpPr>
        <p:spPr>
          <a:xfrm>
            <a:off x="822960" y="38862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EXECUTION</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2240280" y="38862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Runs directly on the CPU — no translation</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822960" y="4453128"/>
            <a:ext cx="4846320" cy="0"/>
          </a:xfrm>
          <a:prstGeom prst="line">
            <a:avLst/>
          </a:prstGeom>
          <a:noFill/>
          <a:ln w="9525">
            <a:solidFill>
              <a:srgbClr val="E1E6E8"/>
            </a:solidFill>
            <a:prstDash val="solid"/>
          </a:ln>
        </p:spPr>
      </p:sp>
      <p:sp>
        <p:nvSpPr>
          <p:cNvPr id="17" name="Text 15"/>
          <p:cNvSpPr/>
          <p:nvPr/>
        </p:nvSpPr>
        <p:spPr>
          <a:xfrm>
            <a:off x="822960" y="45720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SPEED</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2240280" y="45720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Fastest possible execution</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822960" y="5138928"/>
            <a:ext cx="4846320" cy="0"/>
          </a:xfrm>
          <a:prstGeom prst="line">
            <a:avLst/>
          </a:prstGeom>
          <a:noFill/>
          <a:ln w="9525">
            <a:solidFill>
              <a:srgbClr val="E1E6E8"/>
            </a:solidFill>
            <a:prstDash val="solid"/>
          </a:ln>
        </p:spPr>
      </p:sp>
      <p:sp>
        <p:nvSpPr>
          <p:cNvPr id="20" name="Text 18"/>
          <p:cNvSpPr/>
          <p:nvPr/>
        </p:nvSpPr>
        <p:spPr>
          <a:xfrm>
            <a:off x="822960" y="52578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DRAWBACK</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2240280" y="52578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Unreadable, error-prone, not portable</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822960" y="5824728"/>
            <a:ext cx="4846320" cy="0"/>
          </a:xfrm>
          <a:prstGeom prst="line">
            <a:avLst/>
          </a:prstGeom>
          <a:noFill/>
          <a:ln w="9525">
            <a:solidFill>
              <a:srgbClr val="E1E6E8"/>
            </a:solidFill>
            <a:prstDash val="solid"/>
          </a:ln>
        </p:spPr>
      </p:sp>
      <p:sp>
        <p:nvSpPr>
          <p:cNvPr id="23" name="Shape 21"/>
          <p:cNvSpPr/>
          <p:nvPr/>
        </p:nvSpPr>
        <p:spPr>
          <a:xfrm>
            <a:off x="6217920" y="1508760"/>
            <a:ext cx="5394960" cy="4434840"/>
          </a:xfrm>
          <a:prstGeom prst="roundRect">
            <a:avLst>
              <a:gd name="adj" fmla="val 1649"/>
            </a:avLst>
          </a:prstGeom>
          <a:solidFill>
            <a:srgbClr val="FFFFFF"/>
          </a:solidFill>
          <a:ln w="12700">
            <a:solidFill>
              <a:srgbClr val="E1E6E8"/>
            </a:solidFill>
            <a:prstDash val="solid"/>
          </a:ln>
        </p:spPr>
      </p:sp>
      <p:sp>
        <p:nvSpPr>
          <p:cNvPr id="24" name="Shape 22"/>
          <p:cNvSpPr/>
          <p:nvPr/>
        </p:nvSpPr>
        <p:spPr>
          <a:xfrm>
            <a:off x="6492240" y="1783080"/>
            <a:ext cx="868680" cy="457200"/>
          </a:xfrm>
          <a:prstGeom prst="roundRect">
            <a:avLst>
              <a:gd name="adj" fmla="val 12000"/>
            </a:avLst>
          </a:prstGeom>
          <a:solidFill>
            <a:srgbClr val="FFB627"/>
          </a:solidFill>
        </p:spPr>
      </p:sp>
      <p:sp>
        <p:nvSpPr>
          <p:cNvPr id="25" name="Text 23"/>
          <p:cNvSpPr/>
          <p:nvPr/>
        </p:nvSpPr>
        <p:spPr>
          <a:xfrm>
            <a:off x="6492240" y="1783080"/>
            <a:ext cx="868680" cy="457200"/>
          </a:xfrm>
          <a:prstGeom prst="rect">
            <a:avLst/>
          </a:prstGeom>
          <a:noFill/>
        </p:spPr>
        <p:txBody>
          <a:bodyPr wrap="square" lIns="0" tIns="0" rIns="0" bIns="0" rtlCol="0" anchor="ctr">
            <a:scene3d>
              <a:camera prst="orthographicFront"/>
              <a:lightRig rig="threePt" dir="t"/>
            </a:scene3d>
          </a:bodyPr>
          <a:lstStyle/>
          <a:p>
            <a:pPr marL="0" indent="0" algn="ctr">
              <a:buNone/>
            </a:pPr>
            <a:r>
              <a:rPr lang="en-US" sz="28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2GL</a:t>
            </a:r>
            <a:endParaRPr lang="en-US" sz="28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26" name="Text 24"/>
          <p:cNvSpPr/>
          <p:nvPr/>
        </p:nvSpPr>
        <p:spPr>
          <a:xfrm>
            <a:off x="7498080" y="1783080"/>
            <a:ext cx="3749040" cy="457200"/>
          </a:xfrm>
          <a:prstGeom prst="rect">
            <a:avLst/>
          </a:prstGeom>
          <a:noFill/>
        </p:spPr>
        <p:txBody>
          <a:bodyPr wrap="square" lIns="0" tIns="0" rIns="0" bIns="0" rtlCol="0" anchor="ctr">
            <a:scene3d>
              <a:camera prst="orthographicFront"/>
              <a:lightRig rig="threePt" dir="t"/>
            </a:scene3d>
          </a:bodyPr>
          <a:lstStyle/>
          <a:p>
            <a:pPr marL="0" indent="0">
              <a:buNone/>
            </a:pPr>
            <a:r>
              <a:rPr lang="en-US" sz="32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Assembly Language</a:t>
            </a:r>
            <a:endParaRPr lang="en-US" sz="32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27" name="Text 25"/>
          <p:cNvSpPr/>
          <p:nvPr/>
        </p:nvSpPr>
        <p:spPr>
          <a:xfrm>
            <a:off x="6492240" y="25146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FORM</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7909560" y="25146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Mnemonic codes (MOV, ADD, SUB)</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6492240" y="3081528"/>
            <a:ext cx="4846320" cy="0"/>
          </a:xfrm>
          <a:prstGeom prst="line">
            <a:avLst/>
          </a:prstGeom>
          <a:noFill/>
          <a:ln w="9525">
            <a:solidFill>
              <a:srgbClr val="E1E6E8"/>
            </a:solidFill>
            <a:prstDash val="solid"/>
          </a:ln>
        </p:spPr>
      </p:sp>
      <p:sp>
        <p:nvSpPr>
          <p:cNvPr id="30" name="Text 28"/>
          <p:cNvSpPr/>
          <p:nvPr/>
        </p:nvSpPr>
        <p:spPr>
          <a:xfrm>
            <a:off x="6492240" y="32004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ERA</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7909560" y="32004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1950s, symbolic programming begins</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2" name="Shape 30"/>
          <p:cNvSpPr/>
          <p:nvPr/>
        </p:nvSpPr>
        <p:spPr>
          <a:xfrm>
            <a:off x="6492240" y="3767328"/>
            <a:ext cx="4846320" cy="0"/>
          </a:xfrm>
          <a:prstGeom prst="line">
            <a:avLst/>
          </a:prstGeom>
          <a:noFill/>
          <a:ln w="9525">
            <a:solidFill>
              <a:srgbClr val="E1E6E8"/>
            </a:solidFill>
            <a:prstDash val="solid"/>
          </a:ln>
        </p:spPr>
      </p:sp>
      <p:sp>
        <p:nvSpPr>
          <p:cNvPr id="33" name="Text 31"/>
          <p:cNvSpPr/>
          <p:nvPr/>
        </p:nvSpPr>
        <p:spPr>
          <a:xfrm>
            <a:off x="6492240" y="38862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EXECUTION</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7909560" y="38862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Converted to machine code by an assembler</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5" name="Shape 33"/>
          <p:cNvSpPr/>
          <p:nvPr/>
        </p:nvSpPr>
        <p:spPr>
          <a:xfrm>
            <a:off x="6492240" y="4453128"/>
            <a:ext cx="4846320" cy="0"/>
          </a:xfrm>
          <a:prstGeom prst="line">
            <a:avLst/>
          </a:prstGeom>
          <a:noFill/>
          <a:ln w="9525">
            <a:solidFill>
              <a:srgbClr val="E1E6E8"/>
            </a:solidFill>
            <a:prstDash val="solid"/>
          </a:ln>
        </p:spPr>
      </p:sp>
      <p:sp>
        <p:nvSpPr>
          <p:cNvPr id="36" name="Text 34"/>
          <p:cNvSpPr/>
          <p:nvPr/>
        </p:nvSpPr>
        <p:spPr>
          <a:xfrm>
            <a:off x="6492240" y="45720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SPEED</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7" name="Text 35"/>
          <p:cNvSpPr/>
          <p:nvPr/>
        </p:nvSpPr>
        <p:spPr>
          <a:xfrm>
            <a:off x="7909560" y="45720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Very fast, near machine-level performance</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8" name="Shape 36"/>
          <p:cNvSpPr/>
          <p:nvPr/>
        </p:nvSpPr>
        <p:spPr>
          <a:xfrm>
            <a:off x="6492240" y="5138928"/>
            <a:ext cx="4846320" cy="0"/>
          </a:xfrm>
          <a:prstGeom prst="line">
            <a:avLst/>
          </a:prstGeom>
          <a:noFill/>
          <a:ln w="9525">
            <a:solidFill>
              <a:srgbClr val="E1E6E8"/>
            </a:solidFill>
            <a:prstDash val="solid"/>
          </a:ln>
        </p:spPr>
      </p:sp>
      <p:sp>
        <p:nvSpPr>
          <p:cNvPr id="39" name="Text 37"/>
          <p:cNvSpPr/>
          <p:nvPr/>
        </p:nvSpPr>
        <p:spPr>
          <a:xfrm>
            <a:off x="6492240" y="5257800"/>
            <a:ext cx="1371600" cy="411480"/>
          </a:xfrm>
          <a:prstGeom prst="rect">
            <a:avLst/>
          </a:prstGeom>
          <a:noFill/>
        </p:spPr>
        <p:txBody>
          <a:bodyPr wrap="square" lIns="0" tIns="0" rIns="0" bIns="0" rtlCol="0" anchor="ctr">
            <a:scene3d>
              <a:camera prst="orthographicFront"/>
              <a:lightRig rig="threePt" dir="t"/>
            </a:scene3d>
          </a:bodyPr>
          <a:lstStyle/>
          <a:p>
            <a:pPr marL="0" indent="0">
              <a:buNone/>
            </a:pPr>
            <a:r>
              <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DRAWBACK</a:t>
            </a:r>
            <a:endParaRPr lang="en-US" b="1"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7909560" y="5257800"/>
            <a:ext cx="3429000" cy="548640"/>
          </a:xfrm>
          <a:prstGeom prst="rect">
            <a:avLst/>
          </a:prstGeom>
          <a:noFill/>
        </p:spPr>
        <p:txBody>
          <a:bodyPr wrap="square" lIns="0" tIns="0" rIns="0" bIns="0" rtlCol="0" anchor="ctr">
            <a:scene3d>
              <a:camera prst="orthographicFront"/>
              <a:lightRig rig="threePt" dir="t"/>
            </a:scene3d>
          </a:bodyPr>
          <a:lstStyle/>
          <a:p>
            <a:pPr marL="0" indent="0">
              <a:lnSpc>
                <a:spcPct val="110000"/>
              </a:lnSpc>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Still processor-specific, tedious to write</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41" name="Shape 39"/>
          <p:cNvSpPr/>
          <p:nvPr/>
        </p:nvSpPr>
        <p:spPr>
          <a:xfrm>
            <a:off x="6492240" y="5824728"/>
            <a:ext cx="4846320" cy="0"/>
          </a:xfrm>
          <a:prstGeom prst="line">
            <a:avLst/>
          </a:prstGeom>
          <a:noFill/>
          <a:ln w="9525">
            <a:solidFill>
              <a:srgbClr val="E1E6E8"/>
            </a:solidFill>
            <a:prstDash val="solid"/>
          </a:ln>
        </p:spPr>
      </p:sp>
      <p:sp>
        <p:nvSpPr>
          <p:cNvPr id="42" name="Text 40"/>
          <p:cNvSpPr/>
          <p:nvPr/>
        </p:nvSpPr>
        <p:spPr>
          <a:xfrm>
            <a:off x="11475720" y="6473952"/>
            <a:ext cx="548640" cy="274320"/>
          </a:xfrm>
          <a:prstGeom prst="rect">
            <a:avLst/>
          </a:prstGeom>
          <a:noFill/>
        </p:spPr>
        <p:txBody>
          <a:bodyPr wrap="square" rtlCol="0" anchor="ctr">
            <a:scene3d>
              <a:camera prst="orthographicFront"/>
              <a:lightRig rig="threePt" dir="t"/>
            </a:scene3d>
          </a:bodyPr>
          <a:lstStyle/>
          <a:p>
            <a:pPr marL="0" indent="0" algn="r">
              <a:buNone/>
            </a:pPr>
            <a:r>
              <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06</a:t>
            </a:r>
            <a:endParaRPr lang="en-US"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sz="1600"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GENERATION 3</a:t>
            </a:r>
            <a:endParaRPr lang="en-US" sz="1600" b="1" kern="0" spc="2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548640" y="749808"/>
            <a:ext cx="10515600" cy="685800"/>
          </a:xfrm>
          <a:prstGeom prst="rect">
            <a:avLst/>
          </a:prstGeom>
          <a:noFill/>
        </p:spPr>
        <p:txBody>
          <a:bodyPr wrap="square" lIns="0" tIns="0" rIns="0" bIns="0" rtlCol="0" anchor="ctr"/>
          <a:lstStyle/>
          <a:p>
            <a:pPr marL="0" indent="0">
              <a:buNone/>
            </a:pPr>
            <a:r>
              <a:rPr lang="en-US" sz="36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rPr>
              <a:t>3GL — Where C Enters the Picture</a:t>
            </a:r>
            <a:endParaRPr lang="en-US" sz="3600" b="1" dirty="0">
              <a:solidFill>
                <a:schemeClr val="tx1"/>
              </a:solidFill>
              <a:effectLst>
                <a:outerShdw blurRad="38100" dist="19050" dir="2700000" algn="tl" rotWithShape="0">
                  <a:schemeClr val="dk1">
                    <a:alpha val="40000"/>
                  </a:schemeClr>
                </a:outerShdw>
              </a:effectLst>
              <a:latin typeface="Cambria" panose="02040503050406030204" pitchFamily="34" charset="0"/>
              <a:ea typeface="Cambria" panose="02040503050406030204" pitchFamily="34" charset="-122"/>
              <a:cs typeface="Cambria" panose="02040503050406030204" pitchFamily="34" charset="-120"/>
            </a:endParaRPr>
          </a:p>
        </p:txBody>
      </p:sp>
      <p:sp>
        <p:nvSpPr>
          <p:cNvPr id="4" name="Text 2"/>
          <p:cNvSpPr/>
          <p:nvPr/>
        </p:nvSpPr>
        <p:spPr>
          <a:xfrm>
            <a:off x="548640" y="1417320"/>
            <a:ext cx="10607040" cy="685800"/>
          </a:xfrm>
          <a:prstGeom prst="rect">
            <a:avLst/>
          </a:prstGeom>
          <a:noFill/>
        </p:spPr>
        <p:txBody>
          <a:bodyPr wrap="square" rtlCol="0" anchor="ctr"/>
          <a:lstStyle/>
          <a:p>
            <a:pPr marL="0" indent="0">
              <a:lnSpc>
                <a:spcPct val="125000"/>
              </a:lnSpc>
              <a:buNone/>
            </a:pPr>
            <a:r>
              <a:rPr lang="en-US" sz="20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rPr>
              <a:t>Third-generation languages introduced structured, procedural programming that is portable across machines. C, created by Dennis Ritchie at Bell Labs in 1972, became the defining 3GL — powerful enough for system programming yet readable enough for everyday application code.</a:t>
            </a:r>
            <a:endParaRPr lang="en-US" sz="2000" dirty="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nvSpPr>
        <p:spPr>
          <a:xfrm>
            <a:off x="548640" y="2331720"/>
            <a:ext cx="5029200" cy="3657600"/>
          </a:xfrm>
          <a:prstGeom prst="roundRect">
            <a:avLst>
              <a:gd name="adj" fmla="val 2000"/>
            </a:avLst>
          </a:prstGeom>
          <a:solidFill>
            <a:srgbClr val="16283D"/>
          </a:solidFill>
        </p:spPr>
      </p:sp>
      <p:sp>
        <p:nvSpPr>
          <p:cNvPr id="6" name="Text 4"/>
          <p:cNvSpPr/>
          <p:nvPr/>
        </p:nvSpPr>
        <p:spPr>
          <a:xfrm>
            <a:off x="822960" y="2514600"/>
            <a:ext cx="3657600" cy="320040"/>
          </a:xfrm>
          <a:prstGeom prst="rect">
            <a:avLst/>
          </a:prstGeom>
          <a:noFill/>
        </p:spPr>
        <p:txBody>
          <a:bodyPr wrap="square" lIns="0" tIns="0" rIns="0" bIns="0" rtlCol="0" anchor="ctr"/>
          <a:lstStyle/>
          <a:p>
            <a:pPr marL="0" indent="0">
              <a:buNone/>
            </a:pPr>
            <a:r>
              <a:rPr lang="en-US" sz="1400" dirty="0">
                <a:solidFill>
                  <a:srgbClr val="8FA3B0"/>
                </a:solidFill>
                <a:latin typeface="Consolas" panose="020B0609020204030204" pitchFamily="34" charset="0"/>
                <a:ea typeface="Consolas" panose="020B0609020204030204" pitchFamily="34" charset="-122"/>
                <a:cs typeface="Consolas" panose="020B0609020204030204" pitchFamily="34" charset="-120"/>
              </a:rPr>
              <a:t>hello.c</a:t>
            </a:r>
            <a:endParaRPr lang="en-US" sz="1400" dirty="0">
              <a:solidFill>
                <a:srgbClr val="8FA3B0"/>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7" name="Text 5"/>
          <p:cNvSpPr/>
          <p:nvPr/>
        </p:nvSpPr>
        <p:spPr>
          <a:xfrm>
            <a:off x="822960" y="2880360"/>
            <a:ext cx="4480560" cy="1463040"/>
          </a:xfrm>
          <a:prstGeom prst="rect">
            <a:avLst/>
          </a:prstGeom>
          <a:noFill/>
        </p:spPr>
        <p:txBody>
          <a:bodyPr wrap="square" lIns="0" tIns="0" rIns="0" bIns="0" rtlCol="0" anchor="ctr"/>
          <a:lstStyle/>
          <a:p>
            <a:pPr marL="0" indent="0">
              <a:lnSpc>
                <a:spcPct val="130000"/>
              </a:lnSpc>
              <a:buNone/>
            </a:pPr>
            <a:r>
              <a:rPr lang="en-US" dirty="0">
                <a:solidFill>
                  <a:srgbClr val="DCEFEC"/>
                </a:solidFill>
                <a:latin typeface="Consolas" panose="020B0609020204030204" pitchFamily="34" charset="0"/>
                <a:ea typeface="Consolas" panose="020B0609020204030204" pitchFamily="34" charset="-122"/>
                <a:cs typeface="Consolas" panose="020B0609020204030204" pitchFamily="34" charset="-120"/>
              </a:rPr>
              <a:t>#include &lt;stdio.h&gt;</a:t>
            </a:r>
            <a:endParaRPr lang="en-US" dirty="0"/>
          </a:p>
          <a:p>
            <a:pPr marL="0" indent="0">
              <a:lnSpc>
                <a:spcPct val="130000"/>
              </a:lnSpc>
              <a:buNone/>
            </a:pPr>
            <a:endParaRPr lang="en-US" dirty="0"/>
          </a:p>
          <a:p>
            <a:pPr marL="0" indent="0">
              <a:lnSpc>
                <a:spcPct val="130000"/>
              </a:lnSpc>
              <a:buNone/>
            </a:pPr>
            <a:r>
              <a:rPr lang="en-US" dirty="0">
                <a:solidFill>
                  <a:srgbClr val="DCEFEC"/>
                </a:solidFill>
                <a:latin typeface="Consolas" panose="020B0609020204030204" pitchFamily="34" charset="0"/>
                <a:ea typeface="Consolas" panose="020B0609020204030204" pitchFamily="34" charset="-122"/>
                <a:cs typeface="Consolas" panose="020B0609020204030204" pitchFamily="34" charset="-120"/>
              </a:rPr>
              <a:t>int main() {</a:t>
            </a:r>
            <a:endParaRPr lang="en-US" dirty="0"/>
          </a:p>
          <a:p>
            <a:pPr marL="0" indent="0">
              <a:lnSpc>
                <a:spcPct val="130000"/>
              </a:lnSpc>
              <a:buNone/>
            </a:pPr>
            <a:r>
              <a:rPr lang="en-US" dirty="0">
                <a:solidFill>
                  <a:srgbClr val="DCEFEC"/>
                </a:solidFill>
                <a:latin typeface="Consolas" panose="020B0609020204030204" pitchFamily="34" charset="0"/>
                <a:ea typeface="Consolas" panose="020B0609020204030204" pitchFamily="34" charset="-122"/>
                <a:cs typeface="Consolas" panose="020B0609020204030204" pitchFamily="34" charset="-120"/>
              </a:rPr>
              <a:t>    printf("Hello, World!");</a:t>
            </a:r>
            <a:endParaRPr lang="en-US" dirty="0"/>
          </a:p>
          <a:p>
            <a:pPr marL="0" indent="0">
              <a:lnSpc>
                <a:spcPct val="130000"/>
              </a:lnSpc>
              <a:buNone/>
            </a:pPr>
            <a:r>
              <a:rPr lang="en-US" dirty="0">
                <a:solidFill>
                  <a:srgbClr val="DCEFEC"/>
                </a:solidFill>
                <a:latin typeface="Consolas" panose="020B0609020204030204" pitchFamily="34" charset="0"/>
                <a:ea typeface="Consolas" panose="020B0609020204030204" pitchFamily="34" charset="-122"/>
                <a:cs typeface="Consolas" panose="020B0609020204030204" pitchFamily="34" charset="-120"/>
              </a:rPr>
              <a:t>    return 0;</a:t>
            </a:r>
            <a:endParaRPr lang="en-US" dirty="0"/>
          </a:p>
          <a:p>
            <a:pPr marL="0" indent="0">
              <a:lnSpc>
                <a:spcPct val="130000"/>
              </a:lnSpc>
              <a:buNone/>
            </a:pPr>
            <a:r>
              <a:rPr lang="en-US" dirty="0">
                <a:solidFill>
                  <a:srgbClr val="DCEFEC"/>
                </a:solidFill>
                <a:latin typeface="Consolas" panose="020B0609020204030204" pitchFamily="34" charset="0"/>
                <a:ea typeface="Consolas" panose="020B0609020204030204" pitchFamily="34" charset="-122"/>
                <a:cs typeface="Consolas" panose="020B0609020204030204" pitchFamily="34" charset="-120"/>
              </a:rPr>
              <a:t>}</a:t>
            </a:r>
            <a:endParaRPr lang="en-US" dirty="0">
              <a:solidFill>
                <a:srgbClr val="DCEFEC"/>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8" name="Shape 6"/>
          <p:cNvSpPr/>
          <p:nvPr/>
        </p:nvSpPr>
        <p:spPr>
          <a:xfrm>
            <a:off x="822960" y="4434840"/>
            <a:ext cx="4480560" cy="0"/>
          </a:xfrm>
          <a:prstGeom prst="line">
            <a:avLst/>
          </a:prstGeom>
          <a:noFill/>
          <a:ln w="12700">
            <a:solidFill>
              <a:srgbClr val="2A3F52"/>
            </a:solidFill>
            <a:prstDash val="solid"/>
          </a:ln>
        </p:spPr>
      </p:sp>
      <p:sp>
        <p:nvSpPr>
          <p:cNvPr id="9" name="Text 7"/>
          <p:cNvSpPr/>
          <p:nvPr/>
        </p:nvSpPr>
        <p:spPr>
          <a:xfrm>
            <a:off x="822960" y="4572000"/>
            <a:ext cx="4480560" cy="320040"/>
          </a:xfrm>
          <a:prstGeom prst="rect">
            <a:avLst/>
          </a:prstGeom>
          <a:noFill/>
        </p:spPr>
        <p:txBody>
          <a:bodyPr wrap="square" lIns="0" tIns="0" rIns="0" bIns="0" rtlCol="0" anchor="ctr"/>
          <a:lstStyle/>
          <a:p>
            <a:pPr marL="0" indent="0">
              <a:buNone/>
            </a:pPr>
            <a:r>
              <a:rPr lang="en-US" sz="1600" b="1" dirty="0">
                <a:solidFill>
                  <a:srgbClr val="FFB627"/>
                </a:solidFill>
                <a:latin typeface="Cambria" panose="02040503050406030204" pitchFamily="34" charset="0"/>
                <a:ea typeface="Cambria" panose="02040503050406030204" pitchFamily="34" charset="-122"/>
                <a:cs typeface="Cambria" panose="02040503050406030204" pitchFamily="34" charset="-120"/>
              </a:rPr>
              <a:t>Why C Matters</a:t>
            </a:r>
            <a:endParaRPr lang="en-US" sz="1600" b="1" dirty="0">
              <a:solidFill>
                <a:srgbClr val="FFB627"/>
              </a:solidFill>
              <a:latin typeface="Cambria" panose="02040503050406030204" pitchFamily="34" charset="0"/>
              <a:ea typeface="Cambria" panose="02040503050406030204" pitchFamily="34" charset="-122"/>
              <a:cs typeface="Cambria" panose="02040503050406030204" pitchFamily="34" charset="-120"/>
            </a:endParaRPr>
          </a:p>
        </p:txBody>
      </p:sp>
      <p:sp>
        <p:nvSpPr>
          <p:cNvPr id="10" name="Text 8"/>
          <p:cNvSpPr/>
          <p:nvPr/>
        </p:nvSpPr>
        <p:spPr>
          <a:xfrm>
            <a:off x="822960" y="4892040"/>
            <a:ext cx="4480560" cy="1005840"/>
          </a:xfrm>
          <a:prstGeom prst="rect">
            <a:avLst/>
          </a:prstGeom>
          <a:noFill/>
        </p:spPr>
        <p:txBody>
          <a:bodyPr wrap="square" lIns="0" tIns="0" rIns="0" bIns="0" rtlCol="0" anchor="ctr"/>
          <a:lstStyle/>
          <a:p>
            <a:pPr marL="0" indent="0">
              <a:lnSpc>
                <a:spcPct val="120000"/>
              </a:lnSpc>
              <a:buNone/>
            </a:pPr>
            <a:r>
              <a:rPr lang="en-US" sz="1400" dirty="0">
                <a:solidFill>
                  <a:srgbClr val="C7D2D9"/>
                </a:solidFill>
                <a:latin typeface="Calibri" panose="020F0502020204030204" pitchFamily="34" charset="0"/>
                <a:ea typeface="Calibri" panose="020F0502020204030204" pitchFamily="34" charset="-122"/>
                <a:cs typeface="Calibri" panose="020F0502020204030204" pitchFamily="34" charset="-120"/>
              </a:rPr>
              <a:t>Built Unix. Influenced C++, Java, C#, JavaScript, and more. Still used today in operating systems, embedded devices, and compilers.</a:t>
            </a:r>
            <a:endParaRPr lang="en-US" sz="1400" dirty="0">
              <a:solidFill>
                <a:srgbClr val="C7D2D9"/>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806440" y="2331720"/>
            <a:ext cx="5806440" cy="795528"/>
          </a:xfrm>
          <a:prstGeom prst="roundRect">
            <a:avLst>
              <a:gd name="adj" fmla="val 6897"/>
            </a:avLst>
          </a:prstGeom>
          <a:solidFill>
            <a:srgbClr val="132436"/>
          </a:solidFill>
        </p:spPr>
      </p:sp>
      <p:sp>
        <p:nvSpPr>
          <p:cNvPr id="12" name="Shape 10"/>
          <p:cNvSpPr/>
          <p:nvPr/>
        </p:nvSpPr>
        <p:spPr>
          <a:xfrm>
            <a:off x="5989320" y="2532888"/>
            <a:ext cx="384048" cy="384048"/>
          </a:xfrm>
          <a:prstGeom prst="ellipse">
            <a:avLst/>
          </a:prstGeom>
          <a:solidFill>
            <a:srgbClr val="1B998B"/>
          </a:solidFill>
        </p:spPr>
      </p:sp>
      <p:sp>
        <p:nvSpPr>
          <p:cNvPr id="13" name="Text 11"/>
          <p:cNvSpPr/>
          <p:nvPr/>
        </p:nvSpPr>
        <p:spPr>
          <a:xfrm>
            <a:off x="6537960" y="2423160"/>
            <a:ext cx="4937760" cy="292608"/>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Procedural</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4" name="Text 12"/>
          <p:cNvSpPr/>
          <p:nvPr/>
        </p:nvSpPr>
        <p:spPr>
          <a:xfrm>
            <a:off x="6537960" y="2715768"/>
            <a:ext cx="4937760" cy="365760"/>
          </a:xfrm>
          <a:prstGeom prst="rect">
            <a:avLst/>
          </a:prstGeom>
          <a:noFill/>
        </p:spPr>
        <p:txBody>
          <a:bodyPr wrap="square" lIns="0" tIns="0" rIns="0" bIns="0" rtlCol="0" anchor="ctr"/>
          <a:lstStyle/>
          <a:p>
            <a:pPr marL="0" indent="0">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Code organized into functions and step-by-step logic.</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5806440" y="3264408"/>
            <a:ext cx="5806440" cy="795528"/>
          </a:xfrm>
          <a:prstGeom prst="roundRect">
            <a:avLst>
              <a:gd name="adj" fmla="val 6897"/>
            </a:avLst>
          </a:prstGeom>
          <a:solidFill>
            <a:srgbClr val="132436"/>
          </a:solidFill>
        </p:spPr>
      </p:sp>
      <p:sp>
        <p:nvSpPr>
          <p:cNvPr id="16" name="Shape 14"/>
          <p:cNvSpPr/>
          <p:nvPr/>
        </p:nvSpPr>
        <p:spPr>
          <a:xfrm>
            <a:off x="5989320" y="3465576"/>
            <a:ext cx="384048" cy="384048"/>
          </a:xfrm>
          <a:prstGeom prst="ellipse">
            <a:avLst/>
          </a:prstGeom>
          <a:solidFill>
            <a:srgbClr val="1B998B"/>
          </a:solidFill>
        </p:spPr>
      </p:sp>
      <p:sp>
        <p:nvSpPr>
          <p:cNvPr id="17" name="Text 15"/>
          <p:cNvSpPr/>
          <p:nvPr/>
        </p:nvSpPr>
        <p:spPr>
          <a:xfrm>
            <a:off x="6537960" y="3355848"/>
            <a:ext cx="4937760" cy="292608"/>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Portable</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8" name="Text 16"/>
          <p:cNvSpPr/>
          <p:nvPr/>
        </p:nvSpPr>
        <p:spPr>
          <a:xfrm>
            <a:off x="6537960" y="3648456"/>
            <a:ext cx="4937760" cy="365760"/>
          </a:xfrm>
          <a:prstGeom prst="rect">
            <a:avLst/>
          </a:prstGeom>
          <a:noFill/>
        </p:spPr>
        <p:txBody>
          <a:bodyPr wrap="square" lIns="0" tIns="0" rIns="0" bIns="0" rtlCol="0" anchor="ctr"/>
          <a:lstStyle/>
          <a:p>
            <a:pPr marL="0" indent="0">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Same source compiles for many hardware platforms.</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5806440" y="4197096"/>
            <a:ext cx="5806440" cy="795528"/>
          </a:xfrm>
          <a:prstGeom prst="roundRect">
            <a:avLst>
              <a:gd name="adj" fmla="val 6897"/>
            </a:avLst>
          </a:prstGeom>
          <a:solidFill>
            <a:srgbClr val="132436"/>
          </a:solidFill>
        </p:spPr>
      </p:sp>
      <p:sp>
        <p:nvSpPr>
          <p:cNvPr id="20" name="Shape 18"/>
          <p:cNvSpPr/>
          <p:nvPr/>
        </p:nvSpPr>
        <p:spPr>
          <a:xfrm>
            <a:off x="5989320" y="4398264"/>
            <a:ext cx="384048" cy="384048"/>
          </a:xfrm>
          <a:prstGeom prst="ellipse">
            <a:avLst/>
          </a:prstGeom>
          <a:solidFill>
            <a:srgbClr val="1B998B"/>
          </a:solidFill>
        </p:spPr>
      </p:sp>
      <p:sp>
        <p:nvSpPr>
          <p:cNvPr id="21" name="Text 19"/>
          <p:cNvSpPr/>
          <p:nvPr/>
        </p:nvSpPr>
        <p:spPr>
          <a:xfrm>
            <a:off x="6537960" y="4288536"/>
            <a:ext cx="4937760" cy="292608"/>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Close to Hardware</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2" name="Text 20"/>
          <p:cNvSpPr/>
          <p:nvPr/>
        </p:nvSpPr>
        <p:spPr>
          <a:xfrm>
            <a:off x="6537960" y="4581144"/>
            <a:ext cx="4937760" cy="365760"/>
          </a:xfrm>
          <a:prstGeom prst="rect">
            <a:avLst/>
          </a:prstGeom>
          <a:noFill/>
        </p:spPr>
        <p:txBody>
          <a:bodyPr wrap="square" lIns="0" tIns="0" rIns="0" bIns="0" rtlCol="0" anchor="ctr"/>
          <a:lstStyle/>
          <a:p>
            <a:pPr marL="0" indent="0">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Supports pointers &amp; direct memory access.</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5806440" y="5129784"/>
            <a:ext cx="5806440" cy="795528"/>
          </a:xfrm>
          <a:prstGeom prst="roundRect">
            <a:avLst>
              <a:gd name="adj" fmla="val 6897"/>
            </a:avLst>
          </a:prstGeom>
          <a:solidFill>
            <a:srgbClr val="132436"/>
          </a:solidFill>
        </p:spPr>
      </p:sp>
      <p:sp>
        <p:nvSpPr>
          <p:cNvPr id="24" name="Shape 22"/>
          <p:cNvSpPr/>
          <p:nvPr/>
        </p:nvSpPr>
        <p:spPr>
          <a:xfrm>
            <a:off x="5989320" y="5330952"/>
            <a:ext cx="384048" cy="384048"/>
          </a:xfrm>
          <a:prstGeom prst="ellipse">
            <a:avLst/>
          </a:prstGeom>
          <a:solidFill>
            <a:srgbClr val="1B998B"/>
          </a:solidFill>
        </p:spPr>
      </p:sp>
      <p:sp>
        <p:nvSpPr>
          <p:cNvPr id="25" name="Text 23"/>
          <p:cNvSpPr/>
          <p:nvPr/>
        </p:nvSpPr>
        <p:spPr>
          <a:xfrm>
            <a:off x="6537960" y="5221224"/>
            <a:ext cx="4937760" cy="292608"/>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Structured</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6" name="Text 24"/>
          <p:cNvSpPr/>
          <p:nvPr/>
        </p:nvSpPr>
        <p:spPr>
          <a:xfrm>
            <a:off x="6537960" y="5513832"/>
            <a:ext cx="4937760" cy="365760"/>
          </a:xfrm>
          <a:prstGeom prst="rect">
            <a:avLst/>
          </a:prstGeom>
          <a:noFill/>
        </p:spPr>
        <p:txBody>
          <a:bodyPr wrap="square" lIns="0" tIns="0" rIns="0" bIns="0" rtlCol="0" anchor="ctr"/>
          <a:lstStyle/>
          <a:p>
            <a:pPr marL="0" indent="0">
              <a:buNone/>
            </a:pPr>
            <a:r>
              <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rPr>
              <a:t>Encourages loops, conditionals, modular design.</a:t>
            </a:r>
            <a:endParaRPr lang="en-US" sz="1400" dirty="0">
              <a:solidFill>
                <a:srgbClr val="B7C2C9"/>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11475720" y="6473952"/>
            <a:ext cx="548640" cy="274320"/>
          </a:xfrm>
          <a:prstGeom prst="rect">
            <a:avLst/>
          </a:prstGeom>
          <a:noFill/>
        </p:spPr>
        <p:txBody>
          <a:bodyPr wrap="square" rtlCol="0" anchor="ctr"/>
          <a:lstStyle/>
          <a:p>
            <a:pPr marL="0" indent="0" algn="r">
              <a:buNone/>
            </a:pPr>
            <a:r>
              <a:rPr lang="en-US" sz="1400" dirty="0">
                <a:solidFill>
                  <a:srgbClr val="8A98A6"/>
                </a:solidFill>
                <a:latin typeface="Calibri" panose="020F0502020204030204" pitchFamily="34" charset="0"/>
                <a:ea typeface="Calibri" panose="020F0502020204030204" pitchFamily="34" charset="-122"/>
                <a:cs typeface="Calibri" panose="020F0502020204030204" pitchFamily="34" charset="-120"/>
              </a:rPr>
              <a:t>07</a:t>
            </a:r>
            <a:endParaRPr lang="en-US" sz="1400" dirty="0">
              <a:solidFill>
                <a:srgbClr val="8A98A6"/>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p:spPr>
        <p:txBody>
          <a:bodyPr wrap="square" rtlCol="0" anchor="ctr"/>
          <a:lstStyle/>
          <a:p>
            <a:pPr marL="0" indent="0">
              <a:buNone/>
            </a:pPr>
            <a:r>
              <a:rPr lang="en-US" b="1" kern="0" spc="200" dirty="0">
                <a:solidFill>
                  <a:srgbClr val="1B998B"/>
                </a:solidFill>
                <a:latin typeface="Calibri" panose="020F0502020204030204" pitchFamily="34" charset="0"/>
                <a:ea typeface="Calibri" panose="020F0502020204030204" pitchFamily="34" charset="-122"/>
                <a:cs typeface="Calibri" panose="020F0502020204030204" pitchFamily="34" charset="-120"/>
              </a:rPr>
              <a:t>GENERATIONS 4 &amp; 5</a:t>
            </a:r>
            <a:endParaRPr lang="en-US" b="1" kern="0" spc="200" dirty="0">
              <a:solidFill>
                <a:srgbClr val="1B998B"/>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548640" y="749808"/>
            <a:ext cx="10515600" cy="685800"/>
          </a:xfrm>
          <a:prstGeom prst="rect">
            <a:avLst/>
          </a:prstGeom>
          <a:noFill/>
        </p:spPr>
        <p:txBody>
          <a:bodyPr wrap="square" lIns="0" tIns="0" rIns="0" bIns="0" rtlCol="0" anchor="ctr"/>
          <a:lstStyle/>
          <a:p>
            <a:pPr marL="0" indent="0">
              <a:buNone/>
            </a:pPr>
            <a:r>
              <a:rPr lang="en-US" sz="4000" b="1" dirty="0">
                <a:solidFill>
                  <a:srgbClr val="1A2430"/>
                </a:solidFill>
                <a:latin typeface="Cambria" panose="02040503050406030204" pitchFamily="34" charset="0"/>
                <a:ea typeface="Cambria" panose="02040503050406030204" pitchFamily="34" charset="-122"/>
                <a:cs typeface="Cambria" panose="02040503050406030204" pitchFamily="34" charset="-120"/>
              </a:rPr>
              <a:t>4GL and 5GL: Toward Higher Abstraction</a:t>
            </a:r>
            <a:endParaRPr lang="en-US" sz="4000" b="1" dirty="0">
              <a:solidFill>
                <a:srgbClr val="1A2430"/>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48640" y="1554480"/>
            <a:ext cx="5394960" cy="4297680"/>
          </a:xfrm>
          <a:prstGeom prst="roundRect">
            <a:avLst>
              <a:gd name="adj" fmla="val 1702"/>
            </a:avLst>
          </a:prstGeom>
          <a:solidFill>
            <a:srgbClr val="FFFFFF"/>
          </a:solidFill>
          <a:ln w="12700">
            <a:solidFill>
              <a:srgbClr val="E1E6E8"/>
            </a:solidFill>
            <a:prstDash val="solid"/>
          </a:ln>
        </p:spPr>
      </p:sp>
      <p:sp>
        <p:nvSpPr>
          <p:cNvPr id="5" name="Shape 3"/>
          <p:cNvSpPr/>
          <p:nvPr/>
        </p:nvSpPr>
        <p:spPr>
          <a:xfrm>
            <a:off x="868680" y="1828800"/>
            <a:ext cx="822960" cy="822960"/>
          </a:xfrm>
          <a:prstGeom prst="ellipse">
            <a:avLst/>
          </a:prstGeom>
          <a:solidFill>
            <a:srgbClr val="1B998B"/>
          </a:solidFill>
        </p:spPr>
      </p:sp>
      <p:sp>
        <p:nvSpPr>
          <p:cNvPr id="6" name="Text 4"/>
          <p:cNvSpPr/>
          <p:nvPr/>
        </p:nvSpPr>
        <p:spPr>
          <a:xfrm>
            <a:off x="868680" y="1828800"/>
            <a:ext cx="822960" cy="82296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4GL</a:t>
            </a:r>
            <a:endPar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7" name="Text 5"/>
          <p:cNvSpPr/>
          <p:nvPr/>
        </p:nvSpPr>
        <p:spPr>
          <a:xfrm>
            <a:off x="1874520" y="1920240"/>
            <a:ext cx="3794760" cy="640080"/>
          </a:xfrm>
          <a:prstGeom prst="rect">
            <a:avLst/>
          </a:prstGeom>
          <a:noFill/>
        </p:spPr>
        <p:txBody>
          <a:bodyPr wrap="square" lIns="0" tIns="0" rIns="0" bIns="0" rtlCol="0" anchor="ctr"/>
          <a:lstStyle/>
          <a:p>
            <a:pPr marL="0" indent="0">
              <a:buNone/>
            </a:pPr>
            <a:r>
              <a:rPr lang="en-US" sz="2800" b="1" dirty="0">
                <a:solidFill>
                  <a:srgbClr val="1A2430"/>
                </a:solidFill>
                <a:latin typeface="Cambria" panose="02040503050406030204" pitchFamily="34" charset="0"/>
                <a:ea typeface="Cambria" panose="02040503050406030204" pitchFamily="34" charset="-122"/>
                <a:cs typeface="Cambria" panose="02040503050406030204" pitchFamily="34" charset="-120"/>
              </a:rPr>
              <a:t>Domain-Specific Languages</a:t>
            </a:r>
            <a:endParaRPr lang="en-US" sz="2800" b="1" dirty="0">
              <a:solidFill>
                <a:srgbClr val="1A2430"/>
              </a:solidFill>
              <a:latin typeface="Cambria" panose="02040503050406030204" pitchFamily="34" charset="0"/>
              <a:ea typeface="Cambria" panose="02040503050406030204" pitchFamily="34" charset="-122"/>
              <a:cs typeface="Cambria" panose="02040503050406030204" pitchFamily="34" charset="-120"/>
            </a:endParaRPr>
          </a:p>
        </p:txBody>
      </p:sp>
      <p:sp>
        <p:nvSpPr>
          <p:cNvPr id="8" name="Shape 6"/>
          <p:cNvSpPr/>
          <p:nvPr/>
        </p:nvSpPr>
        <p:spPr>
          <a:xfrm>
            <a:off x="914400" y="2999232"/>
            <a:ext cx="82296" cy="82296"/>
          </a:xfrm>
          <a:prstGeom prst="ellipse">
            <a:avLst/>
          </a:prstGeom>
          <a:solidFill>
            <a:srgbClr val="1B998B"/>
          </a:solidFill>
        </p:spPr>
      </p:sp>
      <p:sp>
        <p:nvSpPr>
          <p:cNvPr id="9" name="Text 7"/>
          <p:cNvSpPr/>
          <p:nvPr/>
        </p:nvSpPr>
        <p:spPr>
          <a:xfrm>
            <a:off x="1115568" y="2871216"/>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Built for a specific task, e.g. database queries or report generation</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914400" y="3621024"/>
            <a:ext cx="82296" cy="82296"/>
          </a:xfrm>
          <a:prstGeom prst="ellipse">
            <a:avLst/>
          </a:prstGeom>
          <a:solidFill>
            <a:srgbClr val="1B998B"/>
          </a:solidFill>
        </p:spPr>
      </p:sp>
      <p:sp>
        <p:nvSpPr>
          <p:cNvPr id="11" name="Text 9"/>
          <p:cNvSpPr/>
          <p:nvPr/>
        </p:nvSpPr>
        <p:spPr>
          <a:xfrm>
            <a:off x="1115568" y="3493008"/>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Examples: SQL, MATLAB, R</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914400" y="4242816"/>
            <a:ext cx="82296" cy="82296"/>
          </a:xfrm>
          <a:prstGeom prst="ellipse">
            <a:avLst/>
          </a:prstGeom>
          <a:solidFill>
            <a:srgbClr val="1B998B"/>
          </a:solidFill>
        </p:spPr>
      </p:sp>
      <p:sp>
        <p:nvSpPr>
          <p:cNvPr id="13" name="Text 11"/>
          <p:cNvSpPr/>
          <p:nvPr/>
        </p:nvSpPr>
        <p:spPr>
          <a:xfrm>
            <a:off x="1115568" y="4114800"/>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Much less code than 3GL for the same result</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914400" y="4864608"/>
            <a:ext cx="82296" cy="82296"/>
          </a:xfrm>
          <a:prstGeom prst="ellipse">
            <a:avLst/>
          </a:prstGeom>
          <a:solidFill>
            <a:srgbClr val="1B998B"/>
          </a:solidFill>
        </p:spPr>
      </p:sp>
      <p:sp>
        <p:nvSpPr>
          <p:cNvPr id="15" name="Text 13"/>
          <p:cNvSpPr/>
          <p:nvPr/>
        </p:nvSpPr>
        <p:spPr>
          <a:xfrm>
            <a:off x="1115568" y="4736592"/>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Trades general-purpose flexibility for productivity</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6217920" y="1554480"/>
            <a:ext cx="5394960" cy="4297680"/>
          </a:xfrm>
          <a:prstGeom prst="roundRect">
            <a:avLst>
              <a:gd name="adj" fmla="val 1702"/>
            </a:avLst>
          </a:prstGeom>
          <a:solidFill>
            <a:srgbClr val="FFFFFF"/>
          </a:solidFill>
          <a:ln w="12700">
            <a:solidFill>
              <a:srgbClr val="E1E6E8"/>
            </a:solidFill>
            <a:prstDash val="solid"/>
          </a:ln>
        </p:spPr>
      </p:sp>
      <p:sp>
        <p:nvSpPr>
          <p:cNvPr id="17" name="Shape 15"/>
          <p:cNvSpPr/>
          <p:nvPr/>
        </p:nvSpPr>
        <p:spPr>
          <a:xfrm>
            <a:off x="6537960" y="1828800"/>
            <a:ext cx="822960" cy="822960"/>
          </a:xfrm>
          <a:prstGeom prst="ellipse">
            <a:avLst/>
          </a:prstGeom>
          <a:solidFill>
            <a:srgbClr val="FFB627"/>
          </a:solidFill>
        </p:spPr>
      </p:sp>
      <p:sp>
        <p:nvSpPr>
          <p:cNvPr id="18" name="Text 16"/>
          <p:cNvSpPr/>
          <p:nvPr/>
        </p:nvSpPr>
        <p:spPr>
          <a:xfrm>
            <a:off x="6537960" y="1828800"/>
            <a:ext cx="822960" cy="82296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5GL</a:t>
            </a:r>
            <a:endPar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9" name="Text 17"/>
          <p:cNvSpPr/>
          <p:nvPr/>
        </p:nvSpPr>
        <p:spPr>
          <a:xfrm>
            <a:off x="7543800" y="1920240"/>
            <a:ext cx="3794760" cy="640080"/>
          </a:xfrm>
          <a:prstGeom prst="rect">
            <a:avLst/>
          </a:prstGeom>
          <a:noFill/>
        </p:spPr>
        <p:txBody>
          <a:bodyPr wrap="square" lIns="0" tIns="0" rIns="0" bIns="0" rtlCol="0" anchor="ctr"/>
          <a:lstStyle/>
          <a:p>
            <a:pPr marL="0" indent="0">
              <a:buNone/>
            </a:pPr>
            <a:r>
              <a:rPr lang="en-US" sz="2800" b="1" dirty="0">
                <a:solidFill>
                  <a:srgbClr val="1A2430"/>
                </a:solidFill>
                <a:latin typeface="Cambria" panose="02040503050406030204" pitchFamily="34" charset="0"/>
                <a:ea typeface="Cambria" panose="02040503050406030204" pitchFamily="34" charset="-122"/>
                <a:cs typeface="Cambria" panose="02040503050406030204" pitchFamily="34" charset="-120"/>
              </a:rPr>
              <a:t>AI &amp; Constraint-Based Languages</a:t>
            </a:r>
            <a:endParaRPr lang="en-US" sz="2800" b="1" dirty="0">
              <a:solidFill>
                <a:srgbClr val="1A2430"/>
              </a:solidFill>
              <a:latin typeface="Cambria" panose="02040503050406030204" pitchFamily="34" charset="0"/>
              <a:ea typeface="Cambria" panose="02040503050406030204" pitchFamily="34" charset="-122"/>
              <a:cs typeface="Cambria" panose="02040503050406030204" pitchFamily="34" charset="-120"/>
            </a:endParaRPr>
          </a:p>
        </p:txBody>
      </p:sp>
      <p:sp>
        <p:nvSpPr>
          <p:cNvPr id="20" name="Shape 18"/>
          <p:cNvSpPr/>
          <p:nvPr/>
        </p:nvSpPr>
        <p:spPr>
          <a:xfrm>
            <a:off x="6583680" y="2999232"/>
            <a:ext cx="82296" cy="82296"/>
          </a:xfrm>
          <a:prstGeom prst="ellipse">
            <a:avLst/>
          </a:prstGeom>
          <a:solidFill>
            <a:srgbClr val="FFB627"/>
          </a:solidFill>
        </p:spPr>
      </p:sp>
      <p:sp>
        <p:nvSpPr>
          <p:cNvPr id="21" name="Text 19"/>
          <p:cNvSpPr/>
          <p:nvPr/>
        </p:nvSpPr>
        <p:spPr>
          <a:xfrm>
            <a:off x="6784848" y="2871216"/>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Programmer states the goal; the system finds the how</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6583680" y="3621024"/>
            <a:ext cx="82296" cy="82296"/>
          </a:xfrm>
          <a:prstGeom prst="ellipse">
            <a:avLst/>
          </a:prstGeom>
          <a:solidFill>
            <a:srgbClr val="FFB627"/>
          </a:solidFill>
        </p:spPr>
      </p:sp>
      <p:sp>
        <p:nvSpPr>
          <p:cNvPr id="23" name="Text 21"/>
          <p:cNvSpPr/>
          <p:nvPr/>
        </p:nvSpPr>
        <p:spPr>
          <a:xfrm>
            <a:off x="6784848" y="3493008"/>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Examples: Prolog, Mercury, OPS5</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6583680" y="4242816"/>
            <a:ext cx="82296" cy="82296"/>
          </a:xfrm>
          <a:prstGeom prst="ellipse">
            <a:avLst/>
          </a:prstGeom>
          <a:solidFill>
            <a:srgbClr val="FFB627"/>
          </a:solidFill>
        </p:spPr>
      </p:sp>
      <p:sp>
        <p:nvSpPr>
          <p:cNvPr id="25" name="Text 23"/>
          <p:cNvSpPr/>
          <p:nvPr/>
        </p:nvSpPr>
        <p:spPr>
          <a:xfrm>
            <a:off x="6784848" y="4114800"/>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Used in AI, expert systems, and logic programming</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6583680" y="4864608"/>
            <a:ext cx="82296" cy="82296"/>
          </a:xfrm>
          <a:prstGeom prst="ellipse">
            <a:avLst/>
          </a:prstGeom>
          <a:solidFill>
            <a:srgbClr val="FFB627"/>
          </a:solidFill>
        </p:spPr>
      </p:sp>
      <p:sp>
        <p:nvSpPr>
          <p:cNvPr id="27" name="Text 25"/>
          <p:cNvSpPr/>
          <p:nvPr/>
        </p:nvSpPr>
        <p:spPr>
          <a:xfrm>
            <a:off x="6784848" y="4736592"/>
            <a:ext cx="4572000" cy="502920"/>
          </a:xfrm>
          <a:prstGeom prst="rect">
            <a:avLst/>
          </a:prstGeom>
          <a:noFill/>
        </p:spPr>
        <p:txBody>
          <a:bodyPr wrap="square" lIns="0" tIns="0" rIns="0" bIns="0" rtlCol="0" anchor="ctr"/>
          <a:lstStyle/>
          <a:p>
            <a:pPr marL="0" indent="0">
              <a:lnSpc>
                <a:spcPct val="115000"/>
              </a:lnSpc>
              <a:buNone/>
            </a:pPr>
            <a:r>
              <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rPr>
              <a:t>Still evolving — closest to natural human instruction</a:t>
            </a:r>
            <a:endParaRPr lang="en-US" sz="2000" dirty="0">
              <a:solidFill>
                <a:srgbClr val="1A2430"/>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11475720" y="6473952"/>
            <a:ext cx="548640" cy="274320"/>
          </a:xfrm>
          <a:prstGeom prst="rect">
            <a:avLst/>
          </a:prstGeom>
          <a:noFill/>
        </p:spPr>
        <p:txBody>
          <a:bodyPr wrap="square" rtlCol="0" anchor="ctr"/>
          <a:lstStyle/>
          <a:p>
            <a:pPr marL="0" indent="0" algn="r">
              <a:buNone/>
            </a:pPr>
            <a:r>
              <a:rPr lang="en-US" dirty="0">
                <a:solidFill>
                  <a:srgbClr val="A9B4BC"/>
                </a:solidFill>
                <a:latin typeface="Calibri" panose="020F0502020204030204" pitchFamily="34" charset="0"/>
                <a:ea typeface="Calibri" panose="020F0502020204030204" pitchFamily="34" charset="-122"/>
                <a:cs typeface="Calibri" panose="020F0502020204030204" pitchFamily="34" charset="-120"/>
              </a:rPr>
              <a:t>08</a:t>
            </a:r>
            <a:endParaRPr lang="en-US" dirty="0">
              <a:solidFill>
                <a:srgbClr val="A9B4BC"/>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29385" y="1415415"/>
            <a:ext cx="9768840" cy="3322955"/>
          </a:xfrm>
          <a:prstGeom prst="rect">
            <a:avLst/>
          </a:prstGeom>
          <a:noFill/>
        </p:spPr>
        <p:txBody>
          <a:bodyPr wrap="square" rtlCol="0" anchor="t">
            <a:spAutoFit/>
          </a:bodyPr>
          <a:p>
            <a:pPr marL="0" marR="0" lvl="0" indent="0" algn="ctr" rtl="0">
              <a:spcBef>
                <a:spcPts val="0"/>
              </a:spcBef>
              <a:spcAft>
                <a:spcPts val="0"/>
              </a:spcAft>
              <a:buNone/>
            </a:pPr>
            <a:r>
              <a:rPr lang="en-IN" sz="4000" b="1">
                <a:solidFill>
                  <a:schemeClr val="dk1"/>
                </a:solidFill>
                <a:latin typeface="Calibri" panose="020F0502020204030204"/>
                <a:ea typeface="Calibri" panose="020F0502020204030204"/>
                <a:cs typeface="Calibri" panose="020F0502020204030204"/>
                <a:sym typeface="Calibri" panose="020F0502020204030204"/>
              </a:rPr>
              <a:t>Translators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High level and Mid-level languages require translators for communicating the instructions to the computer.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We have three types of translators: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50000"/>
              </a:lnSpc>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Assembler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50000"/>
              </a:lnSpc>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Interpreter</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50000"/>
              </a:lnSpc>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Compiler</a:t>
            </a:r>
            <a:endParaRPr lang="en-IN" altLang="en-US" sz="2000" b="1">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 name="Google Shape;248;p19"/>
          <p:cNvSpPr txBox="1"/>
          <p:nvPr/>
        </p:nvSpPr>
        <p:spPr>
          <a:xfrm>
            <a:off x="2855016" y="808102"/>
            <a:ext cx="6482999" cy="228282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 name="Google Shape;249;p19"/>
          <p:cNvSpPr/>
          <p:nvPr/>
        </p:nvSpPr>
        <p:spPr>
          <a:xfrm>
            <a:off x="3206981" y="1060604"/>
            <a:ext cx="6048672"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0" name="Google Shape;250;p19"/>
          <p:cNvSpPr txBox="1"/>
          <p:nvPr/>
        </p:nvSpPr>
        <p:spPr>
          <a:xfrm>
            <a:off x="1014730" y="822960"/>
            <a:ext cx="10439400" cy="5236845"/>
          </a:xfrm>
          <a:prstGeom prst="rect">
            <a:avLst/>
          </a:prstGeom>
          <a:noFill/>
          <a:ln>
            <a:noFill/>
          </a:ln>
        </p:spPr>
        <p:txBody>
          <a:bodyPr spcFirstLastPara="1" wrap="square" lIns="68550" tIns="34275" rIns="68550" bIns="34275" anchor="t" anchorCtr="0">
            <a:noAutofit/>
          </a:bodyPr>
          <a:lstStyle/>
          <a:p>
            <a:pPr marL="0" marR="0" lvl="0" indent="0" algn="just" rtl="0">
              <a:lnSpc>
                <a:spcPct val="115000"/>
              </a:lnSpc>
              <a:spcBef>
                <a:spcPts val="0"/>
              </a:spcBef>
              <a:spcAft>
                <a:spcPts val="0"/>
              </a:spcAft>
              <a:buNone/>
            </a:pPr>
            <a:r>
              <a:rPr 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Assembler: </a:t>
            </a:r>
            <a:r>
              <a:rPr lang="en-IN">
                <a:solidFill>
                  <a:schemeClr val="dk1"/>
                </a:solidFill>
                <a:latin typeface="Times New Roman" panose="02020603050405020304"/>
                <a:ea typeface="Times New Roman" panose="02020603050405020304"/>
                <a:cs typeface="Times New Roman" panose="02020603050405020304"/>
                <a:sym typeface="Times New Roman" panose="02020603050405020304"/>
              </a:rPr>
              <a:t>An Assembler converts an assembly program into machine code.</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600"/>
              </a:spcBef>
              <a:spcAft>
                <a:spcPts val="0"/>
              </a:spcAft>
              <a:buNone/>
            </a:pPr>
            <a:endParaRPr>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5000"/>
              </a:lnSpc>
              <a:spcBef>
                <a:spcPts val="600"/>
              </a:spcBef>
              <a:spcAft>
                <a:spcPts val="0"/>
              </a:spcAft>
              <a:buNone/>
            </a:pPr>
            <a:r>
              <a:rPr lang="en-IN" b="1">
                <a:solidFill>
                  <a:schemeClr val="dk1"/>
                </a:solidFill>
                <a:latin typeface="Calibri" panose="020F0502020204030204"/>
                <a:ea typeface="Calibri" panose="020F0502020204030204"/>
                <a:cs typeface="Calibri" panose="020F0502020204030204"/>
                <a:sym typeface="Calibri" panose="020F0502020204030204"/>
              </a:rPr>
              <a:t>Interpreter: </a:t>
            </a:r>
            <a:r>
              <a:rPr lang="en-IN">
                <a:solidFill>
                  <a:schemeClr val="dk1"/>
                </a:solidFill>
                <a:latin typeface="Calibri" panose="020F0502020204030204"/>
                <a:ea typeface="Calibri" panose="020F0502020204030204"/>
                <a:cs typeface="Calibri" panose="020F0502020204030204"/>
                <a:sym typeface="Calibri" panose="020F0502020204030204"/>
              </a:rPr>
              <a:t>An Interpreter is also a program that translates high-level source code into executable code. However, the difference between a compiler and an interpreter is that an </a:t>
            </a:r>
            <a:r>
              <a:rPr lang="en-IN" b="1">
                <a:solidFill>
                  <a:schemeClr val="dk1"/>
                </a:solidFill>
                <a:latin typeface="Calibri" panose="020F0502020204030204"/>
                <a:ea typeface="Calibri" panose="020F0502020204030204"/>
                <a:cs typeface="Calibri" panose="020F0502020204030204"/>
                <a:sym typeface="Calibri" panose="020F0502020204030204"/>
              </a:rPr>
              <a:t>interpreter translates one line at a time and then executes it</a:t>
            </a:r>
            <a:r>
              <a:rPr lang="en-IN">
                <a:solidFill>
                  <a:schemeClr val="dk1"/>
                </a:solidFill>
                <a:latin typeface="Calibri" panose="020F0502020204030204"/>
                <a:ea typeface="Calibri" panose="020F0502020204030204"/>
                <a:cs typeface="Calibri" panose="020F0502020204030204"/>
                <a:sym typeface="Calibri" panose="020F0502020204030204"/>
              </a:rPr>
              <a:t>, and then the next instruction is translated. This goes on until the end of the program.</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endParaRPr lang="en-IN"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endParaRPr lang="en-IN"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b="1">
                <a:solidFill>
                  <a:schemeClr val="dk1"/>
                </a:solidFill>
                <a:latin typeface="Calibri" panose="020F0502020204030204"/>
                <a:ea typeface="Calibri" panose="020F0502020204030204"/>
                <a:cs typeface="Calibri" panose="020F0502020204030204"/>
                <a:sym typeface="Calibri" panose="020F0502020204030204"/>
              </a:rPr>
              <a:t>Compiler: </a:t>
            </a:r>
            <a:r>
              <a:rPr lang="en-IN">
                <a:solidFill>
                  <a:schemeClr val="dk1"/>
                </a:solidFill>
                <a:latin typeface="Calibri" panose="020F0502020204030204"/>
                <a:ea typeface="Calibri" panose="020F0502020204030204"/>
                <a:cs typeface="Calibri" panose="020F0502020204030204"/>
                <a:sym typeface="Calibri" panose="020F0502020204030204"/>
              </a:rPr>
              <a:t>A Compiler is a program that translates a high-level language into machine code in one go.</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endParaRPr>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51" name="Google Shape;251;p19"/>
          <p:cNvPicPr preferRelativeResize="0"/>
          <p:nvPr/>
        </p:nvPicPr>
        <p:blipFill rotWithShape="1">
          <a:blip r:embed="rId1"/>
          <a:srcRect/>
          <a:stretch>
            <a:fillRect/>
          </a:stretch>
        </p:blipFill>
        <p:spPr>
          <a:xfrm>
            <a:off x="3947160" y="1340485"/>
            <a:ext cx="4298950" cy="556260"/>
          </a:xfrm>
          <a:prstGeom prst="rect">
            <a:avLst/>
          </a:prstGeom>
          <a:noFill/>
          <a:ln>
            <a:noFill/>
          </a:ln>
        </p:spPr>
      </p:pic>
      <p:pic>
        <p:nvPicPr>
          <p:cNvPr id="252" name="Google Shape;252;p19"/>
          <p:cNvPicPr preferRelativeResize="0"/>
          <p:nvPr/>
        </p:nvPicPr>
        <p:blipFill rotWithShape="1">
          <a:blip r:embed="rId2"/>
          <a:srcRect/>
          <a:stretch>
            <a:fillRect/>
          </a:stretch>
        </p:blipFill>
        <p:spPr>
          <a:xfrm>
            <a:off x="4066540" y="3047365"/>
            <a:ext cx="4298950" cy="1013460"/>
          </a:xfrm>
          <a:prstGeom prst="rect">
            <a:avLst/>
          </a:prstGeom>
          <a:noFill/>
          <a:ln>
            <a:noFill/>
          </a:ln>
        </p:spPr>
      </p:pic>
      <p:pic>
        <p:nvPicPr>
          <p:cNvPr id="253" name="Google Shape;253;p19"/>
          <p:cNvPicPr preferRelativeResize="0"/>
          <p:nvPr/>
        </p:nvPicPr>
        <p:blipFill rotWithShape="1">
          <a:blip r:embed="rId3"/>
          <a:srcRect/>
          <a:stretch>
            <a:fillRect/>
          </a:stretch>
        </p:blipFill>
        <p:spPr>
          <a:xfrm>
            <a:off x="4066540" y="4734560"/>
            <a:ext cx="4298950" cy="101727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 name="Google Shape;258;p20"/>
          <p:cNvSpPr txBox="1"/>
          <p:nvPr/>
        </p:nvSpPr>
        <p:spPr>
          <a:xfrm>
            <a:off x="2885496" y="856362"/>
            <a:ext cx="6482999" cy="228282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9" name="Google Shape;259;p20"/>
          <p:cNvSpPr/>
          <p:nvPr/>
        </p:nvSpPr>
        <p:spPr>
          <a:xfrm>
            <a:off x="3237461" y="1108864"/>
            <a:ext cx="6048672"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0" name="Google Shape;260;p20"/>
          <p:cNvSpPr txBox="1"/>
          <p:nvPr/>
        </p:nvSpPr>
        <p:spPr>
          <a:xfrm>
            <a:off x="3278642" y="955265"/>
            <a:ext cx="6048672" cy="915670"/>
          </a:xfrm>
          <a:prstGeom prst="rect">
            <a:avLst/>
          </a:prstGeom>
          <a:noFill/>
          <a:ln>
            <a:noFill/>
          </a:ln>
        </p:spPr>
        <p:txBody>
          <a:bodyPr spcFirstLastPara="1" wrap="square" lIns="68550" tIns="34275" rIns="68550" bIns="34275" anchor="t" anchorCtr="0">
            <a:spAutoFit/>
          </a:bodyPr>
          <a:lstStyle/>
          <a:p>
            <a:pPr marL="0" marR="0" lvl="0" indent="0" algn="ctr" rtl="0">
              <a:lnSpc>
                <a:spcPct val="115000"/>
              </a:lnSpc>
              <a:spcBef>
                <a:spcPts val="0"/>
              </a:spcBef>
              <a:spcAft>
                <a:spcPts val="0"/>
              </a:spcAft>
              <a:buNone/>
            </a:pPr>
            <a:r>
              <a:rPr lang="en-IN" sz="2400" b="1">
                <a:solidFill>
                  <a:schemeClr val="dk1"/>
                </a:solidFill>
                <a:latin typeface="Calibri" panose="020F0502020204030204"/>
                <a:ea typeface="Calibri" panose="020F0502020204030204"/>
                <a:cs typeface="Calibri" panose="020F0502020204030204"/>
                <a:sym typeface="Calibri" panose="020F0502020204030204"/>
              </a:rPr>
              <a:t>Comparison between a Compiler and Interpreter</a:t>
            </a:r>
            <a:endParaRPr lang="en-IN" sz="24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1" name="Google Shape;261;p20"/>
          <p:cNvSpPr txBox="1"/>
          <p:nvPr/>
        </p:nvSpPr>
        <p:spPr>
          <a:xfrm>
            <a:off x="2778760" y="4597400"/>
            <a:ext cx="8413115" cy="1028065"/>
          </a:xfrm>
          <a:prstGeom prst="rect">
            <a:avLst/>
          </a:prstGeom>
          <a:noFill/>
          <a:ln>
            <a:noFill/>
          </a:ln>
        </p:spPr>
        <p:txBody>
          <a:bodyPr spcFirstLastPara="1" wrap="square" lIns="68550" tIns="34275" rIns="68550" bIns="34275" anchor="t" anchorCtr="0">
            <a:noAutofit/>
          </a:bodyPr>
          <a:lstStyle/>
          <a:p>
            <a:pPr marL="0" marR="0" lvl="0" indent="0" algn="just" rtl="0">
              <a:lnSpc>
                <a:spcPct val="115000"/>
              </a:lnSpc>
              <a:spcBef>
                <a:spcPts val="0"/>
              </a:spcBef>
              <a:spcAft>
                <a:spcPts val="0"/>
              </a:spcAft>
              <a:buNone/>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Source Code</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Source code is the code that is </a:t>
            </a: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input to a translator</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600"/>
              </a:spcBef>
              <a:spcAft>
                <a:spcPts val="0"/>
              </a:spcAft>
              <a:buNone/>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Executable Code</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Executable code is the code that is </a:t>
            </a: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output from the translator</a:t>
            </a:r>
            <a:endPar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62" name="Google Shape;262;p20"/>
          <p:cNvPicPr preferRelativeResize="0"/>
          <p:nvPr/>
        </p:nvPicPr>
        <p:blipFill rotWithShape="1">
          <a:blip r:embed="rId1"/>
          <a:srcRect/>
          <a:stretch>
            <a:fillRect/>
          </a:stretch>
        </p:blipFill>
        <p:spPr>
          <a:xfrm>
            <a:off x="2635250" y="1565275"/>
            <a:ext cx="6731000" cy="996315"/>
          </a:xfrm>
          <a:prstGeom prst="rect">
            <a:avLst/>
          </a:prstGeom>
          <a:noFill/>
          <a:ln>
            <a:noFill/>
          </a:ln>
        </p:spPr>
      </p:pic>
      <p:pic>
        <p:nvPicPr>
          <p:cNvPr id="263" name="Google Shape;263;p20"/>
          <p:cNvPicPr preferRelativeResize="0"/>
          <p:nvPr/>
        </p:nvPicPr>
        <p:blipFill rotWithShape="1">
          <a:blip r:embed="rId2"/>
          <a:srcRect/>
          <a:stretch>
            <a:fillRect/>
          </a:stretch>
        </p:blipFill>
        <p:spPr>
          <a:xfrm>
            <a:off x="2619375" y="2524760"/>
            <a:ext cx="6705600" cy="15824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 name="Google Shape;268;p21"/>
          <p:cNvSpPr txBox="1"/>
          <p:nvPr/>
        </p:nvSpPr>
        <p:spPr>
          <a:xfrm>
            <a:off x="2309551" y="906527"/>
            <a:ext cx="6482999" cy="228282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9" name="Google Shape;269;p21"/>
          <p:cNvSpPr/>
          <p:nvPr/>
        </p:nvSpPr>
        <p:spPr>
          <a:xfrm>
            <a:off x="2661516" y="1159029"/>
            <a:ext cx="6048672"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0" name="Google Shape;270;p21"/>
          <p:cNvSpPr txBox="1"/>
          <p:nvPr/>
        </p:nvSpPr>
        <p:spPr>
          <a:xfrm>
            <a:off x="1584325" y="906780"/>
            <a:ext cx="9131300" cy="4545965"/>
          </a:xfrm>
          <a:prstGeom prst="rect">
            <a:avLst/>
          </a:prstGeom>
          <a:noFill/>
          <a:ln>
            <a:noFill/>
          </a:ln>
        </p:spPr>
        <p:txBody>
          <a:bodyPr spcFirstLastPara="1" wrap="square" lIns="68550" tIns="34275" rIns="68550" bIns="34275" anchor="t" anchorCtr="0">
            <a:noAutofit/>
          </a:bodyPr>
          <a:lstStyle/>
          <a:p>
            <a:pPr marL="0" marR="0" lvl="0" indent="0" algn="ctr" rtl="0">
              <a:lnSpc>
                <a:spcPct val="115000"/>
              </a:lnSpc>
              <a:spcBef>
                <a:spcPts val="0"/>
              </a:spcBef>
              <a:spcAft>
                <a:spcPts val="0"/>
              </a:spcAft>
              <a:buNone/>
            </a:pPr>
            <a:r>
              <a:rPr lang="en-IN"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ALGORITHM</a:t>
            </a:r>
            <a:endParaRPr lang="en-IN"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An algorithm is a description of a procedure which terminates with a result. Algorithm is a step-by-step method of solving a problem.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Properties of an Algorithm: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1) </a:t>
            </a: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Finiteness: </a:t>
            </a: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 An algorithm terminates after a finite number of steps.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2) </a:t>
            </a: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Definiteness:</a:t>
            </a: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 - Each step-in algorithm is unambiguous. This means that the action specified by the step cannot be interpreted in multiple ways &amp; can be performed without any confusion.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3) </a:t>
            </a: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Input:</a:t>
            </a: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 - An algorithm accepts zero or more inputs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4) </a:t>
            </a: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Output:</a:t>
            </a: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 An algorithm should produce at least one output.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60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5) </a:t>
            </a: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Effectiveness: </a:t>
            </a: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 It consists of basic instructions that are realizable. This means that the instructions can be performed by using the given inputs in a finite amount of time.</a:t>
            </a:r>
            <a:endPar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84048"/>
            <a:ext cx="502920" cy="502920"/>
          </a:xfrm>
          <a:prstGeom prst="rect">
            <a:avLst/>
          </a:prstGeom>
          <a:noFill/>
        </p:spPr>
        <p:txBody>
          <a:bodyPr wrap="square" lIns="0" tIns="0" rIns="0" bIns="0" rtlCol="0" anchor="ctr"/>
          <a:lstStyle/>
          <a:p>
            <a:pPr marL="0" indent="0" algn="ctr">
              <a:buNone/>
            </a:pPr>
            <a:endParaRPr lang="en-US" sz="2800" dirty="0"/>
          </a:p>
        </p:txBody>
      </p:sp>
      <p:sp>
        <p:nvSpPr>
          <p:cNvPr id="4" name="Text 2"/>
          <p:cNvSpPr/>
          <p:nvPr/>
        </p:nvSpPr>
        <p:spPr>
          <a:xfrm>
            <a:off x="1097280" y="274320"/>
            <a:ext cx="10607040" cy="566928"/>
          </a:xfrm>
          <a:prstGeom prst="rect">
            <a:avLst/>
          </a:prstGeom>
          <a:noFill/>
        </p:spPr>
        <p:txBody>
          <a:bodyPr wrap="square" lIns="0" tIns="0" rIns="0" bIns="0" rtlCol="0" anchor="ctr"/>
          <a:lstStyle/>
          <a:p>
            <a:pPr marL="0" indent="0">
              <a:buNone/>
            </a:pPr>
            <a:r>
              <a:rPr lang="en-US" sz="3600" b="1" dirty="0">
                <a:solidFill>
                  <a:srgbClr val="1E2761"/>
                </a:solidFill>
                <a:latin typeface="Cambria" panose="02040503050406030204" pitchFamily="34" charset="0"/>
                <a:ea typeface="Cambria" panose="02040503050406030204" pitchFamily="34" charset="-122"/>
                <a:cs typeface="Cambria" panose="02040503050406030204" pitchFamily="34" charset="-120"/>
              </a:rPr>
              <a:t>Algorithm</a:t>
            </a:r>
            <a:endParaRPr lang="en-US" sz="3600" b="1" dirty="0">
              <a:solidFill>
                <a:srgbClr val="1E2761"/>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1097280" y="804672"/>
            <a:ext cx="10607040" cy="320040"/>
          </a:xfrm>
          <a:prstGeom prst="rect">
            <a:avLst/>
          </a:prstGeom>
          <a:noFill/>
        </p:spPr>
        <p:txBody>
          <a:bodyPr wrap="square" lIns="0" tIns="0" rIns="0" bIns="0" rtlCol="0" anchor="ctr"/>
          <a:lstStyle/>
          <a:p>
            <a:pPr marL="0" indent="0">
              <a:buNone/>
            </a:pPr>
            <a:r>
              <a:rPr lang="en-US" sz="1600" i="1" dirty="0">
                <a:solidFill>
                  <a:srgbClr val="00A896"/>
                </a:solidFill>
                <a:latin typeface="Calibri" panose="020F0502020204030204" pitchFamily="34" charset="0"/>
                <a:ea typeface="Calibri" panose="020F0502020204030204" pitchFamily="34" charset="-122"/>
                <a:cs typeface="Calibri" panose="020F0502020204030204" pitchFamily="34" charset="-120"/>
              </a:rPr>
              <a:t>A step-by-step plan to solve a problem, written in plain language</a:t>
            </a:r>
            <a:endParaRPr lang="en-US" sz="1600" i="1" dirty="0">
              <a:solidFill>
                <a:srgbClr val="00A896"/>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p:nvPr/>
        </p:nvSpPr>
        <p:spPr>
          <a:xfrm>
            <a:off x="640080" y="1600200"/>
            <a:ext cx="5394960" cy="4389120"/>
          </a:xfrm>
          <a:prstGeom prst="rect">
            <a:avLst/>
          </a:prstGeom>
          <a:noFill/>
        </p:spPr>
        <p:txBody>
          <a:bodyPr wrap="square" lIns="0" tIns="0" rIns="0" bIns="0" rtlCol="0" anchor="t"/>
          <a:lstStyle/>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An Algorithm is a set of clear steps to solve a problem</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Written in simple English (or pseudocode) — NOT in a programming language</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Good Algorithm should be: Clear, have a Finite number of steps, and give the Correct output</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We design the algorithm FIRST, then convert it into C code</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Example task: add two numbers entered by the user</a:t>
            </a:r>
            <a:endPar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6309360" y="1600200"/>
            <a:ext cx="5257800" cy="3657600"/>
          </a:xfrm>
          <a:prstGeom prst="roundRect">
            <a:avLst>
              <a:gd name="adj" fmla="val 2000"/>
            </a:avLst>
          </a:prstGeom>
          <a:solidFill>
            <a:srgbClr val="1B1F2E"/>
          </a:solidFill>
          <a:ln w="12700">
            <a:solidFill>
              <a:srgbClr val="1B1F2E"/>
            </a:solidFill>
            <a:prstDash val="solid"/>
          </a:ln>
          <a:effectLst>
            <a:outerShdw blurRad="101600" dist="38100" dir="5400000" algn="bl" rotWithShape="0">
              <a:srgbClr val="0A0C14">
                <a:alpha val="35000"/>
              </a:srgbClr>
            </a:outerShdw>
          </a:effectLst>
        </p:spPr>
      </p:sp>
      <p:sp>
        <p:nvSpPr>
          <p:cNvPr id="8" name="Shape 6"/>
          <p:cNvSpPr/>
          <p:nvPr/>
        </p:nvSpPr>
        <p:spPr>
          <a:xfrm>
            <a:off x="6473952" y="1728216"/>
            <a:ext cx="100584" cy="100584"/>
          </a:xfrm>
          <a:prstGeom prst="ellipse">
            <a:avLst/>
          </a:prstGeom>
          <a:solidFill>
            <a:srgbClr val="E06C75"/>
          </a:solidFill>
          <a:ln w="12700">
            <a:solidFill>
              <a:srgbClr val="E06C75"/>
            </a:solidFill>
            <a:prstDash val="solid"/>
          </a:ln>
        </p:spPr>
      </p:sp>
      <p:sp>
        <p:nvSpPr>
          <p:cNvPr id="9" name="Shape 7"/>
          <p:cNvSpPr/>
          <p:nvPr/>
        </p:nvSpPr>
        <p:spPr>
          <a:xfrm>
            <a:off x="6675120" y="1728216"/>
            <a:ext cx="100584" cy="100584"/>
          </a:xfrm>
          <a:prstGeom prst="ellipse">
            <a:avLst/>
          </a:prstGeom>
          <a:solidFill>
            <a:srgbClr val="E5C07B"/>
          </a:solidFill>
          <a:ln w="12700">
            <a:solidFill>
              <a:srgbClr val="E5C07B"/>
            </a:solidFill>
            <a:prstDash val="solid"/>
          </a:ln>
        </p:spPr>
      </p:sp>
      <p:sp>
        <p:nvSpPr>
          <p:cNvPr id="10" name="Shape 8"/>
          <p:cNvSpPr/>
          <p:nvPr/>
        </p:nvSpPr>
        <p:spPr>
          <a:xfrm>
            <a:off x="6876288" y="1728216"/>
            <a:ext cx="100584" cy="100584"/>
          </a:xfrm>
          <a:prstGeom prst="ellipse">
            <a:avLst/>
          </a:prstGeom>
          <a:solidFill>
            <a:srgbClr val="98C379"/>
          </a:solidFill>
          <a:ln w="12700">
            <a:solidFill>
              <a:srgbClr val="98C379"/>
            </a:solidFill>
            <a:prstDash val="solid"/>
          </a:ln>
        </p:spPr>
      </p:sp>
      <p:sp>
        <p:nvSpPr>
          <p:cNvPr id="11" name="Text 9"/>
          <p:cNvSpPr/>
          <p:nvPr/>
        </p:nvSpPr>
        <p:spPr>
          <a:xfrm>
            <a:off x="6565392" y="1984248"/>
            <a:ext cx="4745736" cy="3108960"/>
          </a:xfrm>
          <a:prstGeom prst="rect">
            <a:avLst/>
          </a:prstGeom>
          <a:noFill/>
        </p:spPr>
        <p:txBody>
          <a:bodyPr wrap="square" lIns="0" tIns="0" rIns="0" bIns="0" rtlCol="0" anchor="t"/>
          <a:lstStyle/>
          <a:p>
            <a:pPr marL="0" indent="0">
              <a:lnSpc>
                <a:spcPct val="116000"/>
              </a:lnSpc>
              <a:buNone/>
            </a:pPr>
            <a:r>
              <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rPr>
              <a:t>Algorithm: Add Two Numbers</a:t>
            </a:r>
            <a:endParaRPr lang="en-US" dirty="0"/>
          </a:p>
          <a:p>
            <a:pPr marL="0" indent="0">
              <a:lnSpc>
                <a:spcPct val="116000"/>
              </a:lnSpc>
              <a:buNone/>
            </a:pPr>
            <a:endParaRPr lang="en-US" dirty="0"/>
          </a:p>
          <a:p>
            <a:pPr marL="0" indent="0">
              <a:lnSpc>
                <a:spcPct val="116000"/>
              </a:lnSpc>
              <a:buNone/>
            </a:pPr>
            <a:r>
              <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rPr>
              <a:t>Step 1: Start</a:t>
            </a:r>
            <a:endParaRPr lang="en-US" dirty="0"/>
          </a:p>
          <a:p>
            <a:pPr marL="0" indent="0">
              <a:lnSpc>
                <a:spcPct val="116000"/>
              </a:lnSpc>
              <a:buNone/>
            </a:pPr>
            <a:r>
              <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rPr>
              <a:t>Step 2: Read two numbers a and b</a:t>
            </a:r>
            <a:endParaRPr lang="en-US" dirty="0"/>
          </a:p>
          <a:p>
            <a:pPr marL="0" indent="0">
              <a:lnSpc>
                <a:spcPct val="116000"/>
              </a:lnSpc>
              <a:buNone/>
            </a:pPr>
            <a:r>
              <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rPr>
              <a:t>Step 3: Calculate sum = a + b</a:t>
            </a:r>
            <a:endParaRPr lang="en-US" dirty="0"/>
          </a:p>
          <a:p>
            <a:pPr marL="0" indent="0">
              <a:lnSpc>
                <a:spcPct val="116000"/>
              </a:lnSpc>
              <a:buNone/>
            </a:pPr>
            <a:r>
              <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rPr>
              <a:t>Step 4: Print sum</a:t>
            </a:r>
            <a:endParaRPr lang="en-US" dirty="0"/>
          </a:p>
          <a:p>
            <a:pPr marL="0" indent="0">
              <a:lnSpc>
                <a:spcPct val="116000"/>
              </a:lnSpc>
              <a:buNone/>
            </a:pPr>
            <a:r>
              <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rPr>
              <a:t>Step 5: Stop</a:t>
            </a:r>
            <a:endParaRPr lang="en-US" dirty="0">
              <a:solidFill>
                <a:srgbClr val="E8EAF2"/>
              </a:solidFill>
              <a:latin typeface="Courier New" panose="02070309020205020404" pitchFamily="34" charset="0"/>
              <a:ea typeface="Courier New" panose="02070309020205020404" pitchFamily="34" charset="-122"/>
              <a:cs typeface="Courier New" panose="02070309020205020404" pitchFamily="34" charset="-12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 name="Google Shape;275;p22"/>
          <p:cNvSpPr txBox="1"/>
          <p:nvPr/>
        </p:nvSpPr>
        <p:spPr>
          <a:xfrm>
            <a:off x="2472111" y="450597"/>
            <a:ext cx="6482999" cy="228282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 name="Google Shape;276;p22"/>
          <p:cNvSpPr/>
          <p:nvPr/>
        </p:nvSpPr>
        <p:spPr>
          <a:xfrm>
            <a:off x="2824076" y="703099"/>
            <a:ext cx="6048672"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7" name="Google Shape;277;p22"/>
          <p:cNvSpPr txBox="1"/>
          <p:nvPr/>
        </p:nvSpPr>
        <p:spPr>
          <a:xfrm>
            <a:off x="1045845" y="220980"/>
            <a:ext cx="10203180" cy="6416675"/>
          </a:xfrm>
          <a:prstGeom prst="rect">
            <a:avLst/>
          </a:prstGeom>
          <a:noFill/>
          <a:ln>
            <a:noFill/>
          </a:ln>
        </p:spPr>
        <p:txBody>
          <a:bodyPr spcFirstLastPara="1" wrap="square" lIns="68550" tIns="34275" rIns="68550" bIns="34275" anchor="t" anchorCtr="0">
            <a:spAutoFit/>
          </a:bodyPr>
          <a:lstStyle/>
          <a:p>
            <a:pPr marL="0" marR="0" lvl="0" indent="0" algn="ctr" rtl="0">
              <a:lnSpc>
                <a:spcPct val="115000"/>
              </a:lnSpc>
              <a:spcBef>
                <a:spcPts val="0"/>
              </a:spcBef>
              <a:spcAft>
                <a:spcPts val="0"/>
              </a:spcAft>
              <a:buNone/>
            </a:pPr>
            <a:r>
              <a:rPr lang="en-IN" sz="3200" b="1">
                <a:solidFill>
                  <a:srgbClr val="000000"/>
                </a:solidFill>
                <a:latin typeface="Times New Roman" panose="02020603050405020304"/>
                <a:ea typeface="Times New Roman" panose="02020603050405020304"/>
                <a:cs typeface="Times New Roman" panose="02020603050405020304"/>
                <a:sym typeface="Times New Roman" panose="02020603050405020304"/>
              </a:rPr>
              <a:t>Flowcharts</a:t>
            </a:r>
            <a:endParaRPr lang="en-IN" sz="32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None/>
            </a:pPr>
            <a:r>
              <a:rPr lang="en-IN" sz="3200" b="1">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Graphical or symbolic representation of an algorithm is Flow chart.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Diagrammatic representation of the step-by-step solution to a given problem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Advantages of Flowchart:</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 1. Conveys Better meaning: </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Since a flowchart is a pictorial representation of an algorithm, it is easier for a programmer to understand and explain the logic of the program to other programmers.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2. </a:t>
            </a: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Analyses the problem effectively</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Flow chart helps the programmers to analyze the problem in detail by breaking the flow chart into detailed parts.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3. </a:t>
            </a: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Effective Coding</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It is very easy for the programmers to write the program, because flow chart will give a clear idea of the steps involved.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4. </a:t>
            </a: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Systematic Debugging </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It enables easy detection of errors.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Disadvantages:</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1. For a large program flowchart becomes very complex and confusing.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2. Modification of a flowchart is difficult.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3. Excessive use of connectors may confuse programmers. </a:t>
            </a:r>
            <a:endPar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 name="Google Shape;282;p23"/>
          <p:cNvSpPr txBox="1"/>
          <p:nvPr/>
        </p:nvSpPr>
        <p:spPr>
          <a:xfrm>
            <a:off x="1466215" y="756920"/>
            <a:ext cx="8468360" cy="2786380"/>
          </a:xfrm>
          <a:prstGeom prst="rect">
            <a:avLst/>
          </a:prstGeom>
          <a:no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125">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3" name="Google Shape;283;p23"/>
          <p:cNvSpPr/>
          <p:nvPr/>
        </p:nvSpPr>
        <p:spPr>
          <a:xfrm>
            <a:off x="1866265" y="1410970"/>
            <a:ext cx="7900670" cy="653415"/>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84" name="Google Shape;284;p23"/>
          <p:cNvPicPr preferRelativeResize="0"/>
          <p:nvPr/>
        </p:nvPicPr>
        <p:blipFill rotWithShape="1">
          <a:blip r:embed="rId1"/>
          <a:srcRect/>
          <a:stretch>
            <a:fillRect/>
          </a:stretch>
        </p:blipFill>
        <p:spPr>
          <a:xfrm>
            <a:off x="2397760" y="583565"/>
            <a:ext cx="7195820" cy="4243705"/>
          </a:xfrm>
          <a:prstGeom prst="rect">
            <a:avLst/>
          </a:prstGeom>
          <a:noFill/>
          <a:ln>
            <a:noFill/>
          </a:ln>
        </p:spPr>
      </p:pic>
      <p:pic>
        <p:nvPicPr>
          <p:cNvPr id="285" name="Google Shape;285;p23"/>
          <p:cNvPicPr preferRelativeResize="0"/>
          <p:nvPr/>
        </p:nvPicPr>
        <p:blipFill rotWithShape="1">
          <a:blip r:embed="rId2"/>
          <a:srcRect/>
          <a:stretch>
            <a:fillRect/>
          </a:stretch>
        </p:blipFill>
        <p:spPr>
          <a:xfrm>
            <a:off x="2397760" y="4827270"/>
            <a:ext cx="7195820" cy="110426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0" name="Google Shape;290;p24"/>
          <p:cNvSpPr txBox="1"/>
          <p:nvPr/>
        </p:nvSpPr>
        <p:spPr>
          <a:xfrm>
            <a:off x="3037261" y="791592"/>
            <a:ext cx="6482999" cy="252920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1" name="Google Shape;291;p24"/>
          <p:cNvSpPr/>
          <p:nvPr/>
        </p:nvSpPr>
        <p:spPr>
          <a:xfrm>
            <a:off x="3389226" y="1044094"/>
            <a:ext cx="6048672" cy="621030"/>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92" name="Google Shape;292;p24" descr="average_flowchart.png"/>
          <p:cNvPicPr preferRelativeResize="0"/>
          <p:nvPr/>
        </p:nvPicPr>
        <p:blipFill rotWithShape="1">
          <a:blip r:embed="rId1"/>
          <a:srcRect/>
          <a:stretch>
            <a:fillRect/>
          </a:stretch>
        </p:blipFill>
        <p:spPr>
          <a:xfrm>
            <a:off x="4901394" y="1463151"/>
            <a:ext cx="2512929" cy="3623198"/>
          </a:xfrm>
          <a:prstGeom prst="rect">
            <a:avLst/>
          </a:prstGeom>
          <a:noFill/>
          <a:ln>
            <a:noFill/>
          </a:ln>
        </p:spPr>
      </p:pic>
      <p:sp>
        <p:nvSpPr>
          <p:cNvPr id="293" name="Google Shape;293;p24"/>
          <p:cNvSpPr txBox="1"/>
          <p:nvPr/>
        </p:nvSpPr>
        <p:spPr>
          <a:xfrm>
            <a:off x="3430407" y="890495"/>
            <a:ext cx="6048672" cy="561975"/>
          </a:xfrm>
          <a:prstGeom prst="rect">
            <a:avLst/>
          </a:prstGeom>
          <a:noFill/>
          <a:ln>
            <a:noFill/>
          </a:ln>
        </p:spPr>
        <p:txBody>
          <a:bodyPr spcFirstLastPara="1" wrap="square" lIns="68550" tIns="34275" rIns="68550" bIns="34275" anchor="t" anchorCtr="0">
            <a:spAutoFit/>
          </a:bodyPr>
          <a:lstStyle/>
          <a:p>
            <a:pPr marL="0" marR="0" lvl="0" indent="0" algn="ctr" rtl="0">
              <a:lnSpc>
                <a:spcPct val="115000"/>
              </a:lnSpc>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Flowchart for average of three numbers</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8" name="Google Shape;298;p25"/>
          <p:cNvSpPr txBox="1"/>
          <p:nvPr/>
        </p:nvSpPr>
        <p:spPr>
          <a:xfrm>
            <a:off x="2481001" y="1133857"/>
            <a:ext cx="6482999" cy="2262127"/>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125">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7125">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9" name="Google Shape;299;p25"/>
          <p:cNvSpPr/>
          <p:nvPr/>
        </p:nvSpPr>
        <p:spPr>
          <a:xfrm>
            <a:off x="2832966" y="1386359"/>
            <a:ext cx="6048672" cy="530884"/>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0" name="Google Shape;300;p25"/>
          <p:cNvSpPr txBox="1"/>
          <p:nvPr/>
        </p:nvSpPr>
        <p:spPr>
          <a:xfrm>
            <a:off x="2874147" y="1232760"/>
            <a:ext cx="6048672" cy="440860"/>
          </a:xfrm>
          <a:prstGeom prst="rect">
            <a:avLst/>
          </a:prstGeom>
          <a:noFill/>
          <a:ln>
            <a:noFill/>
          </a:ln>
        </p:spPr>
        <p:txBody>
          <a:bodyPr spcFirstLastPara="1" wrap="square" lIns="68550" tIns="34275" rIns="68550" bIns="34275" anchor="t" anchorCtr="0">
            <a:spAutoFit/>
          </a:bodyPr>
          <a:lstStyle/>
          <a:p>
            <a:pPr marL="0" marR="0" lvl="0" indent="0" algn="ctr" rtl="0">
              <a:lnSpc>
                <a:spcPct val="115000"/>
              </a:lnSpc>
              <a:spcBef>
                <a:spcPts val="0"/>
              </a:spcBef>
              <a:spcAft>
                <a:spcPts val="0"/>
              </a:spcAft>
              <a:buNone/>
            </a:pPr>
            <a:r>
              <a:rPr lang="en-IN" sz="2100" b="1">
                <a:solidFill>
                  <a:schemeClr val="dk1"/>
                </a:solidFill>
                <a:latin typeface="Calibri" panose="020F0502020204030204"/>
                <a:ea typeface="Calibri" panose="020F0502020204030204"/>
                <a:cs typeface="Calibri" panose="020F0502020204030204"/>
                <a:sym typeface="Calibri" panose="020F0502020204030204"/>
              </a:rPr>
              <a:t>Flowchart for largest of three numbers</a:t>
            </a:r>
            <a:endParaRPr sz="135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01" name="Google Shape;301;p25"/>
          <p:cNvPicPr preferRelativeResize="0"/>
          <p:nvPr/>
        </p:nvPicPr>
        <p:blipFill rotWithShape="1">
          <a:blip r:embed="rId1"/>
          <a:srcRect/>
          <a:stretch>
            <a:fillRect/>
          </a:stretch>
        </p:blipFill>
        <p:spPr>
          <a:xfrm>
            <a:off x="4078260" y="1805418"/>
            <a:ext cx="3558084" cy="354379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384048"/>
            <a:ext cx="502920" cy="502920"/>
          </a:xfrm>
          <a:prstGeom prst="rect">
            <a:avLst/>
          </a:prstGeom>
          <a:noFill/>
        </p:spPr>
        <p:txBody>
          <a:bodyPr wrap="square" lIns="0" tIns="0" rIns="0" bIns="0" rtlCol="0" anchor="ctr"/>
          <a:lstStyle/>
          <a:p>
            <a:pPr marL="0" indent="0" algn="ctr">
              <a:buNone/>
            </a:pPr>
            <a:endParaRPr lang="en-US" sz="2800" dirty="0"/>
          </a:p>
        </p:txBody>
      </p:sp>
      <p:sp>
        <p:nvSpPr>
          <p:cNvPr id="4" name="Text 2"/>
          <p:cNvSpPr/>
          <p:nvPr/>
        </p:nvSpPr>
        <p:spPr>
          <a:xfrm>
            <a:off x="1097280" y="274320"/>
            <a:ext cx="10607040" cy="566928"/>
          </a:xfrm>
          <a:prstGeom prst="rect">
            <a:avLst/>
          </a:prstGeom>
          <a:noFill/>
        </p:spPr>
        <p:txBody>
          <a:bodyPr wrap="square" lIns="0" tIns="0" rIns="0" bIns="0" rtlCol="0" anchor="ctr"/>
          <a:lstStyle/>
          <a:p>
            <a:pPr marL="0" indent="0">
              <a:buNone/>
            </a:pPr>
            <a:r>
              <a:rPr lang="en-US" sz="3600" b="1" dirty="0">
                <a:solidFill>
                  <a:srgbClr val="1E2761"/>
                </a:solidFill>
                <a:latin typeface="Cambria" panose="02040503050406030204" pitchFamily="34" charset="0"/>
                <a:ea typeface="Cambria" panose="02040503050406030204" pitchFamily="34" charset="-122"/>
                <a:cs typeface="Cambria" panose="02040503050406030204" pitchFamily="34" charset="-120"/>
              </a:rPr>
              <a:t>Flowchart</a:t>
            </a:r>
            <a:endParaRPr lang="en-US" sz="3600" b="1" dirty="0">
              <a:solidFill>
                <a:srgbClr val="1E2761"/>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1097280" y="804672"/>
            <a:ext cx="10607040" cy="320040"/>
          </a:xfrm>
          <a:prstGeom prst="rect">
            <a:avLst/>
          </a:prstGeom>
          <a:noFill/>
        </p:spPr>
        <p:txBody>
          <a:bodyPr wrap="square" lIns="0" tIns="0" rIns="0" bIns="0" rtlCol="0" anchor="ctr"/>
          <a:lstStyle/>
          <a:p>
            <a:pPr marL="0" indent="0">
              <a:buNone/>
            </a:pPr>
            <a:r>
              <a:rPr lang="en-US" sz="1600" i="1" dirty="0">
                <a:solidFill>
                  <a:srgbClr val="00A896"/>
                </a:solidFill>
                <a:latin typeface="Calibri" panose="020F0502020204030204" pitchFamily="34" charset="0"/>
                <a:ea typeface="Calibri" panose="020F0502020204030204" pitchFamily="34" charset="-122"/>
                <a:cs typeface="Calibri" panose="020F0502020204030204" pitchFamily="34" charset="-120"/>
              </a:rPr>
              <a:t>A picture (diagram) that shows the steps of an algorithm using symbols</a:t>
            </a:r>
            <a:endParaRPr lang="en-US" sz="1600" i="1" dirty="0">
              <a:solidFill>
                <a:srgbClr val="00A896"/>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p:nvPr/>
        </p:nvSpPr>
        <p:spPr>
          <a:xfrm>
            <a:off x="640080" y="1600200"/>
            <a:ext cx="5029200" cy="4480560"/>
          </a:xfrm>
          <a:prstGeom prst="rect">
            <a:avLst/>
          </a:prstGeom>
          <a:noFill/>
        </p:spPr>
        <p:txBody>
          <a:bodyPr wrap="square" lIns="0" tIns="0" rIns="0" bIns="0" rtlCol="0" anchor="t"/>
          <a:lstStyle/>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A Flowchart draws the algorithm using easy-to-read symbols and arrows</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Oval — Start / Stop</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Parallelogram — Input / Output</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Rectangle — Process (a calculation or action)</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Diamond — Decision (Yes / No question)</a:t>
            </a:r>
            <a:endParaRPr lang="en-US" sz="1600" dirty="0"/>
          </a:p>
          <a:p>
            <a:pPr marL="228600" indent="-228600">
              <a:spcAft>
                <a:spcPts val="1000"/>
              </a:spcAft>
              <a:buSzPct val="100000"/>
              <a:buChar char="•"/>
            </a:pPr>
            <a:r>
              <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rPr>
              <a:t>Arrows show the ORDER in which steps happen</a:t>
            </a:r>
            <a:endParaRPr lang="en-US" sz="1600" dirty="0">
              <a:solidFill>
                <a:srgbClr val="2A2E3F"/>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7680960" y="1554480"/>
            <a:ext cx="2377440" cy="502920"/>
          </a:xfrm>
          <a:prstGeom prst="ellipse">
            <a:avLst/>
          </a:prstGeom>
          <a:solidFill>
            <a:srgbClr val="1E2761"/>
          </a:solidFill>
          <a:ln w="12700">
            <a:solidFill>
              <a:srgbClr val="1E2761"/>
            </a:solidFill>
            <a:prstDash val="solid"/>
          </a:ln>
        </p:spPr>
      </p:sp>
      <p:sp>
        <p:nvSpPr>
          <p:cNvPr id="8" name="Text 6"/>
          <p:cNvSpPr/>
          <p:nvPr/>
        </p:nvSpPr>
        <p:spPr>
          <a:xfrm>
            <a:off x="7680960" y="1554480"/>
            <a:ext cx="237744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Start</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8869680" y="2057400"/>
            <a:ext cx="0" cy="164592"/>
          </a:xfrm>
          <a:prstGeom prst="line">
            <a:avLst/>
          </a:prstGeom>
          <a:noFill/>
          <a:ln w="25400">
            <a:solidFill>
              <a:srgbClr val="1E2761"/>
            </a:solidFill>
            <a:prstDash val="solid"/>
            <a:tailEnd type="triangle"/>
          </a:ln>
        </p:spPr>
      </p:sp>
      <p:sp>
        <p:nvSpPr>
          <p:cNvPr id="10" name="Shape 8"/>
          <p:cNvSpPr/>
          <p:nvPr/>
        </p:nvSpPr>
        <p:spPr>
          <a:xfrm>
            <a:off x="7680960" y="2221992"/>
            <a:ext cx="2377440" cy="502920"/>
          </a:xfrm>
          <a:prstGeom prst="parallelogram">
            <a:avLst/>
          </a:prstGeom>
          <a:solidFill>
            <a:srgbClr val="00A896"/>
          </a:solidFill>
          <a:ln w="12700">
            <a:solidFill>
              <a:srgbClr val="00A896"/>
            </a:solidFill>
            <a:prstDash val="solid"/>
          </a:ln>
        </p:spPr>
      </p:sp>
      <p:sp>
        <p:nvSpPr>
          <p:cNvPr id="11" name="Text 9"/>
          <p:cNvSpPr/>
          <p:nvPr/>
        </p:nvSpPr>
        <p:spPr>
          <a:xfrm>
            <a:off x="7680960" y="2221992"/>
            <a:ext cx="2377440" cy="502920"/>
          </a:xfrm>
          <a:prstGeom prst="rect">
            <a:avLst/>
          </a:prstGeom>
          <a:noFill/>
        </p:spPr>
        <p:txBody>
          <a:bodyPr wrap="square" lIns="0" tIns="0" rIns="0" bIns="0" rtlCol="0" anchor="ctr"/>
          <a:lstStyle/>
          <a:p>
            <a:pPr marL="0" indent="0" algn="ctr">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Input a, b</a:t>
            </a:r>
            <a:endPar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8869680" y="2724912"/>
            <a:ext cx="0" cy="164592"/>
          </a:xfrm>
          <a:prstGeom prst="line">
            <a:avLst/>
          </a:prstGeom>
          <a:noFill/>
          <a:ln w="25400">
            <a:solidFill>
              <a:srgbClr val="1E2761"/>
            </a:solidFill>
            <a:prstDash val="solid"/>
            <a:tailEnd type="triangle"/>
          </a:ln>
        </p:spPr>
      </p:sp>
      <p:sp>
        <p:nvSpPr>
          <p:cNvPr id="13" name="Shape 11"/>
          <p:cNvSpPr/>
          <p:nvPr/>
        </p:nvSpPr>
        <p:spPr>
          <a:xfrm>
            <a:off x="7680960" y="2889504"/>
            <a:ext cx="2377440" cy="502920"/>
          </a:xfrm>
          <a:prstGeom prst="rect">
            <a:avLst/>
          </a:prstGeom>
          <a:solidFill>
            <a:srgbClr val="F7F8FC"/>
          </a:solidFill>
          <a:ln w="19050">
            <a:solidFill>
              <a:srgbClr val="1E2761"/>
            </a:solidFill>
            <a:prstDash val="solid"/>
          </a:ln>
        </p:spPr>
      </p:sp>
      <p:sp>
        <p:nvSpPr>
          <p:cNvPr id="14" name="Text 12"/>
          <p:cNvSpPr/>
          <p:nvPr/>
        </p:nvSpPr>
        <p:spPr>
          <a:xfrm>
            <a:off x="7680960" y="2889504"/>
            <a:ext cx="2377440" cy="502920"/>
          </a:xfrm>
          <a:prstGeom prst="rect">
            <a:avLst/>
          </a:prstGeom>
          <a:noFill/>
        </p:spPr>
        <p:txBody>
          <a:bodyPr wrap="square" lIns="0" tIns="0" rIns="0" bIns="0" rtlCol="0" anchor="ctr"/>
          <a:lstStyle/>
          <a:p>
            <a:pPr marL="0" indent="0" algn="ctr">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sum = a + b</a:t>
            </a:r>
            <a:endPar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8869680" y="3392424"/>
            <a:ext cx="0" cy="164592"/>
          </a:xfrm>
          <a:prstGeom prst="line">
            <a:avLst/>
          </a:prstGeom>
          <a:noFill/>
          <a:ln w="25400">
            <a:solidFill>
              <a:srgbClr val="1E2761"/>
            </a:solidFill>
            <a:prstDash val="solid"/>
            <a:tailEnd type="triangle"/>
          </a:ln>
        </p:spPr>
      </p:sp>
      <p:sp>
        <p:nvSpPr>
          <p:cNvPr id="16" name="Shape 14"/>
          <p:cNvSpPr/>
          <p:nvPr/>
        </p:nvSpPr>
        <p:spPr>
          <a:xfrm>
            <a:off x="7680960" y="3557016"/>
            <a:ext cx="2377440" cy="502920"/>
          </a:xfrm>
          <a:prstGeom prst="parallelogram">
            <a:avLst/>
          </a:prstGeom>
          <a:solidFill>
            <a:srgbClr val="00A896"/>
          </a:solidFill>
          <a:ln w="12700">
            <a:solidFill>
              <a:srgbClr val="00A896"/>
            </a:solidFill>
            <a:prstDash val="solid"/>
          </a:ln>
        </p:spPr>
      </p:sp>
      <p:sp>
        <p:nvSpPr>
          <p:cNvPr id="17" name="Text 15"/>
          <p:cNvSpPr/>
          <p:nvPr/>
        </p:nvSpPr>
        <p:spPr>
          <a:xfrm>
            <a:off x="7680960" y="3557016"/>
            <a:ext cx="2377440" cy="502920"/>
          </a:xfrm>
          <a:prstGeom prst="rect">
            <a:avLst/>
          </a:prstGeom>
          <a:noFill/>
        </p:spPr>
        <p:txBody>
          <a:bodyPr wrap="square" lIns="0" tIns="0" rIns="0" bIns="0" rtlCol="0" anchor="ctr"/>
          <a:lstStyle/>
          <a:p>
            <a:pPr marL="0" indent="0" algn="ctr">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Output sum</a:t>
            </a:r>
            <a:endPar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8869680" y="4059936"/>
            <a:ext cx="0" cy="164592"/>
          </a:xfrm>
          <a:prstGeom prst="line">
            <a:avLst/>
          </a:prstGeom>
          <a:noFill/>
          <a:ln w="25400">
            <a:solidFill>
              <a:srgbClr val="1E2761"/>
            </a:solidFill>
            <a:prstDash val="solid"/>
            <a:tailEnd type="triangle"/>
          </a:ln>
        </p:spPr>
      </p:sp>
      <p:sp>
        <p:nvSpPr>
          <p:cNvPr id="19" name="Shape 17"/>
          <p:cNvSpPr/>
          <p:nvPr/>
        </p:nvSpPr>
        <p:spPr>
          <a:xfrm>
            <a:off x="7680960" y="4224528"/>
            <a:ext cx="2377440" cy="502920"/>
          </a:xfrm>
          <a:prstGeom prst="ellipse">
            <a:avLst/>
          </a:prstGeom>
          <a:solidFill>
            <a:srgbClr val="1E2761"/>
          </a:solidFill>
          <a:ln w="12700">
            <a:solidFill>
              <a:srgbClr val="1E2761"/>
            </a:solidFill>
            <a:prstDash val="solid"/>
          </a:ln>
        </p:spPr>
      </p:sp>
      <p:sp>
        <p:nvSpPr>
          <p:cNvPr id="20" name="Text 18"/>
          <p:cNvSpPr/>
          <p:nvPr/>
        </p:nvSpPr>
        <p:spPr>
          <a:xfrm>
            <a:off x="7680960" y="4224528"/>
            <a:ext cx="237744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Stop</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6309360" y="5074920"/>
            <a:ext cx="5257800" cy="1234440"/>
          </a:xfrm>
          <a:prstGeom prst="roundRect">
            <a:avLst>
              <a:gd name="adj" fmla="val 5926"/>
            </a:avLst>
          </a:prstGeom>
          <a:solidFill>
            <a:srgbClr val="F7F8FC"/>
          </a:solidFill>
          <a:ln w="12700">
            <a:solidFill>
              <a:srgbClr val="E3E6F0"/>
            </a:solidFill>
            <a:prstDash val="solid"/>
          </a:ln>
        </p:spPr>
      </p:sp>
      <p:sp>
        <p:nvSpPr>
          <p:cNvPr id="22" name="Text 20"/>
          <p:cNvSpPr/>
          <p:nvPr/>
        </p:nvSpPr>
        <p:spPr>
          <a:xfrm>
            <a:off x="6537960" y="5212080"/>
            <a:ext cx="4846320" cy="1005840"/>
          </a:xfrm>
          <a:prstGeom prst="rect">
            <a:avLst/>
          </a:prstGeom>
          <a:noFill/>
        </p:spPr>
        <p:txBody>
          <a:bodyPr wrap="square" lIns="0" tIns="0" rIns="0" bIns="0" rtlCol="0" anchor="t"/>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use a flowchart?  </a:t>
            </a:r>
            <a:r>
              <a:rPr lang="en-US" sz="1600" dirty="0">
                <a:solidFill>
                  <a:srgbClr val="3A3F52"/>
                </a:solidFill>
                <a:latin typeface="Calibri" panose="020F0502020204030204" pitchFamily="34" charset="0"/>
                <a:ea typeface="Calibri" panose="020F0502020204030204" pitchFamily="34" charset="-122"/>
                <a:cs typeface="Calibri" panose="020F0502020204030204" pitchFamily="34" charset="-120"/>
              </a:rPr>
              <a:t>It helps us SEE the logic of a program clearly before writing any code, and makes it easy to spot mistakes.</a:t>
            </a:r>
            <a:endParaRPr lang="en-US" sz="1600" dirty="0">
              <a:solidFill>
                <a:srgbClr val="3A3F52"/>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6" name="Google Shape;306;p26"/>
          <p:cNvSpPr txBox="1"/>
          <p:nvPr/>
        </p:nvSpPr>
        <p:spPr>
          <a:xfrm>
            <a:off x="2300026" y="1232282"/>
            <a:ext cx="6482999" cy="228282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7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7" name="Google Shape;307;p26"/>
          <p:cNvSpPr/>
          <p:nvPr/>
        </p:nvSpPr>
        <p:spPr>
          <a:xfrm>
            <a:off x="2651991" y="1484784"/>
            <a:ext cx="6048672" cy="55943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8" name="Google Shape;308;p26"/>
          <p:cNvSpPr txBox="1"/>
          <p:nvPr/>
        </p:nvSpPr>
        <p:spPr>
          <a:xfrm>
            <a:off x="2693172" y="1331185"/>
            <a:ext cx="6048672" cy="561975"/>
          </a:xfrm>
          <a:prstGeom prst="rect">
            <a:avLst/>
          </a:prstGeom>
          <a:noFill/>
          <a:ln>
            <a:noFill/>
          </a:ln>
        </p:spPr>
        <p:txBody>
          <a:bodyPr spcFirstLastPara="1" wrap="square" lIns="68550" tIns="34275" rIns="68550" bIns="34275" anchor="t" anchorCtr="0">
            <a:spAutoFit/>
          </a:bodyPr>
          <a:lstStyle/>
          <a:p>
            <a:pPr marL="0" marR="0" lvl="0" indent="0" algn="ctr" rtl="0">
              <a:lnSpc>
                <a:spcPct val="115000"/>
              </a:lnSpc>
              <a:spcBef>
                <a:spcPts val="0"/>
              </a:spcBef>
              <a:spcAft>
                <a:spcPts val="0"/>
              </a:spcAft>
              <a:buNone/>
            </a:pPr>
            <a:r>
              <a:rPr lang="en-IN" sz="2800" b="1">
                <a:solidFill>
                  <a:schemeClr val="dk1"/>
                </a:solidFill>
                <a:latin typeface="Calibri" panose="020F0502020204030204"/>
                <a:ea typeface="Calibri" panose="020F0502020204030204"/>
                <a:cs typeface="Calibri" panose="020F0502020204030204"/>
                <a:sym typeface="Calibri" panose="020F0502020204030204"/>
              </a:rPr>
              <a:t>Practice Questions </a:t>
            </a:r>
            <a:endParaRPr lang="en-IN" sz="28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09" name="Google Shape;309;p26"/>
          <p:cNvSpPr txBox="1"/>
          <p:nvPr/>
        </p:nvSpPr>
        <p:spPr>
          <a:xfrm>
            <a:off x="1763395" y="2286000"/>
            <a:ext cx="9019540" cy="2536825"/>
          </a:xfrm>
          <a:prstGeom prst="rect">
            <a:avLst/>
          </a:prstGeom>
          <a:noFill/>
          <a:ln>
            <a:noFill/>
          </a:ln>
        </p:spPr>
        <p:txBody>
          <a:bodyPr spcFirstLastPara="1" wrap="square" lIns="68550" tIns="34275" rIns="68550" bIns="34275" anchor="t" anchorCtr="0">
            <a:noAutofit/>
          </a:bodyPr>
          <a:lstStyle/>
          <a:p>
            <a:pPr marL="342900" marR="0" lvl="0" indent="-342900" algn="l" rtl="0">
              <a:lnSpc>
                <a:spcPct val="115000"/>
              </a:lnSpc>
              <a:spcBef>
                <a:spcPts val="0"/>
              </a:spcBef>
              <a:spcAft>
                <a:spcPts val="0"/>
              </a:spcAft>
              <a:buClr>
                <a:schemeClr val="dk1"/>
              </a:buClr>
              <a:buSzPts val="1700"/>
              <a:buFont typeface="Calibri" panose="020F0502020204030204"/>
              <a:buAutoNum type="arabicPeriod"/>
            </a:pPr>
            <a:r>
              <a:rPr lang="en-IN" sz="2400">
                <a:solidFill>
                  <a:schemeClr val="dk1"/>
                </a:solidFill>
                <a:latin typeface="Calibri" panose="020F0502020204030204"/>
                <a:ea typeface="Calibri" panose="020F0502020204030204"/>
                <a:cs typeface="Calibri" panose="020F0502020204030204"/>
                <a:sym typeface="Calibri" panose="020F0502020204030204"/>
              </a:rPr>
              <a:t>What are the main tasks performed by a computer system?</a:t>
            </a:r>
            <a:endParaRPr lang="en-IN" sz="24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15000"/>
              </a:lnSpc>
              <a:spcBef>
                <a:spcPts val="0"/>
              </a:spcBef>
              <a:spcAft>
                <a:spcPts val="0"/>
              </a:spcAft>
              <a:buClr>
                <a:schemeClr val="dk1"/>
              </a:buClr>
              <a:buSzPts val="1700"/>
              <a:buFont typeface="Calibri" panose="020F0502020204030204"/>
              <a:buAutoNum type="arabicPeriod"/>
            </a:pPr>
            <a:r>
              <a:rPr lang="en-IN" sz="2400">
                <a:solidFill>
                  <a:schemeClr val="dk1"/>
                </a:solidFill>
                <a:latin typeface="Calibri" panose="020F0502020204030204"/>
                <a:ea typeface="Calibri" panose="020F0502020204030204"/>
                <a:cs typeface="Calibri" panose="020F0502020204030204"/>
                <a:sym typeface="Calibri" panose="020F0502020204030204"/>
              </a:rPr>
              <a:t> Explain any five characteristics of computers with examples?</a:t>
            </a:r>
            <a:endParaRPr lang="en-IN" sz="24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15000"/>
              </a:lnSpc>
              <a:spcBef>
                <a:spcPts val="0"/>
              </a:spcBef>
              <a:spcAft>
                <a:spcPts val="0"/>
              </a:spcAft>
              <a:buClr>
                <a:schemeClr val="dk1"/>
              </a:buClr>
              <a:buSzPts val="1700"/>
              <a:buFont typeface="Calibri" panose="020F0502020204030204"/>
              <a:buAutoNum type="arabicPeriod"/>
            </a:pPr>
            <a:r>
              <a:rPr lang="en-IN" sz="2400">
                <a:solidFill>
                  <a:schemeClr val="dk1"/>
                </a:solidFill>
                <a:latin typeface="Calibri" panose="020F0502020204030204"/>
                <a:ea typeface="Calibri" panose="020F0502020204030204"/>
                <a:cs typeface="Calibri" panose="020F0502020204030204"/>
                <a:sym typeface="Calibri" panose="020F0502020204030204"/>
              </a:rPr>
              <a:t> Differentiate between hardware and software?</a:t>
            </a:r>
            <a:endParaRPr lang="en-IN" sz="24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15000"/>
              </a:lnSpc>
              <a:spcBef>
                <a:spcPts val="0"/>
              </a:spcBef>
              <a:spcAft>
                <a:spcPts val="0"/>
              </a:spcAft>
              <a:buClr>
                <a:schemeClr val="dk1"/>
              </a:buClr>
              <a:buSzPts val="1700"/>
              <a:buFont typeface="Calibri" panose="020F0502020204030204"/>
              <a:buAutoNum type="arabicPeriod"/>
            </a:pPr>
            <a:r>
              <a:rPr lang="en-IN" sz="2400">
                <a:solidFill>
                  <a:schemeClr val="dk1"/>
                </a:solidFill>
                <a:latin typeface="Calibri" panose="020F0502020204030204"/>
                <a:ea typeface="Calibri" panose="020F0502020204030204"/>
                <a:cs typeface="Calibri" panose="020F0502020204030204"/>
                <a:sym typeface="Calibri" panose="020F0502020204030204"/>
              </a:rPr>
              <a:t> What is an algorithm? Explain its properties.</a:t>
            </a:r>
            <a:endParaRPr lang="en-IN" sz="24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15000"/>
              </a:lnSpc>
              <a:spcBef>
                <a:spcPts val="0"/>
              </a:spcBef>
              <a:spcAft>
                <a:spcPts val="0"/>
              </a:spcAft>
              <a:buClr>
                <a:schemeClr val="dk1"/>
              </a:buClr>
              <a:buSzPts val="1700"/>
              <a:buFont typeface="Calibri" panose="020F0502020204030204"/>
              <a:buAutoNum type="arabicPeriod"/>
            </a:pPr>
            <a:r>
              <a:rPr lang="en-IN" sz="2400">
                <a:solidFill>
                  <a:schemeClr val="dk1"/>
                </a:solidFill>
                <a:latin typeface="Calibri" panose="020F0502020204030204"/>
                <a:ea typeface="Calibri" panose="020F0502020204030204"/>
                <a:cs typeface="Calibri" panose="020F0502020204030204"/>
                <a:sym typeface="Calibri" panose="020F0502020204030204"/>
              </a:rPr>
              <a:t> What is a flowchart? Write two advantages and two disadvantages.</a:t>
            </a:r>
            <a:r>
              <a:rPr lang="en-IN" sz="2400" b="1">
                <a:solidFill>
                  <a:schemeClr val="dk1"/>
                </a:solidFill>
                <a:latin typeface="Calibri" panose="020F0502020204030204"/>
                <a:ea typeface="Calibri" panose="020F0502020204030204"/>
                <a:cs typeface="Calibri" panose="020F0502020204030204"/>
                <a:sym typeface="Calibri" panose="020F0502020204030204"/>
              </a:rPr>
              <a:t> </a:t>
            </a:r>
            <a:endParaRPr lang="en-IN" sz="2400" b="1">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60525" y="1115695"/>
            <a:ext cx="8832850" cy="4490720"/>
          </a:xfrm>
          <a:prstGeom prst="rect">
            <a:avLst/>
          </a:prstGeom>
          <a:noFill/>
        </p:spPr>
        <p:txBody>
          <a:bodyPr wrap="square" rtlCol="0" anchor="t">
            <a:noAutofit/>
          </a:bodyPr>
          <a:p>
            <a:pPr marL="0" marR="0" lvl="0" indent="0" algn="ctr" rtl="0">
              <a:lnSpc>
                <a:spcPct val="115000"/>
              </a:lnSpc>
              <a:spcBef>
                <a:spcPts val="0"/>
              </a:spcBef>
              <a:spcAft>
                <a:spcPts val="0"/>
              </a:spcAft>
              <a:buNone/>
            </a:pP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 TO C LANGUAGE</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History of C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C is a general-purpose high level language that was originally developed by Dennis Ritchie for the Unix operating system. It was first implemented on the Digital Equipment Corporation PDP-11 computer in 1972.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The Unix operating system and virtually all Unix applications are written in the C language. C has now become a widely used professional language for various reasons.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600"/>
              </a:spcBef>
              <a:spcAft>
                <a:spcPts val="0"/>
              </a:spcAft>
              <a:buClr>
                <a:srgbClr val="000000"/>
              </a:buClr>
              <a:buSzPts val="1800"/>
              <a:buFont typeface="Calibri" panose="020F0502020204030204"/>
              <a:buAutoNum type="arabicPeriod"/>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Easy to learn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0"/>
              </a:spcBef>
              <a:spcAft>
                <a:spcPts val="0"/>
              </a:spcAft>
              <a:buClr>
                <a:srgbClr val="000000"/>
              </a:buClr>
              <a:buSzPts val="1800"/>
              <a:buFont typeface="Calibri" panose="020F0502020204030204"/>
              <a:buAutoNum type="arabicPeriod"/>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Structured language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0"/>
              </a:spcBef>
              <a:spcAft>
                <a:spcPts val="0"/>
              </a:spcAft>
              <a:buClr>
                <a:srgbClr val="000000"/>
              </a:buClr>
              <a:buSzPts val="1800"/>
              <a:buFont typeface="Calibri" panose="020F0502020204030204"/>
              <a:buAutoNum type="arabicPeriod"/>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It produces efficient programs.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0"/>
              </a:spcBef>
              <a:spcAft>
                <a:spcPts val="0"/>
              </a:spcAft>
              <a:buClr>
                <a:srgbClr val="000000"/>
              </a:buClr>
              <a:buSzPts val="1800"/>
              <a:buFont typeface="Calibri" panose="020F0502020204030204"/>
              <a:buAutoNum type="arabicPeriod"/>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It can handle low-level activities.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0"/>
              </a:spcBef>
              <a:spcAft>
                <a:spcPts val="0"/>
              </a:spcAft>
              <a:buClr>
                <a:srgbClr val="000000"/>
              </a:buClr>
              <a:buSzPts val="1800"/>
              <a:buFont typeface="Calibri" panose="020F0502020204030204"/>
              <a:buAutoNum type="arabicPeriod"/>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It can be compiled on a variety of computers. </a:t>
            </a:r>
            <a:endParaRPr lang="en-IN" altLang="en-US">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35075" y="198120"/>
            <a:ext cx="9721850" cy="4984750"/>
          </a:xfrm>
          <a:prstGeom prst="rect">
            <a:avLst/>
          </a:prstGeom>
          <a:noFill/>
        </p:spPr>
        <p:txBody>
          <a:bodyPr wrap="square" rtlCol="0" anchor="t">
            <a:noAutofit/>
          </a:bodyPr>
          <a:p>
            <a:pPr marL="0" marR="0" lvl="0" indent="0" algn="ctr" rtl="0">
              <a:lnSpc>
                <a:spcPct val="115000"/>
              </a:lnSpc>
              <a:spcBef>
                <a:spcPts val="0"/>
              </a:spcBef>
              <a:spcAft>
                <a:spcPts val="0"/>
              </a:spcAft>
              <a:buNone/>
            </a:pP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Facts about C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C was invented to write an operating system called UNIX.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C is a successor of B language which was introduced around 1970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The language was formalized in 1988 by the American National Standard Institute (ANSI).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By 1973 UNIX OS almost totally written in C.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Today C is the most widely used System Programming Language. C is fast, efficient, close to hardware, and portable, making it a preferred choice for performance-critical and system-level applications.</a:t>
            </a:r>
            <a:endParaRPr>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Most of the state of the art software have been implemented using C </a:t>
            </a:r>
            <a:endParaRPr>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15000"/>
              </a:lnSpc>
              <a:spcBef>
                <a:spcPts val="600"/>
              </a:spcBef>
              <a:spcAft>
                <a:spcPts val="0"/>
              </a:spcAft>
              <a:buNone/>
            </a:pPr>
            <a:endParaRPr sz="20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600"/>
              </a:spcBef>
              <a:spcAft>
                <a:spcPts val="0"/>
              </a:spcAft>
              <a:buNone/>
            </a:pPr>
            <a:r>
              <a:rPr lang="en-IN" sz="2000" b="1">
                <a:solidFill>
                  <a:srgbClr val="000000"/>
                </a:solidFill>
                <a:latin typeface="Times New Roman" panose="02020603050405020304"/>
                <a:ea typeface="Times New Roman" panose="02020603050405020304"/>
                <a:cs typeface="Times New Roman" panose="02020603050405020304"/>
                <a:sym typeface="Times New Roman" panose="02020603050405020304"/>
              </a:rPr>
              <a:t>Why to use C?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15000"/>
              </a:lnSpc>
              <a:spcBef>
                <a:spcPts val="600"/>
              </a:spcBef>
              <a:spcAft>
                <a:spcPts val="0"/>
              </a:spcAft>
              <a:buNone/>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C was initially used for system development work, in particular the programs that make-up the operating system. C was adopted as a system development language because it produces code that runs nearly as fast as code written in assembly language. Some examples of the use of C might be: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60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Operating Systems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Language Compilers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Assemblers </a:t>
            </a:r>
            <a:endParaRPr>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rgbClr val="000000"/>
              </a:buClr>
              <a:buSzPts val="1400"/>
              <a:buFont typeface="Arial" panose="020B0604020202020204"/>
              <a:buChar char="•"/>
            </a:pP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Text Editors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spcBef>
                <a:spcPts val="0"/>
              </a:spcBef>
              <a:spcAft>
                <a:spcPts val="0"/>
              </a:spcAft>
              <a:buClr>
                <a:srgbClr val="000000"/>
              </a:buClr>
              <a:buSzPts val="1400"/>
              <a:buFont typeface="Arial" panose="020B0604020202020204"/>
              <a:buChar char="•"/>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Databases</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MySQL, PostgreSQL.</a:t>
            </a:r>
            <a:endParaRPr lang="en-IN" altLang="en-US">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 name="Google Shape;122;p5"/>
          <p:cNvSpPr txBox="1"/>
          <p:nvPr/>
        </p:nvSpPr>
        <p:spPr>
          <a:xfrm>
            <a:off x="1303655" y="1232535"/>
            <a:ext cx="8863330" cy="277558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8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3" name="Google Shape;123;p5"/>
          <p:cNvSpPr/>
          <p:nvPr/>
        </p:nvSpPr>
        <p:spPr>
          <a:xfrm>
            <a:off x="1655445" y="1484630"/>
            <a:ext cx="8268970" cy="68262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5"/>
          <p:cNvSpPr txBox="1"/>
          <p:nvPr/>
        </p:nvSpPr>
        <p:spPr>
          <a:xfrm>
            <a:off x="1479550" y="3826510"/>
            <a:ext cx="8905875" cy="2529205"/>
          </a:xfrm>
          <a:prstGeom prst="rect">
            <a:avLst/>
          </a:prstGeom>
          <a:noFill/>
          <a:ln>
            <a:noFill/>
          </a:ln>
        </p:spPr>
        <p:txBody>
          <a:bodyPr spcFirstLastPara="1" wrap="square" lIns="68550" tIns="34275" rIns="68550" bIns="34275" anchor="t" anchorCtr="0">
            <a:spAutoFit/>
          </a:bodyPr>
          <a:lstStyle/>
          <a:p>
            <a:pPr marL="0" marR="0" lvl="0" indent="0" algn="just" rtl="0">
              <a:spcBef>
                <a:spcPts val="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In 1983, ANSI (American national standard institute) established a committee, whose goal was to produce a machine independent definition of the C language.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spcBef>
                <a:spcPts val="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The committee approved a version of c language known as ANSI C in 1989, then it also approved by ISO the result is C89.</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spcBef>
                <a:spcPts val="0"/>
              </a:spcBef>
              <a:spcAft>
                <a:spcPts val="0"/>
              </a:spcAft>
              <a:buNone/>
            </a:pPr>
            <a:r>
              <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rPr>
              <a:t>In 1999 the standardization committee released a version of C99 by adding some features of C++ / JAVA.</a:t>
            </a:r>
            <a:endParaRPr lang="en-IN" sz="2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25" name="Google Shape;125;p5"/>
          <p:cNvPicPr preferRelativeResize="0"/>
          <p:nvPr/>
        </p:nvPicPr>
        <p:blipFill rotWithShape="1">
          <a:blip r:embed="rId1"/>
          <a:srcRect/>
          <a:stretch>
            <a:fillRect/>
          </a:stretch>
        </p:blipFill>
        <p:spPr>
          <a:xfrm>
            <a:off x="2193290" y="1151890"/>
            <a:ext cx="6618605" cy="236347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683971" cy="292608"/>
          </a:xfrm>
          <a:prstGeom prst="roundRect">
            <a:avLst>
              <a:gd name="adj" fmla="val 50000"/>
            </a:avLst>
          </a:prstGeom>
          <a:solidFill>
            <a:srgbClr val="00C2A8">
              <a:alpha val="88000"/>
            </a:srgbClr>
          </a:solidFill>
        </p:spPr>
      </p:sp>
      <p:sp>
        <p:nvSpPr>
          <p:cNvPr id="3" name="Text 1"/>
          <p:cNvSpPr/>
          <p:nvPr/>
        </p:nvSpPr>
        <p:spPr>
          <a:xfrm>
            <a:off x="548640" y="365760"/>
            <a:ext cx="683971"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BASICS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Overview of C Language</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What is C?</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general-purpose, structured programming language. It is called a "middle-level" language because it can work close to hardware and also write normal applications.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Who made it?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Created by Dennis Ritchie in 1972 at Bell Labs, to build the UNIX operating system.</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Why learn C?</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It is easy to learn, fast, portable, and forms the base for languages like C++, Java, and Python.</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Where is it used?</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Operating systems, compilers, embedded systems, game engines, and device drivers.</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3611880"/>
          </a:xfrm>
          <a:prstGeom prst="roundRect">
            <a:avLst>
              <a:gd name="adj" fmla="val 3038"/>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hello.c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099816"/>
          </a:xfrm>
          <a:prstGeom prst="rect">
            <a:avLst/>
          </a:prstGeom>
          <a:noFill/>
        </p:spPr>
        <p:txBody>
          <a:bodyPr wrap="square" rtlCol="0" anchor="t"/>
          <a:lstStyle/>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Your very first C program</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"Hello, World!"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37667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37667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Hello, World!</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03</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C1D2B"/>
          </a:solidFill>
        </p:spPr>
      </p:sp>
      <p:sp>
        <p:nvSpPr>
          <p:cNvPr id="3" name="Text 1"/>
          <p:cNvSpPr/>
          <p:nvPr/>
        </p:nvSpPr>
        <p:spPr>
          <a:xfrm>
            <a:off x="502920" y="109728"/>
            <a:ext cx="10058400" cy="274320"/>
          </a:xfrm>
          <a:prstGeom prst="rect">
            <a:avLst/>
          </a:prstGeom>
          <a:noFill/>
        </p:spPr>
        <p:txBody>
          <a:bodyPr wrap="square" rtlCol="0" anchor="ctr"/>
          <a:lstStyle/>
          <a:p>
            <a:pPr marL="0" indent="0">
              <a:buNone/>
            </a:pPr>
            <a:r>
              <a:rPr lang="en-US" sz="1600" b="1" kern="0" spc="200" dirty="0">
                <a:solidFill>
                  <a:srgbClr val="F2A541"/>
                </a:solidFill>
                <a:latin typeface="Calibri" panose="020F0502020204030204" pitchFamily="34" charset="0"/>
                <a:ea typeface="Calibri" panose="020F0502020204030204" pitchFamily="34" charset="-122"/>
                <a:cs typeface="Calibri" panose="020F0502020204030204" pitchFamily="34" charset="-120"/>
              </a:rPr>
              <a:t>OVERVIEW OF C</a:t>
            </a:r>
            <a:endParaRPr lang="en-US" sz="1600" b="1" kern="0" spc="200" dirty="0">
              <a:solidFill>
                <a:srgbClr val="F2A541"/>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02920" y="365760"/>
            <a:ext cx="11155680" cy="640080"/>
          </a:xfrm>
          <a:prstGeom prst="rect">
            <a:avLst/>
          </a:prstGeom>
          <a:noFill/>
        </p:spPr>
        <p:txBody>
          <a:bodyPr wrap="square" rtlCol="0" anchor="ctr"/>
          <a:lstStyle/>
          <a:p>
            <a:pPr marL="0" indent="0">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Journey to C: Languages Before C</a:t>
            </a:r>
            <a:endPar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5" name="Table 0"/>
          <p:cNvGraphicFramePr>
            <a:graphicFrameLocks noGrp="1"/>
          </p:cNvGraphicFramePr>
          <p:nvPr>
            <p:custDataLst>
              <p:tags r:id="rId1"/>
            </p:custDataLst>
          </p:nvPr>
        </p:nvGraphicFramePr>
        <p:xfrm>
          <a:off x="502920" y="2107565"/>
          <a:ext cx="11064240" cy="3209925"/>
        </p:xfrm>
        <a:graphic>
          <a:graphicData uri="http://schemas.openxmlformats.org/drawingml/2006/table">
            <a:tbl>
              <a:tblPr/>
              <a:tblGrid>
                <a:gridCol w="1097280"/>
                <a:gridCol w="2194560"/>
                <a:gridCol w="2926080"/>
                <a:gridCol w="4846320"/>
              </a:tblGrid>
              <a:tr h="641985">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Year</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Language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Developed By</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Contribution</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r>
              <a:tr h="6419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1960</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ALGOL 60</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International committee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Introduced structured, block-based programming concepts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r>
              <a:tr h="6419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1966</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BCPL (Basic CPL)</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Martin Richards, Cambridge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Simple, machine-independent systems language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r>
              <a:tr h="6419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1970</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B Language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Ken Thompson, Bell Labs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Simplified BCPL further; used to write early UNIX</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r>
              <a:tr h="6419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1972</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C Language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Dennis Ritchie, Bell Labs (AT&amp;T)</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Added data types &amp; structures to B; became the systems language for UNIX</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r>
            </a:tbl>
          </a:graphicData>
        </a:graphic>
      </p:graphicFrame>
      <p:sp>
        <p:nvSpPr>
          <p:cNvPr id="7" name="Text 4"/>
          <p:cNvSpPr/>
          <p:nvPr/>
        </p:nvSpPr>
        <p:spPr>
          <a:xfrm>
            <a:off x="11612880" y="6537960"/>
            <a:ext cx="457200" cy="274320"/>
          </a:xfrm>
          <a:prstGeom prst="rect">
            <a:avLst/>
          </a:prstGeom>
          <a:noFill/>
        </p:spPr>
        <p:txBody>
          <a:bodyPr wrap="square" rtlCol="0" anchor="ctr"/>
          <a:lstStyle/>
          <a:p>
            <a:pPr marL="0" indent="0" algn="r">
              <a:buNone/>
            </a:pPr>
            <a:r>
              <a:rPr lang="en-US" sz="1600" dirty="0">
                <a:solidFill>
                  <a:srgbClr val="9AA6AA"/>
                </a:solidFill>
                <a:latin typeface="Calibri" panose="020F0502020204030204" pitchFamily="34" charset="0"/>
                <a:ea typeface="Calibri" panose="020F0502020204030204" pitchFamily="34" charset="-122"/>
                <a:cs typeface="Calibri" panose="020F0502020204030204" pitchFamily="34" charset="-120"/>
              </a:rPr>
              <a:t>1</a:t>
            </a:r>
            <a:endParaRPr lang="en-US" sz="1600" dirty="0">
              <a:solidFill>
                <a:srgbClr val="9AA6AA"/>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 name="Google Shape;188;p13"/>
          <p:cNvSpPr txBox="1"/>
          <p:nvPr/>
        </p:nvSpPr>
        <p:spPr>
          <a:xfrm>
            <a:off x="1303655" y="678180"/>
            <a:ext cx="8422005" cy="277558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8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88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8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 name="Google Shape;189;p13"/>
          <p:cNvSpPr/>
          <p:nvPr/>
        </p:nvSpPr>
        <p:spPr>
          <a:xfrm>
            <a:off x="1655445" y="930275"/>
            <a:ext cx="7858125" cy="68262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 name="Google Shape;190;p13"/>
          <p:cNvSpPr txBox="1"/>
          <p:nvPr/>
        </p:nvSpPr>
        <p:spPr>
          <a:xfrm>
            <a:off x="2369185" y="555625"/>
            <a:ext cx="6103620" cy="92900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800" b="1">
                <a:solidFill>
                  <a:schemeClr val="dk1"/>
                </a:solidFill>
                <a:latin typeface="Times New Roman" panose="02020603050405020304"/>
                <a:ea typeface="Times New Roman" panose="02020603050405020304"/>
                <a:cs typeface="Times New Roman" panose="02020603050405020304"/>
                <a:sym typeface="Times New Roman" panose="02020603050405020304"/>
              </a:rPr>
              <a:t>Characteristics/ Features of C Language </a:t>
            </a:r>
            <a:endParaRPr lang="en-IN" sz="2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 name="Google Shape;191;p13"/>
          <p:cNvSpPr txBox="1"/>
          <p:nvPr/>
        </p:nvSpPr>
        <p:spPr>
          <a:xfrm>
            <a:off x="1141730" y="1306830"/>
            <a:ext cx="9909175" cy="3653155"/>
          </a:xfrm>
          <a:prstGeom prst="rect">
            <a:avLst/>
          </a:prstGeom>
          <a:noFill/>
          <a:ln>
            <a:noFill/>
          </a:ln>
        </p:spPr>
        <p:txBody>
          <a:bodyPr spcFirstLastPara="1" wrap="square" lIns="68550" tIns="34275" rIns="68550" bIns="34275" anchor="t" anchorCtr="0">
            <a:noAutofit/>
          </a:bodyPr>
          <a:lstStyle/>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Modularity: </a:t>
            </a:r>
            <a:r>
              <a:rPr lang="en-IN" sz="2000">
                <a:solidFill>
                  <a:schemeClr val="dk1"/>
                </a:solidFill>
                <a:latin typeface="Calibri" panose="020F0502020204030204"/>
                <a:ea typeface="Calibri" panose="020F0502020204030204"/>
                <a:cs typeface="Calibri" panose="020F0502020204030204"/>
                <a:sym typeface="Calibri" panose="020F0502020204030204"/>
              </a:rPr>
              <a:t>Ability to break down large modules into a manageable sub modules.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a:solidFill>
                  <a:schemeClr val="dk1"/>
                </a:solidFill>
                <a:latin typeface="Calibri" panose="020F0502020204030204"/>
                <a:ea typeface="Calibri" panose="020F0502020204030204"/>
                <a:cs typeface="Calibri" panose="020F0502020204030204"/>
                <a:sym typeface="Calibri" panose="020F0502020204030204"/>
              </a:rPr>
              <a:t>Example: calculator can be divided into arithmetic and trigonometric and again that is divided into sub modules.</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Extendibility: </a:t>
            </a:r>
            <a:r>
              <a:rPr lang="en-IN" sz="2000">
                <a:solidFill>
                  <a:schemeClr val="dk1"/>
                </a:solidFill>
                <a:latin typeface="Calibri" panose="020F0502020204030204"/>
                <a:ea typeface="Calibri" panose="020F0502020204030204"/>
                <a:cs typeface="Calibri" panose="020F0502020204030204"/>
                <a:sym typeface="Calibri" panose="020F0502020204030204"/>
              </a:rPr>
              <a:t>Ability to extend an existing software by adding new features is called extendibility. It is a by-product of modularity. </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Portability: </a:t>
            </a:r>
            <a:r>
              <a:rPr lang="en-IN" sz="2000">
                <a:solidFill>
                  <a:schemeClr val="dk1"/>
                </a:solidFill>
                <a:latin typeface="Calibri" panose="020F0502020204030204"/>
                <a:ea typeface="Calibri" panose="020F0502020204030204"/>
                <a:cs typeface="Calibri" panose="020F0502020204030204"/>
                <a:sym typeface="Calibri" panose="020F0502020204030204"/>
              </a:rPr>
              <a:t>Ability to port (install) existing software in different platforms (Unix, dos etc.) is called portability</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Efficiency and speed: </a:t>
            </a:r>
            <a:r>
              <a:rPr lang="en-IN" sz="2000">
                <a:solidFill>
                  <a:schemeClr val="dk1"/>
                </a:solidFill>
                <a:latin typeface="Calibri" panose="020F0502020204030204"/>
                <a:ea typeface="Calibri" panose="020F0502020204030204"/>
                <a:cs typeface="Calibri" panose="020F0502020204030204"/>
                <a:sym typeface="Calibri" panose="020F0502020204030204"/>
              </a:rPr>
              <a:t>C language has rich set of data types and operators making the language more faster and efficient.</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IN" sz="2000" b="1">
                <a:solidFill>
                  <a:schemeClr val="dk1"/>
                </a:solidFill>
                <a:latin typeface="Calibri" panose="020F0502020204030204"/>
                <a:ea typeface="Calibri" panose="020F0502020204030204"/>
                <a:cs typeface="Calibri" panose="020F0502020204030204"/>
                <a:sym typeface="Calibri" panose="020F0502020204030204"/>
              </a:rPr>
              <a:t>Flexibility: </a:t>
            </a:r>
            <a:r>
              <a:rPr lang="en-IN" sz="2000">
                <a:solidFill>
                  <a:schemeClr val="dk1"/>
                </a:solidFill>
                <a:latin typeface="Calibri" panose="020F0502020204030204"/>
                <a:ea typeface="Calibri" panose="020F0502020204030204"/>
                <a:cs typeface="Calibri" panose="020F0502020204030204"/>
                <a:sym typeface="Calibri" panose="020F0502020204030204"/>
              </a:rPr>
              <a:t>C complier has only 32 keywords. With 32 keywords a programmer is able to solve any type of task, due to this reason programmers have the complete control over the language their by gaining the flexibility.</a:t>
            </a:r>
            <a:endParaRPr lang="en-IN" sz="20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C1D2B"/>
          </a:solidFill>
        </p:spPr>
        <p:txBody>
          <a:bodyPr/>
          <a:p>
            <a:endParaRPr lang="en-GB" altLang="en-US" sz="2400"/>
          </a:p>
        </p:txBody>
      </p:sp>
      <p:sp>
        <p:nvSpPr>
          <p:cNvPr id="4" name="Text 2"/>
          <p:cNvSpPr/>
          <p:nvPr/>
        </p:nvSpPr>
        <p:spPr>
          <a:xfrm>
            <a:off x="502920" y="365760"/>
            <a:ext cx="11155680" cy="640080"/>
          </a:xfrm>
          <a:prstGeom prst="rect">
            <a:avLst/>
          </a:prstGeom>
          <a:noFill/>
        </p:spPr>
        <p:txBody>
          <a:bodyPr wrap="square" rtlCol="0" anchor="ctr"/>
          <a:lstStyle/>
          <a:p>
            <a:pPr marL="0" indent="0">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Why C? Features &amp; Applications</a:t>
            </a:r>
            <a:endPar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nvSpPr>
        <p:spPr>
          <a:xfrm>
            <a:off x="548640" y="1828800"/>
            <a:ext cx="5349240" cy="3200400"/>
          </a:xfrm>
          <a:prstGeom prst="roundRect">
            <a:avLst>
              <a:gd name="adj" fmla="val 1714"/>
            </a:avLst>
          </a:prstGeom>
          <a:solidFill>
            <a:srgbClr val="F4F6F5"/>
          </a:solidFill>
          <a:ln w="9525">
            <a:solidFill>
              <a:srgbClr val="D9DFE1"/>
            </a:solidFill>
            <a:prstDash val="solid"/>
          </a:ln>
        </p:spPr>
      </p:sp>
      <p:sp>
        <p:nvSpPr>
          <p:cNvPr id="6" name="Text 4"/>
          <p:cNvSpPr/>
          <p:nvPr/>
        </p:nvSpPr>
        <p:spPr>
          <a:xfrm>
            <a:off x="731520" y="1965960"/>
            <a:ext cx="4983480" cy="274320"/>
          </a:xfrm>
          <a:prstGeom prst="rect">
            <a:avLst/>
          </a:prstGeom>
          <a:noFill/>
        </p:spPr>
        <p:txBody>
          <a:bodyPr wrap="square" rtlCol="0" anchor="ctr"/>
          <a:lstStyle/>
          <a:p>
            <a:pPr marL="0" indent="0">
              <a:buNone/>
            </a:pPr>
            <a:r>
              <a:rPr lang="en-US" sz="2000" b="1" dirty="0">
                <a:solidFill>
                  <a:srgbClr val="1F6F78"/>
                </a:solidFill>
                <a:latin typeface="Calibri" panose="020F0502020204030204" pitchFamily="34" charset="0"/>
                <a:ea typeface="Calibri" panose="020F0502020204030204" pitchFamily="34" charset="-122"/>
                <a:cs typeface="Calibri" panose="020F0502020204030204" pitchFamily="34" charset="-120"/>
              </a:rPr>
              <a:t>KEY FEATURES</a:t>
            </a:r>
            <a:endParaRPr lang="en-US" sz="2000" b="1" dirty="0">
              <a:solidFill>
                <a:srgbClr val="1F6F78"/>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p:nvPr/>
        </p:nvSpPr>
        <p:spPr>
          <a:xfrm>
            <a:off x="731520" y="2331593"/>
            <a:ext cx="4983480" cy="2697480"/>
          </a:xfrm>
          <a:prstGeom prst="rect">
            <a:avLst/>
          </a:prstGeom>
          <a:noFill/>
        </p:spPr>
        <p:txBody>
          <a:bodyPr wrap="square" rtlCol="0" anchor="t"/>
          <a:lstStyle/>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Simple &amp; structured (functions/blocks)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Fast — compiles close to machine code</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Portable — 'write once, compile anywhere'</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Rich set of operators &amp; built-in functions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Supports pointers — direct memory access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Extensible via user-defined functions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Middle-level language — bridges low &amp; high level</a:t>
            </a:r>
            <a:endPar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263640" y="1861185"/>
            <a:ext cx="5349240" cy="3200400"/>
          </a:xfrm>
          <a:prstGeom prst="roundRect">
            <a:avLst>
              <a:gd name="adj" fmla="val 1714"/>
            </a:avLst>
          </a:prstGeom>
          <a:solidFill>
            <a:srgbClr val="F4F6F5"/>
          </a:solidFill>
          <a:ln w="9525">
            <a:solidFill>
              <a:srgbClr val="D9DFE1"/>
            </a:solidFill>
            <a:prstDash val="solid"/>
          </a:ln>
        </p:spPr>
      </p:sp>
      <p:sp>
        <p:nvSpPr>
          <p:cNvPr id="9" name="Text 7"/>
          <p:cNvSpPr/>
          <p:nvPr/>
        </p:nvSpPr>
        <p:spPr>
          <a:xfrm>
            <a:off x="6543040" y="1965960"/>
            <a:ext cx="4983480" cy="274320"/>
          </a:xfrm>
          <a:prstGeom prst="rect">
            <a:avLst/>
          </a:prstGeom>
          <a:noFill/>
        </p:spPr>
        <p:txBody>
          <a:bodyPr wrap="square" rtlCol="0" anchor="ctr"/>
          <a:lstStyle/>
          <a:p>
            <a:pPr marL="0" indent="0">
              <a:buNone/>
            </a:pPr>
            <a:r>
              <a:rPr lang="en-US" sz="2000" b="1" dirty="0">
                <a:solidFill>
                  <a:srgbClr val="E8603C"/>
                </a:solidFill>
                <a:latin typeface="Calibri" panose="020F0502020204030204" pitchFamily="34" charset="0"/>
                <a:ea typeface="Calibri" panose="020F0502020204030204" pitchFamily="34" charset="-122"/>
                <a:cs typeface="Calibri" panose="020F0502020204030204" pitchFamily="34" charset="-120"/>
              </a:rPr>
              <a:t>REAL-WORLD APPLICATIONS</a:t>
            </a:r>
            <a:endParaRPr lang="en-US" sz="2000" b="1" dirty="0">
              <a:solidFill>
                <a:srgbClr val="E8603C"/>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6543040" y="2331593"/>
            <a:ext cx="4983480" cy="2697480"/>
          </a:xfrm>
          <a:prstGeom prst="rect">
            <a:avLst/>
          </a:prstGeom>
          <a:noFill/>
        </p:spPr>
        <p:txBody>
          <a:bodyPr wrap="square" rtlCol="0" anchor="t"/>
          <a:lstStyle/>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Operating systems — UNIX, Linux kernel, parts of Windows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Embedded systems — microwaves, ATMs, routers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Compilers &amp; interpreters for other languages</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Database engines — MySQL core</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Game engines &amp; performance-critical software</a:t>
            </a:r>
            <a:endParaRPr lang="en-US" dirty="0"/>
          </a:p>
          <a:p>
            <a:pPr marL="0" indent="0">
              <a:lnSpc>
                <a:spcPct val="115000"/>
              </a:lnSpc>
              <a:buNone/>
            </a:pPr>
            <a:r>
              <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rPr>
              <a:t>• Foundation language taught before C++, Java, Python</a:t>
            </a:r>
            <a:endParaRPr lang="en-US" dirty="0">
              <a:solidFill>
                <a:srgbClr val="4C5B61"/>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594360" y="4817745"/>
            <a:ext cx="11064240" cy="822960"/>
          </a:xfrm>
          <a:prstGeom prst="rect">
            <a:avLst/>
          </a:prstGeom>
          <a:noFill/>
        </p:spPr>
        <p:txBody>
          <a:bodyPr wrap="square" rtlCol="0" anchor="t"/>
          <a:lstStyle/>
          <a:p>
            <a:pPr indent="0">
              <a:lnSpc>
                <a:spcPct val="115000"/>
              </a:lnSpc>
              <a:spcAft>
                <a:spcPts val="1000"/>
              </a:spcAft>
              <a:buSzPct val="100000"/>
              <a:buNone/>
            </a:pPr>
            <a:endParaRPr lang="en-US" sz="2000" dirty="0"/>
          </a:p>
        </p:txBody>
      </p:sp>
      <p:sp>
        <p:nvSpPr>
          <p:cNvPr id="12" name="Text 10"/>
          <p:cNvSpPr/>
          <p:nvPr/>
        </p:nvSpPr>
        <p:spPr>
          <a:xfrm>
            <a:off x="11612880" y="6537960"/>
            <a:ext cx="457200" cy="274320"/>
          </a:xfrm>
          <a:prstGeom prst="rect">
            <a:avLst/>
          </a:prstGeom>
          <a:noFill/>
        </p:spPr>
        <p:txBody>
          <a:bodyPr wrap="square" rtlCol="0" anchor="ctr"/>
          <a:lstStyle/>
          <a:p>
            <a:pPr marL="0" indent="0" algn="r">
              <a:buNone/>
            </a:pPr>
            <a:r>
              <a:rPr lang="en-US" dirty="0">
                <a:solidFill>
                  <a:srgbClr val="9AA6AA"/>
                </a:solidFill>
                <a:latin typeface="Calibri" panose="020F0502020204030204" pitchFamily="34" charset="0"/>
                <a:ea typeface="Calibri" panose="020F0502020204030204" pitchFamily="34" charset="-122"/>
                <a:cs typeface="Calibri" panose="020F0502020204030204" pitchFamily="34" charset="-120"/>
              </a:rPr>
              <a:t>2</a:t>
            </a:r>
            <a:endParaRPr lang="en-US" dirty="0">
              <a:solidFill>
                <a:srgbClr val="9AA6AA"/>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 name="Google Shape;130;p6"/>
          <p:cNvSpPr txBox="1"/>
          <p:nvPr/>
        </p:nvSpPr>
        <p:spPr>
          <a:xfrm>
            <a:off x="1303655" y="1232535"/>
            <a:ext cx="6902450" cy="3021965"/>
          </a:xfrm>
          <a:prstGeom prst="rect">
            <a:avLst/>
          </a:prstGeom>
          <a:noFill/>
          <a:ln>
            <a:noFill/>
          </a:ln>
        </p:spPr>
        <p:txBody>
          <a:bodyPr spcFirstLastPara="1" wrap="square" lIns="68550" tIns="34275" rIns="68550" bIns="34275" anchor="t" anchorCtr="0">
            <a:spAutoFit/>
          </a:bodyPr>
          <a:lstStyle/>
          <a:p>
            <a:pPr marL="0" marR="0" lvl="0" indent="0" algn="l" rtl="0">
              <a:spcBef>
                <a:spcPts val="0"/>
              </a:spcBef>
              <a:spcAft>
                <a:spcPts val="0"/>
              </a:spcAft>
              <a:buNone/>
            </a:pPr>
            <a:endParaRPr sz="9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96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IN" sz="9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6"/>
          <p:cNvSpPr/>
          <p:nvPr/>
        </p:nvSpPr>
        <p:spPr>
          <a:xfrm>
            <a:off x="1655445" y="1484630"/>
            <a:ext cx="6440170" cy="80581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6"/>
          <p:cNvSpPr txBox="1"/>
          <p:nvPr/>
        </p:nvSpPr>
        <p:spPr>
          <a:xfrm>
            <a:off x="758825" y="1054735"/>
            <a:ext cx="10934065" cy="2205990"/>
          </a:xfrm>
          <a:prstGeom prst="rect">
            <a:avLst/>
          </a:prstGeom>
          <a:noFill/>
          <a:ln>
            <a:noFill/>
          </a:ln>
        </p:spPr>
        <p:txBody>
          <a:bodyPr spcFirstLastPara="1" wrap="square" lIns="68550" tIns="34275" rIns="68550" bIns="34275" anchor="t" anchorCtr="0">
            <a:spAutoFit/>
          </a:bodyPr>
          <a:lstStyle/>
          <a:p>
            <a:pPr marL="214630" marR="0" lvl="0" indent="-214630" algn="just" rtl="0">
              <a:lnSpc>
                <a:spcPct val="115000"/>
              </a:lnSpc>
              <a:spcBef>
                <a:spcPts val="0"/>
              </a:spcBef>
              <a:spcAft>
                <a:spcPts val="0"/>
              </a:spcAft>
              <a:buClr>
                <a:srgbClr val="000000"/>
              </a:buClr>
              <a:buSzPts val="1400"/>
              <a:buFont typeface="Arial" panose="020B0604020202020204"/>
              <a:buChar char="•"/>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Writing and Editing Programs</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Programs are written using a text editor and saved as source files with C code.</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14630" marR="0" lvl="0" indent="-214630" algn="just" rtl="0">
              <a:lnSpc>
                <a:spcPct val="115000"/>
              </a:lnSpc>
              <a:spcBef>
                <a:spcPts val="600"/>
              </a:spcBef>
              <a:spcAft>
                <a:spcPts val="0"/>
              </a:spcAft>
              <a:buClr>
                <a:srgbClr val="000000"/>
              </a:buClr>
              <a:buSzPts val="1400"/>
              <a:buFont typeface="Arial" panose="020B0604020202020204"/>
              <a:buChar char="•"/>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Compiling Programs</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The compiler (preprocessor + translator) converts source code into machine-readable object code.</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600"/>
              </a:spcBef>
              <a:spcAft>
                <a:spcPts val="0"/>
              </a:spcAft>
              <a:buClr>
                <a:srgbClr val="000000"/>
              </a:buClr>
              <a:buSzPts val="1400"/>
              <a:buFont typeface="Arial" panose="020B0604020202020204"/>
              <a:buChar char="•"/>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Linking Programs</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The linker combines user-defined and library functions into a single executable file.</a:t>
            </a: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257175" marR="0" lvl="0" indent="-257175" algn="just" rtl="0">
              <a:lnSpc>
                <a:spcPct val="115000"/>
              </a:lnSpc>
              <a:spcBef>
                <a:spcPts val="600"/>
              </a:spcBef>
              <a:spcAft>
                <a:spcPts val="0"/>
              </a:spcAft>
              <a:buClr>
                <a:srgbClr val="000000"/>
              </a:buClr>
              <a:buSzPts val="1400"/>
              <a:buFont typeface="Arial" panose="020B0604020202020204"/>
              <a:buChar char="•"/>
            </a:pPr>
            <a:r>
              <a:rPr lang="en-IN" b="1">
                <a:solidFill>
                  <a:srgbClr val="000000"/>
                </a:solidFill>
                <a:latin typeface="Times New Roman" panose="02020603050405020304"/>
                <a:ea typeface="Times New Roman" panose="02020603050405020304"/>
                <a:cs typeface="Times New Roman" panose="02020603050405020304"/>
                <a:sym typeface="Times New Roman" panose="02020603050405020304"/>
              </a:rPr>
              <a:t>Executing Programs</a:t>
            </a:r>
            <a:r>
              <a:rPr lang="en-IN">
                <a:solidFill>
                  <a:srgbClr val="000000"/>
                </a:solidFill>
                <a:latin typeface="Times New Roman" panose="02020603050405020304"/>
                <a:ea typeface="Times New Roman" panose="02020603050405020304"/>
                <a:cs typeface="Times New Roman" panose="02020603050405020304"/>
                <a:sym typeface="Times New Roman" panose="02020603050405020304"/>
              </a:rPr>
              <a:t>: The loader loads the executable into memory, and the OS runs the program, handling input, processing, and output</a:t>
            </a:r>
            <a:r>
              <a:rPr lang="en-IN" sz="1600">
                <a:solidFill>
                  <a:schemeClr val="dk1"/>
                </a:solidFill>
                <a:latin typeface="Arial" panose="020B0604020202020204"/>
                <a:ea typeface="Arial" panose="020B0604020202020204"/>
                <a:cs typeface="Arial" panose="020B0604020202020204"/>
                <a:sym typeface="Arial" panose="020B0604020202020204"/>
              </a:rPr>
              <a:t>.</a:t>
            </a:r>
            <a:endParaRPr lang="en-IN"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133" name="Google Shape;133;p6"/>
          <p:cNvSpPr txBox="1"/>
          <p:nvPr/>
        </p:nvSpPr>
        <p:spPr>
          <a:xfrm>
            <a:off x="3937635" y="372110"/>
            <a:ext cx="4723765" cy="805815"/>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IN" sz="2400" b="1">
                <a:solidFill>
                  <a:srgbClr val="000000"/>
                </a:solidFill>
                <a:latin typeface="Times New Roman" panose="02020603050405020304"/>
                <a:ea typeface="Times New Roman" panose="02020603050405020304"/>
                <a:cs typeface="Times New Roman" panose="02020603050405020304"/>
                <a:sym typeface="Times New Roman" panose="02020603050405020304"/>
              </a:rPr>
              <a:t>CREATING AND RUNNING PROGRAMS</a:t>
            </a:r>
            <a:endParaRPr lang="en-IN" sz="2400"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4" name="Google Shape;134;p6"/>
          <p:cNvPicPr preferRelativeResize="0"/>
          <p:nvPr/>
        </p:nvPicPr>
        <p:blipFill rotWithShape="1">
          <a:blip r:embed="rId1"/>
          <a:srcRect/>
          <a:stretch>
            <a:fillRect/>
          </a:stretch>
        </p:blipFill>
        <p:spPr>
          <a:xfrm>
            <a:off x="1163320" y="3195955"/>
            <a:ext cx="5127625" cy="2788920"/>
          </a:xfrm>
          <a:prstGeom prst="rect">
            <a:avLst/>
          </a:prstGeom>
          <a:noFill/>
          <a:ln>
            <a:noFill/>
          </a:ln>
        </p:spPr>
      </p:pic>
      <p:pic>
        <p:nvPicPr>
          <p:cNvPr id="135" name="Google Shape;135;p6"/>
          <p:cNvPicPr preferRelativeResize="0"/>
          <p:nvPr/>
        </p:nvPicPr>
        <p:blipFill rotWithShape="1">
          <a:blip r:embed="rId2"/>
          <a:srcRect/>
          <a:stretch>
            <a:fillRect/>
          </a:stretch>
        </p:blipFill>
        <p:spPr>
          <a:xfrm>
            <a:off x="7065010" y="3194685"/>
            <a:ext cx="3230245" cy="279908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Google Shape;143;p7"/>
          <p:cNvPicPr preferRelativeResize="0"/>
          <p:nvPr/>
        </p:nvPicPr>
        <p:blipFill rotWithShape="1">
          <a:blip r:embed="rId1"/>
          <a:srcRect/>
          <a:stretch>
            <a:fillRect/>
          </a:stretch>
        </p:blipFill>
        <p:spPr>
          <a:xfrm>
            <a:off x="3096260" y="1506220"/>
            <a:ext cx="5768975" cy="4453255"/>
          </a:xfrm>
          <a:prstGeom prst="rect">
            <a:avLst/>
          </a:prstGeom>
          <a:noFill/>
          <a:ln>
            <a:noFill/>
          </a:ln>
        </p:spPr>
      </p:pic>
      <p:sp>
        <p:nvSpPr>
          <p:cNvPr id="17" name="Text Box 16"/>
          <p:cNvSpPr txBox="1"/>
          <p:nvPr/>
        </p:nvSpPr>
        <p:spPr>
          <a:xfrm>
            <a:off x="3307715" y="662940"/>
            <a:ext cx="6096000" cy="321945"/>
          </a:xfrm>
          <a:prstGeom prst="rect">
            <a:avLst/>
          </a:prstGeom>
          <a:noFill/>
        </p:spPr>
        <p:txBody>
          <a:bodyPr wrap="square" rtlCol="0" anchor="t">
            <a:spAutoFit/>
          </a:bodyPr>
          <a:p>
            <a:pPr marL="0" marR="0" lvl="0" indent="0" algn="l" rtl="0">
              <a:spcBef>
                <a:spcPts val="0"/>
              </a:spcBef>
              <a:spcAft>
                <a:spcPts val="0"/>
              </a:spcAft>
              <a:buNone/>
            </a:pPr>
            <a:r>
              <a:rPr lang="en-IN"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PROCESS OF COMPILING AND RUNNING C PROGRAM</a:t>
            </a:r>
            <a:endParaRPr lang="en-IN" alt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89025" cy="292735"/>
          </a:xfrm>
          <a:prstGeom prst="roundRect">
            <a:avLst>
              <a:gd name="adj" fmla="val 50000"/>
            </a:avLst>
          </a:prstGeom>
          <a:solidFill>
            <a:srgbClr val="00C2A8">
              <a:alpha val="88000"/>
            </a:srgbClr>
          </a:solidFill>
        </p:spPr>
      </p:sp>
      <p:sp>
        <p:nvSpPr>
          <p:cNvPr id="3" name="Text 1"/>
          <p:cNvSpPr/>
          <p:nvPr/>
        </p:nvSpPr>
        <p:spPr>
          <a:xfrm>
            <a:off x="548640" y="365760"/>
            <a:ext cx="1089025" cy="292735"/>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STRUCTURE</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Basic Structure of a C Program</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243584"/>
            <a:ext cx="9692640" cy="274320"/>
          </a:xfrm>
          <a:prstGeom prst="rect">
            <a:avLst/>
          </a:prstGeom>
          <a:noFill/>
        </p:spPr>
        <p:txBody>
          <a:bodyPr wrap="square" rtlCol="0" anchor="ctr"/>
          <a:lstStyle/>
          <a:p>
            <a:pPr marL="0" indent="0">
              <a:buNone/>
            </a:pPr>
            <a:r>
              <a:rPr lang="en-US" sz="1400" i="1" dirty="0">
                <a:solidFill>
                  <a:srgbClr val="7C93A8"/>
                </a:solidFill>
                <a:latin typeface="Calibri" panose="020F0502020204030204" pitchFamily="34" charset="0"/>
                <a:ea typeface="Calibri" panose="020F0502020204030204" pitchFamily="34" charset="-122"/>
                <a:cs typeface="Calibri" panose="020F0502020204030204" pitchFamily="34" charset="-120"/>
              </a:rPr>
              <a:t>The skeleton every C program follows, in order</a:t>
            </a:r>
            <a:endParaRPr lang="en-US" sz="1400" i="1"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1691640"/>
            <a:ext cx="5349240" cy="457200"/>
          </a:xfrm>
          <a:prstGeom prst="roundRect">
            <a:avLst>
              <a:gd name="adj" fmla="val 16000"/>
            </a:avLst>
          </a:prstGeom>
          <a:solidFill>
            <a:srgbClr val="F4F7FA"/>
          </a:solidFill>
        </p:spPr>
      </p:sp>
      <p:sp>
        <p:nvSpPr>
          <p:cNvPr id="7" name="Shape 5"/>
          <p:cNvSpPr/>
          <p:nvPr/>
        </p:nvSpPr>
        <p:spPr>
          <a:xfrm>
            <a:off x="658368" y="1783080"/>
            <a:ext cx="274320" cy="274320"/>
          </a:xfrm>
          <a:prstGeom prst="roundRect">
            <a:avLst>
              <a:gd name="adj" fmla="val 23333"/>
            </a:avLst>
          </a:prstGeom>
          <a:solidFill>
            <a:srgbClr val="00C2A8">
              <a:alpha val="90000"/>
            </a:srgbClr>
          </a:solidFill>
        </p:spPr>
      </p:sp>
      <p:sp>
        <p:nvSpPr>
          <p:cNvPr id="8" name="Text 6"/>
          <p:cNvSpPr/>
          <p:nvPr/>
        </p:nvSpPr>
        <p:spPr>
          <a:xfrm>
            <a:off x="658368" y="1783080"/>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1</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1051560" y="1709928"/>
            <a:ext cx="475488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Documentation Section</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1051560" y="1911096"/>
            <a:ext cx="475488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Comments describing the program (optional)</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48640" y="2267712"/>
            <a:ext cx="5349240" cy="457200"/>
          </a:xfrm>
          <a:prstGeom prst="roundRect">
            <a:avLst>
              <a:gd name="adj" fmla="val 16000"/>
            </a:avLst>
          </a:prstGeom>
          <a:solidFill>
            <a:srgbClr val="F4F7FA"/>
          </a:solidFill>
        </p:spPr>
      </p:sp>
      <p:sp>
        <p:nvSpPr>
          <p:cNvPr id="12" name="Shape 10"/>
          <p:cNvSpPr/>
          <p:nvPr/>
        </p:nvSpPr>
        <p:spPr>
          <a:xfrm>
            <a:off x="658368" y="2359152"/>
            <a:ext cx="274320" cy="274320"/>
          </a:xfrm>
          <a:prstGeom prst="roundRect">
            <a:avLst>
              <a:gd name="adj" fmla="val 23333"/>
            </a:avLst>
          </a:prstGeom>
          <a:solidFill>
            <a:srgbClr val="00C2A8">
              <a:alpha val="90000"/>
            </a:srgbClr>
          </a:solidFill>
        </p:spPr>
      </p:sp>
      <p:sp>
        <p:nvSpPr>
          <p:cNvPr id="13" name="Text 11"/>
          <p:cNvSpPr/>
          <p:nvPr/>
        </p:nvSpPr>
        <p:spPr>
          <a:xfrm>
            <a:off x="658368" y="2359152"/>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2</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1051560" y="2286000"/>
            <a:ext cx="475488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Header File Section</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1051560" y="2487168"/>
            <a:ext cx="475488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#include statements — bring in ready-made functions</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48640" y="2843784"/>
            <a:ext cx="5349240" cy="457200"/>
          </a:xfrm>
          <a:prstGeom prst="roundRect">
            <a:avLst>
              <a:gd name="adj" fmla="val 16000"/>
            </a:avLst>
          </a:prstGeom>
          <a:solidFill>
            <a:srgbClr val="F4F7FA"/>
          </a:solidFill>
        </p:spPr>
      </p:sp>
      <p:sp>
        <p:nvSpPr>
          <p:cNvPr id="17" name="Shape 15"/>
          <p:cNvSpPr/>
          <p:nvPr/>
        </p:nvSpPr>
        <p:spPr>
          <a:xfrm>
            <a:off x="658368" y="2935224"/>
            <a:ext cx="274320" cy="274320"/>
          </a:xfrm>
          <a:prstGeom prst="roundRect">
            <a:avLst>
              <a:gd name="adj" fmla="val 23333"/>
            </a:avLst>
          </a:prstGeom>
          <a:solidFill>
            <a:srgbClr val="00C2A8">
              <a:alpha val="90000"/>
            </a:srgbClr>
          </a:solidFill>
        </p:spPr>
      </p:sp>
      <p:sp>
        <p:nvSpPr>
          <p:cNvPr id="18" name="Text 16"/>
          <p:cNvSpPr/>
          <p:nvPr/>
        </p:nvSpPr>
        <p:spPr>
          <a:xfrm>
            <a:off x="658368" y="2935224"/>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3</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1051560" y="2862072"/>
            <a:ext cx="475488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Global Declaration</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1051560" y="3063240"/>
            <a:ext cx="475488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Variables/functions visible to the whole file</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548640" y="3419856"/>
            <a:ext cx="5349240" cy="457200"/>
          </a:xfrm>
          <a:prstGeom prst="roundRect">
            <a:avLst>
              <a:gd name="adj" fmla="val 16000"/>
            </a:avLst>
          </a:prstGeom>
          <a:solidFill>
            <a:srgbClr val="F4F7FA"/>
          </a:solidFill>
        </p:spPr>
      </p:sp>
      <p:sp>
        <p:nvSpPr>
          <p:cNvPr id="22" name="Shape 20"/>
          <p:cNvSpPr/>
          <p:nvPr/>
        </p:nvSpPr>
        <p:spPr>
          <a:xfrm>
            <a:off x="658368" y="3511296"/>
            <a:ext cx="274320" cy="274320"/>
          </a:xfrm>
          <a:prstGeom prst="roundRect">
            <a:avLst>
              <a:gd name="adj" fmla="val 23333"/>
            </a:avLst>
          </a:prstGeom>
          <a:solidFill>
            <a:srgbClr val="00C2A8">
              <a:alpha val="90000"/>
            </a:srgbClr>
          </a:solidFill>
        </p:spPr>
      </p:sp>
      <p:sp>
        <p:nvSpPr>
          <p:cNvPr id="23" name="Text 21"/>
          <p:cNvSpPr/>
          <p:nvPr/>
        </p:nvSpPr>
        <p:spPr>
          <a:xfrm>
            <a:off x="658368" y="3511296"/>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4</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1051560" y="3438144"/>
            <a:ext cx="475488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main() Function</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1051560" y="3639312"/>
            <a:ext cx="475488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Program execution always starts here</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868680" y="3995928"/>
            <a:ext cx="5029200" cy="457200"/>
          </a:xfrm>
          <a:prstGeom prst="roundRect">
            <a:avLst>
              <a:gd name="adj" fmla="val 16000"/>
            </a:avLst>
          </a:prstGeom>
          <a:solidFill>
            <a:srgbClr val="FFFFFF"/>
          </a:solidFill>
          <a:ln w="12700">
            <a:solidFill>
              <a:srgbClr val="00C2A8"/>
            </a:solidFill>
            <a:prstDash val="solid"/>
          </a:ln>
        </p:spPr>
      </p:sp>
      <p:sp>
        <p:nvSpPr>
          <p:cNvPr id="27" name="Shape 25"/>
          <p:cNvSpPr/>
          <p:nvPr/>
        </p:nvSpPr>
        <p:spPr>
          <a:xfrm>
            <a:off x="978408" y="4087368"/>
            <a:ext cx="274320" cy="274320"/>
          </a:xfrm>
          <a:prstGeom prst="roundRect">
            <a:avLst>
              <a:gd name="adj" fmla="val 23333"/>
            </a:avLst>
          </a:prstGeom>
          <a:solidFill>
            <a:srgbClr val="00C2A8">
              <a:alpha val="60000"/>
            </a:srgbClr>
          </a:solidFill>
        </p:spPr>
      </p:sp>
      <p:sp>
        <p:nvSpPr>
          <p:cNvPr id="28" name="Text 26"/>
          <p:cNvSpPr/>
          <p:nvPr/>
        </p:nvSpPr>
        <p:spPr>
          <a:xfrm>
            <a:off x="978408" y="4087368"/>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5</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1371600" y="4014216"/>
            <a:ext cx="443484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 Declaration Part</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1371600" y="4215384"/>
            <a:ext cx="443484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Variables used inside main() are declared</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nvSpPr>
        <p:spPr>
          <a:xfrm>
            <a:off x="868680" y="4572000"/>
            <a:ext cx="5029200" cy="457200"/>
          </a:xfrm>
          <a:prstGeom prst="roundRect">
            <a:avLst>
              <a:gd name="adj" fmla="val 16000"/>
            </a:avLst>
          </a:prstGeom>
          <a:solidFill>
            <a:srgbClr val="FFFFFF"/>
          </a:solidFill>
          <a:ln w="12700">
            <a:solidFill>
              <a:srgbClr val="00C2A8"/>
            </a:solidFill>
            <a:prstDash val="solid"/>
          </a:ln>
        </p:spPr>
      </p:sp>
      <p:sp>
        <p:nvSpPr>
          <p:cNvPr id="32" name="Shape 30"/>
          <p:cNvSpPr/>
          <p:nvPr/>
        </p:nvSpPr>
        <p:spPr>
          <a:xfrm>
            <a:off x="978408" y="4663440"/>
            <a:ext cx="274320" cy="274320"/>
          </a:xfrm>
          <a:prstGeom prst="roundRect">
            <a:avLst>
              <a:gd name="adj" fmla="val 23333"/>
            </a:avLst>
          </a:prstGeom>
          <a:solidFill>
            <a:srgbClr val="00C2A8">
              <a:alpha val="60000"/>
            </a:srgbClr>
          </a:solidFill>
        </p:spPr>
      </p:sp>
      <p:sp>
        <p:nvSpPr>
          <p:cNvPr id="33" name="Text 31"/>
          <p:cNvSpPr/>
          <p:nvPr/>
        </p:nvSpPr>
        <p:spPr>
          <a:xfrm>
            <a:off x="978408" y="4663440"/>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6</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1371600" y="4590288"/>
            <a:ext cx="443484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 Executable Part</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p:nvPr/>
        </p:nvSpPr>
        <p:spPr>
          <a:xfrm>
            <a:off x="1371600" y="4791456"/>
            <a:ext cx="443484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The actual statements that do the work</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Shape 34"/>
          <p:cNvSpPr/>
          <p:nvPr/>
        </p:nvSpPr>
        <p:spPr>
          <a:xfrm>
            <a:off x="548640" y="5148072"/>
            <a:ext cx="5349240" cy="457200"/>
          </a:xfrm>
          <a:prstGeom prst="roundRect">
            <a:avLst>
              <a:gd name="adj" fmla="val 16000"/>
            </a:avLst>
          </a:prstGeom>
          <a:solidFill>
            <a:srgbClr val="F4F7FA"/>
          </a:solidFill>
        </p:spPr>
      </p:sp>
      <p:sp>
        <p:nvSpPr>
          <p:cNvPr id="37" name="Shape 35"/>
          <p:cNvSpPr/>
          <p:nvPr/>
        </p:nvSpPr>
        <p:spPr>
          <a:xfrm>
            <a:off x="658368" y="5239512"/>
            <a:ext cx="274320" cy="274320"/>
          </a:xfrm>
          <a:prstGeom prst="roundRect">
            <a:avLst>
              <a:gd name="adj" fmla="val 23333"/>
            </a:avLst>
          </a:prstGeom>
          <a:solidFill>
            <a:srgbClr val="00C2A8">
              <a:alpha val="90000"/>
            </a:srgbClr>
          </a:solidFill>
        </p:spPr>
      </p:sp>
      <p:sp>
        <p:nvSpPr>
          <p:cNvPr id="38" name="Text 36"/>
          <p:cNvSpPr/>
          <p:nvPr/>
        </p:nvSpPr>
        <p:spPr>
          <a:xfrm>
            <a:off x="658368" y="5239512"/>
            <a:ext cx="274320" cy="274320"/>
          </a:xfrm>
          <a:prstGeom prst="rect">
            <a:avLst/>
          </a:prstGeom>
          <a:noFill/>
        </p:spPr>
        <p:txBody>
          <a:bodyPr wrap="square" rtlCol="0" anchor="ctr"/>
          <a:lstStyle/>
          <a:p>
            <a:pPr marL="0" indent="0" algn="ctr">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7</a:t>
            </a:r>
            <a:endPar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Text 37"/>
          <p:cNvSpPr/>
          <p:nvPr/>
        </p:nvSpPr>
        <p:spPr>
          <a:xfrm>
            <a:off x="1051560" y="5166360"/>
            <a:ext cx="4754880" cy="219456"/>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User-Defined Functions</a:t>
            </a:r>
            <a:endPar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1051560" y="5367528"/>
            <a:ext cx="4754880" cy="219456"/>
          </a:xfrm>
          <a:prstGeom prst="rect">
            <a:avLst/>
          </a:prstGeom>
          <a:noFill/>
        </p:spPr>
        <p:txBody>
          <a:bodyPr wrap="square" rtlCol="0" anchor="ctr"/>
          <a:lstStyle/>
          <a:p>
            <a:pPr marL="0" indent="0">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Extra functions written by the programmer</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Shape 39"/>
          <p:cNvSpPr/>
          <p:nvPr/>
        </p:nvSpPr>
        <p:spPr>
          <a:xfrm>
            <a:off x="6446520" y="1691640"/>
            <a:ext cx="5193792" cy="4480560"/>
          </a:xfrm>
          <a:prstGeom prst="roundRect">
            <a:avLst>
              <a:gd name="adj" fmla="val 2449"/>
            </a:avLst>
          </a:prstGeom>
          <a:solidFill>
            <a:srgbClr val="0B2036"/>
          </a:solidFill>
          <a:effectLst>
            <a:outerShdw blurRad="101600" dist="38100" dir="5400000" algn="bl" rotWithShape="0">
              <a:srgbClr val="0B2036">
                <a:alpha val="35000"/>
              </a:srgbClr>
            </a:outerShdw>
          </a:effectLst>
        </p:spPr>
      </p:sp>
      <p:sp>
        <p:nvSpPr>
          <p:cNvPr id="42" name="Shape 40"/>
          <p:cNvSpPr/>
          <p:nvPr/>
        </p:nvSpPr>
        <p:spPr>
          <a:xfrm>
            <a:off x="6446520" y="1691640"/>
            <a:ext cx="5193792" cy="292608"/>
          </a:xfrm>
          <a:prstGeom prst="roundRect">
            <a:avLst>
              <a:gd name="adj" fmla="val 37500"/>
            </a:avLst>
          </a:prstGeom>
          <a:solidFill>
            <a:srgbClr val="133B5C"/>
          </a:solidFill>
        </p:spPr>
      </p:sp>
      <p:sp>
        <p:nvSpPr>
          <p:cNvPr id="43" name="Shape 41"/>
          <p:cNvSpPr/>
          <p:nvPr/>
        </p:nvSpPr>
        <p:spPr>
          <a:xfrm>
            <a:off x="6583680" y="1792224"/>
            <a:ext cx="82296" cy="82296"/>
          </a:xfrm>
          <a:prstGeom prst="ellipse">
            <a:avLst/>
          </a:prstGeom>
          <a:solidFill>
            <a:srgbClr val="E06C75"/>
          </a:solidFill>
        </p:spPr>
      </p:sp>
      <p:sp>
        <p:nvSpPr>
          <p:cNvPr id="44" name="Shape 42"/>
          <p:cNvSpPr/>
          <p:nvPr/>
        </p:nvSpPr>
        <p:spPr>
          <a:xfrm>
            <a:off x="6748272" y="1792224"/>
            <a:ext cx="82296" cy="82296"/>
          </a:xfrm>
          <a:prstGeom prst="ellipse">
            <a:avLst/>
          </a:prstGeom>
          <a:solidFill>
            <a:srgbClr val="E5C07B"/>
          </a:solidFill>
        </p:spPr>
      </p:sp>
      <p:sp>
        <p:nvSpPr>
          <p:cNvPr id="45" name="Shape 43"/>
          <p:cNvSpPr/>
          <p:nvPr/>
        </p:nvSpPr>
        <p:spPr>
          <a:xfrm>
            <a:off x="6912864" y="1792224"/>
            <a:ext cx="82296" cy="82296"/>
          </a:xfrm>
          <a:prstGeom prst="ellipse">
            <a:avLst/>
          </a:prstGeom>
          <a:solidFill>
            <a:srgbClr val="98C379"/>
          </a:solidFill>
        </p:spPr>
      </p:sp>
      <p:sp>
        <p:nvSpPr>
          <p:cNvPr id="46" name="Text 44"/>
          <p:cNvSpPr/>
          <p:nvPr/>
        </p:nvSpPr>
        <p:spPr>
          <a:xfrm>
            <a:off x="7040880" y="169164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structure.c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47" name="Text 45"/>
          <p:cNvSpPr/>
          <p:nvPr/>
        </p:nvSpPr>
        <p:spPr>
          <a:xfrm>
            <a:off x="6684264" y="2075688"/>
            <a:ext cx="4718304" cy="3968496"/>
          </a:xfrm>
          <a:prstGeom prst="rect">
            <a:avLst/>
          </a:prstGeom>
          <a:noFill/>
        </p:spPr>
        <p:txBody>
          <a:bodyPr wrap="square" rtlCol="0" anchor="t"/>
          <a:lstStyle/>
          <a:p>
            <a:pPr marL="0" indent="0" algn="l">
              <a:lnSpc>
                <a:spcPct val="115000"/>
              </a:lnSpc>
              <a:buNone/>
            </a:pP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1. Documentation section</a:t>
            </a:r>
            <a:endParaRPr lang="en-US" sz="1200" dirty="0"/>
          </a:p>
          <a:p>
            <a:pPr marL="0" indent="0" algn="l">
              <a:lnSpc>
                <a:spcPct val="115000"/>
              </a:lnSpc>
              <a:buNone/>
            </a:pP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   </a:t>
            </a: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2. Header file</a:t>
            </a:r>
            <a:endParaRPr lang="en-US" sz="1200" dirty="0"/>
          </a:p>
          <a:p>
            <a:pPr marL="0" indent="0" algn="l">
              <a:lnSpc>
                <a:spcPct val="115000"/>
              </a:lnSpc>
              <a:buNone/>
            </a:pPr>
            <a:endParaRPr lang="en-US" sz="1200" dirty="0"/>
          </a:p>
          <a:p>
            <a:pPr marL="0" indent="0" algn="l">
              <a:lnSpc>
                <a:spcPct val="115000"/>
              </a:lnSpc>
              <a:buNone/>
            </a:pP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            </a:t>
            </a: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3. Global declaration</a:t>
            </a:r>
            <a:endParaRPr lang="en-US" sz="1200" dirty="0"/>
          </a:p>
          <a:p>
            <a:pPr marL="0" indent="0" algn="l">
              <a:lnSpc>
                <a:spcPct val="115000"/>
              </a:lnSpc>
              <a:buNone/>
            </a:pPr>
            <a:endParaRPr lang="en-US" sz="1200" dirty="0"/>
          </a:p>
          <a:p>
            <a:pPr marL="0" indent="0" algn="l">
              <a:lnSpc>
                <a:spcPct val="115000"/>
              </a:lnSpc>
              <a:buNone/>
            </a:pP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4. main() function</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5;        </a:t>
            </a: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 declaration part</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 = a + 10;   </a:t>
            </a: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 executable part</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gn="l">
              <a:lnSpc>
                <a:spcPct val="115000"/>
              </a:lnSpc>
              <a:buNone/>
            </a:pPr>
            <a:endParaRPr lang="en-US" sz="1200" dirty="0"/>
          </a:p>
          <a:p>
            <a:pPr marL="0" indent="0" algn="l">
              <a:lnSpc>
                <a:spcPct val="115000"/>
              </a:lnSpc>
              <a:buNone/>
            </a:pP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square(</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x) {   </a:t>
            </a:r>
            <a:r>
              <a:rPr lang="en-US" sz="12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5. User-defined func</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x * x;</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48" name="Shape 46"/>
          <p:cNvSpPr/>
          <p:nvPr/>
        </p:nvSpPr>
        <p:spPr>
          <a:xfrm>
            <a:off x="6446520" y="6309360"/>
            <a:ext cx="5193792" cy="420624"/>
          </a:xfrm>
          <a:prstGeom prst="roundRect">
            <a:avLst>
              <a:gd name="adj" fmla="val 17391"/>
            </a:avLst>
          </a:prstGeom>
          <a:solidFill>
            <a:srgbClr val="F4F7FA"/>
          </a:solidFill>
          <a:ln w="12700">
            <a:solidFill>
              <a:srgbClr val="00C2A8"/>
            </a:solidFill>
            <a:prstDash val="solid"/>
          </a:ln>
        </p:spPr>
      </p:sp>
      <p:sp>
        <p:nvSpPr>
          <p:cNvPr id="49" name="Text 47"/>
          <p:cNvSpPr/>
          <p:nvPr/>
        </p:nvSpPr>
        <p:spPr>
          <a:xfrm>
            <a:off x="6583680" y="6309360"/>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0" name="Text 48"/>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04</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40130" cy="292735"/>
          </a:xfrm>
          <a:prstGeom prst="roundRect">
            <a:avLst>
              <a:gd name="adj" fmla="val 50000"/>
            </a:avLst>
          </a:prstGeom>
          <a:solidFill>
            <a:srgbClr val="00C2A8">
              <a:alpha val="88000"/>
            </a:srgbClr>
          </a:solidFill>
        </p:spPr>
      </p:sp>
      <p:sp>
        <p:nvSpPr>
          <p:cNvPr id="3" name="Text 1"/>
          <p:cNvSpPr/>
          <p:nvPr/>
        </p:nvSpPr>
        <p:spPr>
          <a:xfrm>
            <a:off x="548640" y="365760"/>
            <a:ext cx="1194435" cy="292735"/>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STRUCTURE</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Sections of a C Program — Explained</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Documentation section</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Comments (// or /* */). Ignored by the compiler; they only help humans understand the code.</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Header file section</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Files like stdio.h contain ready-made functions. #include copies their declarations into your file before compiling.</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Global declaration</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Variables declared outside every function. They can be used by main() and by any other function.</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main() function</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Every C program MUST have exactly one main(). Execution always begins here, regardless of where other functions are written.</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Declaration + Executable parts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Inside main(), variables are declared first, then statements that use them are written and run in order.</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User-defined functions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Reusable blocks of code written by the programmer, usually placed after main() and called when needed.</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sections.c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square(</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x) {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user-defined</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x * x;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function</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 = 4;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declaration part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ans = square(n);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executable part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"Square = %d"</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ans);</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Square = 16</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05</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TOKENS</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Character Set</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character denotes any alphabet, digit, or special symbol used to form words and expressions.</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Letters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Upper-case A–Z and lower-case a–z.</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Digits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All decimal digits 0–9, used in numbers and constants.</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Special characters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Symbols such as + - * / = ( ) { } , ; used as operators and punctuation.</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White space</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Blanks, tabs and newlines that separate tokens but are otherwise ignored.</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charset.c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char</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letter = </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a letter</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digit = 7;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a digit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char</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symbol = </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special char</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"%c %d %c"</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letter, digit, symbol);</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A 7 +</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06</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TOKENS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Tokens in C</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 smallest individual units of a C program are called tokens.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Six types</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Keywords, Identifiers, Constants, Strings, Operators, Special symbols.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Compiler’s view</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 compiler splits every line into tokens before translating it to machine code.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Example</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 statement on the right breaks down into 7 separate tokens.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Recognising tokens helps you read compiler errors and program structure.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tokens.c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 = a + 5;</a:t>
            </a:r>
            <a:endParaRPr lang="en-US" sz="1600" dirty="0"/>
          </a:p>
          <a:p>
            <a:pPr marL="0" indent="0" algn="l">
              <a:lnSpc>
                <a:spcPct val="115000"/>
              </a:lnSpc>
              <a:buNone/>
            </a:pP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int      -&gt; keyword</a:t>
            </a: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total    -&gt; identifier</a:t>
            </a: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        -&gt; operator</a:t>
            </a: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a        -&gt; identifier</a:t>
            </a: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        -&gt; operator</a:t>
            </a: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5        -&gt; constant</a:t>
            </a:r>
            <a:endParaRPr lang="en-US" sz="1600" dirty="0"/>
          </a:p>
          <a:p>
            <a:pPr marL="0" indent="0" algn="l">
              <a:lnSpc>
                <a:spcPct val="115000"/>
              </a:lnSpc>
              <a:buNone/>
            </a:pP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        -&gt; special symbol</a:t>
            </a:r>
            <a:endPar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7 tokens found in this line</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07</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TOKENS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Identifiers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User-defined names given to variables, functions, and arrays.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First character</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Must start with a letter (a-z, A-Z) or an underscore.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Rest of the name</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Only letters, digits, and underscores are allowed after that.</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Case sensitive</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age and Age are two different identifiers in C.</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Restriction</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keyword cannot be used as an identifier; only the first 31 characters are checked.</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identifiers.c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 19;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valid</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float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_price = 9.5;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valid</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 20;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different from age</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 %.1f"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_price);</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19 9.5</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08</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TOKENS</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Keywords</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Reserved words that already have a fixed meaning built into the compiler.</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Rule</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Always written in lowercase; cannot be redefined or used as identifiers.</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Count</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C has exactly 32 keywords — the whole language is built from just these.</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Building blocks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They form the basic vocabulary for every statement you write.</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Examples</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int, if, for, while, return, void, and 26 others.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keywords.c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auto       break      case       char</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const      continue   default    do</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double     else       enum       extern</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float      for        goto       if</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        long       register   return</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short      signed     sizeof     static</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struct     switch     typedef    union</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unsigned   void       volatile   while</a:t>
            </a:r>
            <a:endPar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32 reserved words</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09</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DATA CONCEPTS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Constants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constant is a fixed value that does NOT change while the program runs.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Integer constant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Whole numbers, e.g. 10, -5, 2000.</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Real constant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Numbers with a decimal point, e.g. 3.14, -0.5.</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Character constant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single character in single quotes, e.g. 'A'.</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String constant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Text in double quotes, e.g. "Hello".</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p>
            <a:pPr marL="0" lvl="1" indent="0">
              <a:spcAft>
                <a:spcPts val="800"/>
              </a:spcAft>
              <a:buNone/>
            </a:pPr>
            <a:r>
              <a:rPr lang="en-US" sz="1600" b="1" dirty="0">
                <a:solidFill>
                  <a:srgbClr val="1B1B1F"/>
                </a:solidFill>
                <a:latin typeface="Calibri" panose="020F0502020204030204" pitchFamily="34" charset="0"/>
                <a:ea typeface="Calibri" panose="020F0502020204030204" pitchFamily="34" charset="-122"/>
                <a:cs typeface="Calibri" panose="020F0502020204030204" pitchFamily="34" charset="-120"/>
                <a:sym typeface="+mn-ea"/>
              </a:rPr>
              <a:t>Backslash / Escape Constant</a:t>
            </a:r>
            <a:endParaRPr lang="en-US" sz="1600" b="1" dirty="0">
              <a:solidFill>
                <a:srgbClr val="1B1B1F"/>
              </a:solidFill>
              <a:latin typeface="Calibri" panose="020F0502020204030204" pitchFamily="34" charset="0"/>
              <a:ea typeface="Calibri" panose="020F0502020204030204" pitchFamily="34" charset="-122"/>
              <a:cs typeface="Calibri" panose="020F0502020204030204" pitchFamily="34" charset="-120"/>
              <a:sym typeface="+mn-ea"/>
            </a:endParaRPr>
          </a:p>
          <a:p>
            <a:pPr marL="0" lvl="1" indent="0">
              <a:spcAft>
                <a:spcPts val="800"/>
              </a:spcAft>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sym typeface="+mn-ea"/>
              </a:rPr>
              <a:t>Special non-printable characters using backslash</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sym typeface="+mn-ea"/>
            </a:endParaRPr>
          </a:p>
          <a:p>
            <a:pPr marL="0" lvl="1" indent="0">
              <a:spcAft>
                <a:spcPts val="800"/>
              </a:spcAft>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sym typeface="+mn-ea"/>
              </a:rPr>
              <a:t>Example : '\n' newline, '\t' tab, '\0' null</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0" lvl="1" indent="0">
              <a:spcAft>
                <a:spcPts val="800"/>
              </a:spcAft>
              <a:buNone/>
            </a:pPr>
            <a:endParaRPr lang="en-US" sz="1600" b="1"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p>
            <a:pPr marL="0" lvl="1" indent="0">
              <a:spcAft>
                <a:spcPts val="800"/>
              </a:spcAft>
              <a:buNone/>
            </a:pPr>
            <a:endParaRPr lang="en-US" sz="1600" b="1"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constants.c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#define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PI 3.14159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symbolic constant</a:t>
            </a:r>
            <a:endParaRPr lang="en-US" sz="1600" dirty="0"/>
          </a:p>
          <a:p>
            <a:pPr marL="0" indent="0" algn="l">
              <a:lnSpc>
                <a:spcPct val="115000"/>
              </a:lnSpc>
              <a:buNone/>
            </a:pP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const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MAX = 100;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const keyword</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char</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grade = </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"PI = %f\n"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PI);</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"MAX = %d\n"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MAX);</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"Grade = %c"</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grade);</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PI = 3.14159, MAX = 100, Grade = A</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10</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DATA CONCEPTS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Variables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variable is a named memory location whose value CAN change during execution.</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Naming rules</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Start with a letter or underscore, only letters/digits/underscore, no spaces, and not a keyword like int or for.</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Declaration</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You must state the data type before using a variable, e.g. int age;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Assignment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Use = to store a value in a variable, e.g. age = 19;</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343400"/>
          </a:xfrm>
          <a:prstGeom prst="roundRect">
            <a:avLst>
              <a:gd name="adj" fmla="val 2526"/>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variables.c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83133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 19;</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float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height = 5.8;</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char</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initial = </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'R'</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 age + 1;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value changes</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"Age: %d\n"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"Height: %.1f"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height);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610819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610819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Age: 20, Height: 5.8</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11</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6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DATA CONCEPTS</a:t>
            </a:r>
            <a:endParaRPr lang="en-US" sz="16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600" b="1" dirty="0">
                <a:solidFill>
                  <a:srgbClr val="0B2545"/>
                </a:solidFill>
                <a:latin typeface="Cambria" panose="02040503050406030204" pitchFamily="34" charset="0"/>
                <a:ea typeface="Cambria" panose="02040503050406030204" pitchFamily="34" charset="-122"/>
                <a:cs typeface="Cambria" panose="02040503050406030204" pitchFamily="34" charset="-120"/>
              </a:rPr>
              <a:t>Expressions</a:t>
            </a:r>
            <a:endParaRPr lang="en-US" sz="36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dirty="0"/>
          </a:p>
          <a:p>
            <a:pPr marL="0" lvl="1" indent="0">
              <a:spcAft>
                <a:spcPts val="8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A combination of variables, constants, and operators that computes a single value.</a:t>
            </a:r>
            <a:endParaRPr lang="en-US" dirty="0"/>
          </a:p>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Arithmetic expression</a:t>
            </a:r>
            <a:endParaRPr lang="en-US" dirty="0"/>
          </a:p>
          <a:p>
            <a:pPr marL="0" lvl="1" indent="0">
              <a:spcAft>
                <a:spcPts val="8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a + b * c  → uses +, -, *, / to calculate a number.</a:t>
            </a:r>
            <a:endParaRPr lang="en-US" dirty="0"/>
          </a:p>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Relational expression</a:t>
            </a:r>
            <a:endParaRPr lang="en-US" dirty="0"/>
          </a:p>
          <a:p>
            <a:pPr marL="0" lvl="1" indent="0">
              <a:spcAft>
                <a:spcPts val="8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a &gt; b  → gives a true (1) or false (0) result.</a:t>
            </a:r>
            <a:endParaRPr lang="en-US" dirty="0"/>
          </a:p>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Logical expression</a:t>
            </a:r>
            <a:endParaRPr lang="en-US" dirty="0"/>
          </a:p>
          <a:p>
            <a:pPr marL="0" lvl="1" indent="0">
              <a:spcAft>
                <a:spcPts val="8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(a &gt; 0) &amp;&amp; (b &gt; 0)  → combines conditions into one true/false result.</a:t>
            </a:r>
            <a:endParaRPr lang="en-US" dirty="0"/>
          </a:p>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How it is evaluated</a:t>
            </a:r>
            <a:endParaRPr lang="en-US" dirty="0"/>
          </a:p>
          <a:p>
            <a:pPr marL="0" lvl="1" indent="0">
              <a:spcAft>
                <a:spcPts val="8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C follows operator precedence rules, similar to normal maths (BODMAS) — covered in detail later.</a:t>
            </a:r>
            <a:endPar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343400"/>
          </a:xfrm>
          <a:prstGeom prst="roundRect">
            <a:avLst>
              <a:gd name="adj" fmla="val 2526"/>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6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expression.c</a:t>
            </a:r>
            <a:endParaRPr lang="en-US" sz="16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831336"/>
          </a:xfrm>
          <a:prstGeom prst="rect">
            <a:avLst/>
          </a:prstGeom>
          <a:noFill/>
        </p:spPr>
        <p:txBody>
          <a:bodyPr wrap="square" rtlCol="0" anchor="t"/>
          <a:lstStyle/>
          <a:p>
            <a:pPr marL="0" indent="0" algn="l">
              <a:lnSpc>
                <a:spcPct val="115000"/>
              </a:lnSpc>
              <a:buNone/>
            </a:pP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dirty="0"/>
          </a:p>
          <a:p>
            <a:pPr marL="0" indent="0" algn="l">
              <a:lnSpc>
                <a:spcPct val="115000"/>
              </a:lnSpc>
              <a:buNone/>
            </a:pPr>
            <a:endParaRPr lang="en-US" dirty="0"/>
          </a:p>
          <a:p>
            <a:pPr marL="0" indent="0" algn="l">
              <a:lnSpc>
                <a:spcPct val="115000"/>
              </a:lnSpc>
              <a:buNone/>
            </a:pP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10, b = 4, c = 2;</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result = a + b * c;</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b*c is done first = 8</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then a+8 = 18</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"Result = %d"</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result);</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610819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6108192"/>
            <a:ext cx="4919472" cy="420624"/>
          </a:xfrm>
          <a:prstGeom prst="rect">
            <a:avLst/>
          </a:prstGeom>
          <a:noFill/>
        </p:spPr>
        <p:txBody>
          <a:bodyPr wrap="square" rtlCol="0" anchor="ctr"/>
          <a:lstStyle/>
          <a:p>
            <a:pPr marL="0" indent="0">
              <a:buNone/>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Result = 18</a:t>
            </a:r>
            <a:endParaRPr lang="en-US"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600" dirty="0">
                <a:solidFill>
                  <a:srgbClr val="7C93A8"/>
                </a:solidFill>
                <a:latin typeface="Calibri" panose="020F0502020204030204" pitchFamily="34" charset="0"/>
                <a:ea typeface="Calibri" panose="020F0502020204030204" pitchFamily="34" charset="-122"/>
                <a:cs typeface="Calibri" panose="020F0502020204030204" pitchFamily="34" charset="-120"/>
              </a:rPr>
              <a:t>12</a:t>
            </a:r>
            <a:endParaRPr lang="en-US" sz="16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DATA CONCEPTS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Errors in C</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Syntax error</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Breaks the grammar rules of C, e.g. a missing semicolon. Caught by the compiler before the program runs.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Logical error</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 program runs and compiles, but gives the wrong answer, e.g. using * instead of +.</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Runtime error</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Happens while the program is running, e.g. dividing a number by zero.</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Tip</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Always read compiler error messages carefully — they show the exact line number to check.</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errors.c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"Hi"</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&lt;- Syntax error:</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missing semicolon</a:t>
            </a:r>
            <a:endParaRPr lang="en-US" sz="1400" dirty="0"/>
          </a:p>
          <a:p>
            <a:pPr marL="0" indent="0" algn="l">
              <a:lnSpc>
                <a:spcPct val="115000"/>
              </a:lnSpc>
              <a:buNone/>
            </a:pP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5, b = 2;</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wrong = a * b;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Logical error</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(should be a + b)</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Compiler: error: expected ';'</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13</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1955"/>
            <a:ext cx="1029970" cy="292735"/>
          </a:xfrm>
          <a:prstGeom prst="roundRect">
            <a:avLst>
              <a:gd name="adj" fmla="val 50000"/>
            </a:avLst>
          </a:prstGeom>
          <a:solidFill>
            <a:srgbClr val="00C2A8">
              <a:alpha val="88000"/>
            </a:srgbClr>
          </a:solidFill>
        </p:spPr>
      </p:sp>
      <p:sp>
        <p:nvSpPr>
          <p:cNvPr id="3" name="Text 1"/>
          <p:cNvSpPr/>
          <p:nvPr/>
        </p:nvSpPr>
        <p:spPr>
          <a:xfrm>
            <a:off x="548640" y="365760"/>
            <a:ext cx="1078865" cy="292735"/>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OPERATORS</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Operators — Overview</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41732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400" dirty="0"/>
          </a:p>
          <a:p>
            <a:pPr marL="0" lvl="1" indent="0">
              <a:spcAft>
                <a:spcPts val="6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Symbols that tell the compiler to perform a specific operation on one or more operands.</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Coming up next</a:t>
            </a:r>
            <a:endParaRPr lang="en-US" sz="1400" dirty="0"/>
          </a:p>
          <a:p>
            <a:pPr marL="0" lvl="1" indent="0">
              <a:spcAft>
                <a:spcPts val="6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The following slides explain each category below in full detail, one at a time.</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1" name="Table 0"/>
          <p:cNvGraphicFramePr>
            <a:graphicFrameLocks noGrp="1"/>
          </p:cNvGraphicFramePr>
          <p:nvPr/>
        </p:nvGraphicFramePr>
        <p:xfrm>
          <a:off x="548640" y="3154680"/>
          <a:ext cx="5623560" cy="1828800"/>
        </p:xfrm>
        <a:graphic>
          <a:graphicData uri="http://schemas.openxmlformats.org/drawingml/2006/table">
            <a:tbl>
              <a:tblPr/>
              <a:tblGrid>
                <a:gridCol w="1874520"/>
                <a:gridCol w="1874520"/>
                <a:gridCol w="1874520"/>
              </a:tblGrid>
              <a:tr h="261257">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Category</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Example Symbols</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Purpose</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Arithmetic</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  *  /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Perform maths calculations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Relational</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  &gt;  &lt;  &gt;=  &lt;=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Compare two values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Logical</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&amp;&amp;   ||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Combine true/false conditions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Assignment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  -=  *=  /=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Store / update values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Increment &amp; Decrement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Increase or decrease by 1</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Bitwise</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&amp;  |  ^  ~  &lt;&lt;  &gt;&gt;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Operate on individual bits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6" name="Shape 8"/>
          <p:cNvSpPr/>
          <p:nvPr/>
        </p:nvSpPr>
        <p:spPr>
          <a:xfrm>
            <a:off x="6912864" y="1700784"/>
            <a:ext cx="82296" cy="82296"/>
          </a:xfrm>
          <a:prstGeom prst="ellipse">
            <a:avLst/>
          </a:prstGeom>
          <a:solidFill>
            <a:srgbClr val="98C379"/>
          </a:solidFill>
        </p:spPr>
      </p:sp>
      <p:sp>
        <p:nvSpPr>
          <p:cNvPr id="12" name="Text 9"/>
          <p:cNvSpPr/>
          <p:nvPr/>
        </p:nvSpPr>
        <p:spPr>
          <a:xfrm>
            <a:off x="7040880" y="160020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operators.c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9, b = 4;</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"Sum: %d\n"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"Equal? %d\n"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"Both +ve? %d\n"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a&gt;0 &amp;&amp; b&gt;0);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assignment operator</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increment operator</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 %d"</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5" name="Text 12"/>
          <p:cNvSpPr/>
          <p:nvPr/>
        </p:nvSpPr>
        <p:spPr>
          <a:xfrm>
            <a:off x="6583680" y="601675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Sum: 13, Equal? 0, Both +ve? 1, a: 14</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14</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925373" cy="292608"/>
          </a:xfrm>
          <a:prstGeom prst="roundRect">
            <a:avLst>
              <a:gd name="adj" fmla="val 50000"/>
            </a:avLst>
          </a:prstGeom>
          <a:solidFill>
            <a:srgbClr val="00C2A8">
              <a:alpha val="88000"/>
            </a:srgbClr>
          </a:solidFill>
        </p:spPr>
      </p:sp>
      <p:sp>
        <p:nvSpPr>
          <p:cNvPr id="3" name="Text 1"/>
          <p:cNvSpPr/>
          <p:nvPr/>
        </p:nvSpPr>
        <p:spPr>
          <a:xfrm>
            <a:off x="452120" y="365760"/>
            <a:ext cx="1021715" cy="292735"/>
          </a:xfrm>
          <a:prstGeom prst="rect">
            <a:avLst/>
          </a:prstGeom>
          <a:noFill/>
        </p:spPr>
        <p:txBody>
          <a:bodyPr wrap="square" rtlCol="0" anchor="ctr"/>
          <a:lstStyle/>
          <a:p>
            <a:pPr marL="0" indent="0" algn="ctr">
              <a:buNone/>
            </a:pPr>
            <a:r>
              <a:rPr lang="en-US" sz="10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OPERATORS</a:t>
            </a:r>
            <a:endParaRPr lang="en-US" sz="10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400" b="1" dirty="0">
                <a:solidFill>
                  <a:srgbClr val="0B2545"/>
                </a:solidFill>
                <a:latin typeface="Cambria" panose="02040503050406030204" pitchFamily="34" charset="0"/>
                <a:ea typeface="Cambria" panose="02040503050406030204" pitchFamily="34" charset="-122"/>
                <a:cs typeface="Cambria" panose="02040503050406030204" pitchFamily="34" charset="-120"/>
              </a:rPr>
              <a:t>Arithmetic Operators</a:t>
            </a:r>
            <a:endParaRPr lang="en-US" sz="24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051560"/>
          </a:xfrm>
          <a:prstGeom prst="rect">
            <a:avLst/>
          </a:prstGeom>
          <a:noFill/>
        </p:spPr>
        <p:txBody>
          <a:bodyPr wrap="square" rtlCol="0" anchor="t"/>
          <a:lstStyle/>
          <a:p>
            <a:pPr marL="177800" indent="-177800">
              <a:spcAft>
                <a:spcPts val="200"/>
              </a:spcAft>
              <a:buSzPct val="100000"/>
              <a:buChar char="•"/>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200" dirty="0"/>
          </a:p>
          <a:p>
            <a:pPr marL="0" lvl="1" indent="0">
              <a:spcAft>
                <a:spcPts val="600"/>
              </a:spcAft>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Used to perform basic maths on numeric operands (int, float, double).</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2" name="Table 0"/>
          <p:cNvGraphicFramePr>
            <a:graphicFrameLocks noGrp="1"/>
          </p:cNvGraphicFramePr>
          <p:nvPr/>
        </p:nvGraphicFramePr>
        <p:xfrm>
          <a:off x="548640" y="2788920"/>
          <a:ext cx="5623560" cy="1828800"/>
        </p:xfrm>
        <a:graphic>
          <a:graphicData uri="http://schemas.openxmlformats.org/drawingml/2006/table">
            <a:tbl>
              <a:tblPr/>
              <a:tblGrid>
                <a:gridCol w="1874520"/>
                <a:gridCol w="1874520"/>
                <a:gridCol w="1874520"/>
              </a:tblGrid>
              <a:tr h="304800">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Meaning</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Example (a=9, b=4)</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304800">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Addition</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13</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Subtraction</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5</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Multiplication</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36</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Division</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2  (integer division)</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Modulus (remainder)</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1</a:t>
                      </a:r>
                      <a:endParaRPr lang="en-US" sz="12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11" name="Shape 8"/>
          <p:cNvSpPr/>
          <p:nvPr/>
        </p:nvSpPr>
        <p:spPr>
          <a:xfrm>
            <a:off x="6912864" y="1700784"/>
            <a:ext cx="82296" cy="82296"/>
          </a:xfrm>
          <a:prstGeom prst="ellipse">
            <a:avLst/>
          </a:prstGeom>
          <a:solidFill>
            <a:srgbClr val="98C379"/>
          </a:solidFill>
        </p:spPr>
      </p:sp>
      <p:sp>
        <p:nvSpPr>
          <p:cNvPr id="6" name="Text 9"/>
          <p:cNvSpPr/>
          <p:nvPr/>
        </p:nvSpPr>
        <p:spPr>
          <a:xfrm>
            <a:off x="7040880" y="1600200"/>
            <a:ext cx="4370832" cy="292608"/>
          </a:xfrm>
          <a:prstGeom prst="rect">
            <a:avLst/>
          </a:prstGeom>
          <a:noFill/>
        </p:spPr>
        <p:txBody>
          <a:bodyPr wrap="square" rtlCol="0" anchor="ctr"/>
          <a:lstStyle/>
          <a:p>
            <a:pPr marL="0" indent="0">
              <a:buNone/>
            </a:pPr>
            <a:r>
              <a:rPr lang="en-US" sz="10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arithmetic.c</a:t>
            </a:r>
            <a:endParaRPr lang="en-US" sz="10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200" dirty="0"/>
          </a:p>
          <a:p>
            <a:pPr marL="0" indent="0" algn="l">
              <a:lnSpc>
                <a:spcPct val="115000"/>
              </a:lnSpc>
              <a:buNone/>
            </a:pP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9, b = 4;</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"Add: %d\n"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"Sub: %d\n"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"Mul: %d\n"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"Div: %d\n"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"Mod: %d\n"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200" dirty="0"/>
          </a:p>
          <a:p>
            <a:pPr marL="0" indent="0" algn="l">
              <a:lnSpc>
                <a:spcPct val="115000"/>
              </a:lnSpc>
              <a:buNone/>
            </a:pPr>
            <a:r>
              <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5" name="Text 12"/>
          <p:cNvSpPr/>
          <p:nvPr/>
        </p:nvSpPr>
        <p:spPr>
          <a:xfrm>
            <a:off x="6583680" y="6016752"/>
            <a:ext cx="4919472" cy="420624"/>
          </a:xfrm>
          <a:prstGeom prst="rect">
            <a:avLst/>
          </a:prstGeom>
          <a:noFill/>
        </p:spPr>
        <p:txBody>
          <a:bodyPr wrap="square" rtlCol="0" anchor="ctr"/>
          <a:lstStyle/>
          <a:p>
            <a:pPr marL="0" indent="0">
              <a:buNone/>
            </a:pPr>
            <a:r>
              <a:rPr lang="en-US" sz="12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2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Add:13 Sub:5 Mul:36 Div:2 Mod:1</a:t>
            </a:r>
            <a:endParaRPr lang="en-US" sz="12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000" dirty="0">
                <a:solidFill>
                  <a:srgbClr val="7C93A8"/>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4"/>
          <p:cNvSpPr/>
          <p:nvPr/>
        </p:nvSpPr>
        <p:spPr>
          <a:xfrm>
            <a:off x="548640" y="4709160"/>
            <a:ext cx="5623560" cy="777240"/>
          </a:xfrm>
          <a:prstGeom prst="roundRect">
            <a:avLst>
              <a:gd name="adj" fmla="val 9412"/>
            </a:avLst>
          </a:prstGeom>
          <a:solidFill>
            <a:srgbClr val="F4F7FA"/>
          </a:solidFill>
        </p:spPr>
      </p:sp>
      <p:sp>
        <p:nvSpPr>
          <p:cNvPr id="18" name="Text 15"/>
          <p:cNvSpPr/>
          <p:nvPr/>
        </p:nvSpPr>
        <p:spPr>
          <a:xfrm>
            <a:off x="713232" y="4709160"/>
            <a:ext cx="5303520" cy="777240"/>
          </a:xfrm>
          <a:prstGeom prst="rect">
            <a:avLst/>
          </a:prstGeom>
          <a:noFill/>
        </p:spPr>
        <p:txBody>
          <a:bodyPr wrap="square" rtlCol="0" anchor="ctr"/>
          <a:lstStyle/>
          <a:p>
            <a:pPr marL="0" indent="0">
              <a:buNone/>
            </a:pPr>
            <a:r>
              <a:rPr lang="en-US" sz="1000" b="1" dirty="0">
                <a:solidFill>
                  <a:srgbClr val="0B2545"/>
                </a:solidFill>
                <a:latin typeface="Calibri" panose="020F0502020204030204" pitchFamily="34" charset="0"/>
                <a:ea typeface="Calibri" panose="020F0502020204030204" pitchFamily="34" charset="-122"/>
                <a:cs typeface="Calibri" panose="020F0502020204030204" pitchFamily="34" charset="-120"/>
              </a:rPr>
              <a:t>Note:  </a:t>
            </a:r>
            <a:r>
              <a:rPr lang="en-US" sz="1000" dirty="0">
                <a:solidFill>
                  <a:srgbClr val="13293D"/>
                </a:solidFill>
                <a:latin typeface="Calibri" panose="020F0502020204030204" pitchFamily="34" charset="0"/>
                <a:ea typeface="Calibri" panose="020F0502020204030204" pitchFamily="34" charset="-122"/>
                <a:cs typeface="Calibri" panose="020F0502020204030204" pitchFamily="34" charset="-120"/>
              </a:rPr>
              <a:t>9 / 4 gives 2, not 2.25 — dividing two int values drops the decimal part. Use float to keep it.</a:t>
            </a:r>
            <a:endParaRPr lang="en-US" sz="10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925373" cy="292608"/>
          </a:xfrm>
          <a:prstGeom prst="roundRect">
            <a:avLst>
              <a:gd name="adj" fmla="val 50000"/>
            </a:avLst>
          </a:prstGeom>
          <a:solidFill>
            <a:srgbClr val="00C2A8">
              <a:alpha val="88000"/>
            </a:srgbClr>
          </a:solidFill>
        </p:spPr>
      </p:sp>
      <p:sp>
        <p:nvSpPr>
          <p:cNvPr id="3" name="Text 1"/>
          <p:cNvSpPr/>
          <p:nvPr/>
        </p:nvSpPr>
        <p:spPr>
          <a:xfrm>
            <a:off x="548640" y="365760"/>
            <a:ext cx="925373"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OPERATORS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Relational Operators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051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Compare two values. The result is always 1 (true) or 0 (false).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3" name="Table 0"/>
          <p:cNvGraphicFramePr>
            <a:graphicFrameLocks noGrp="1"/>
          </p:cNvGraphicFramePr>
          <p:nvPr/>
        </p:nvGraphicFramePr>
        <p:xfrm>
          <a:off x="548640" y="2788920"/>
          <a:ext cx="5623560" cy="1828800"/>
        </p:xfrm>
        <a:graphic>
          <a:graphicData uri="http://schemas.openxmlformats.org/drawingml/2006/table">
            <a:tbl>
              <a:tblPr/>
              <a:tblGrid>
                <a:gridCol w="1874520"/>
                <a:gridCol w="1874520"/>
                <a:gridCol w="1874520"/>
              </a:tblGrid>
              <a:tr h="261257">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Meaning</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Example (a=9, b=4)</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Equal to</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0</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Not equal to</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 b  →  1</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&gt;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Greater than</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&gt; b  →  1</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&lt;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Less than</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&lt; b  →  0</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&gt;=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Greater or equal</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&gt;= 9  →  1</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61257">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&lt;=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Less or equal</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 &lt;= 4  →  0</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11" name="Shape 8"/>
          <p:cNvSpPr/>
          <p:nvPr/>
        </p:nvSpPr>
        <p:spPr>
          <a:xfrm>
            <a:off x="6912864" y="1700784"/>
            <a:ext cx="82296" cy="82296"/>
          </a:xfrm>
          <a:prstGeom prst="ellipse">
            <a:avLst/>
          </a:prstGeom>
          <a:solidFill>
            <a:srgbClr val="98C379"/>
          </a:solidFill>
        </p:spPr>
      </p:sp>
      <p:sp>
        <p:nvSpPr>
          <p:cNvPr id="12"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relational.c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6"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9, b = 4;</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b);</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&gt; b);</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&gt; b)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 is bigger"</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5" name="Text 12"/>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0, 1, 1, a is bigger</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16</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925373" cy="292608"/>
          </a:xfrm>
          <a:prstGeom prst="roundRect">
            <a:avLst>
              <a:gd name="adj" fmla="val 50000"/>
            </a:avLst>
          </a:prstGeom>
          <a:solidFill>
            <a:srgbClr val="00C2A8">
              <a:alpha val="88000"/>
            </a:srgbClr>
          </a:solidFill>
        </p:spPr>
      </p:sp>
      <p:sp>
        <p:nvSpPr>
          <p:cNvPr id="3" name="Text 1"/>
          <p:cNvSpPr/>
          <p:nvPr/>
        </p:nvSpPr>
        <p:spPr>
          <a:xfrm>
            <a:off x="548640" y="365760"/>
            <a:ext cx="925373"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OPERATORS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Logical Operators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5087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Combine two or more conditions into a single true/false result.</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Short-circuit rule</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&amp;&amp; stops as soon as one side is false; || stops as soon as one side is true.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4" name="Table 0"/>
          <p:cNvGraphicFramePr>
            <a:graphicFrameLocks noGrp="1"/>
          </p:cNvGraphicFramePr>
          <p:nvPr/>
        </p:nvGraphicFramePr>
        <p:xfrm>
          <a:off x="548640" y="3246120"/>
          <a:ext cx="5623560" cy="1828800"/>
        </p:xfrm>
        <a:graphic>
          <a:graphicData uri="http://schemas.openxmlformats.org/drawingml/2006/table">
            <a:tbl>
              <a:tblPr/>
              <a:tblGrid>
                <a:gridCol w="1874520"/>
                <a:gridCol w="1874520"/>
                <a:gridCol w="1874520"/>
              </a:tblGrid>
              <a:tr h="457200">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Name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True when...</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4572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&amp;&amp;</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Logical AND</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BOTH sides are true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4572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Logical OR</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AT LEAST ONE side is true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4572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Logical NOT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Reverses true to false, and false to true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11" name="Shape 8"/>
          <p:cNvSpPr/>
          <p:nvPr/>
        </p:nvSpPr>
        <p:spPr>
          <a:xfrm>
            <a:off x="6912864" y="1700784"/>
            <a:ext cx="82296" cy="82296"/>
          </a:xfrm>
          <a:prstGeom prst="ellipse">
            <a:avLst/>
          </a:prstGeom>
          <a:solidFill>
            <a:srgbClr val="98C379"/>
          </a:solidFill>
        </p:spPr>
      </p:sp>
      <p:sp>
        <p:nvSpPr>
          <p:cNvPr id="12"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logical.c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 78, attendance = 85;</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&gt;= 40 &amp;&amp; attendance &gt;= 75)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"Eligible for exam"</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else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"Not eligible"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6"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5" name="Text 12"/>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Eligible for exam</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17</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03325" cy="292735"/>
          </a:xfrm>
          <a:prstGeom prst="roundRect">
            <a:avLst>
              <a:gd name="adj" fmla="val 50000"/>
            </a:avLst>
          </a:prstGeom>
          <a:solidFill>
            <a:srgbClr val="00C2A8">
              <a:alpha val="88000"/>
            </a:srgbClr>
          </a:solidFill>
        </p:spPr>
      </p:sp>
      <p:sp>
        <p:nvSpPr>
          <p:cNvPr id="3" name="Text 1"/>
          <p:cNvSpPr/>
          <p:nvPr/>
        </p:nvSpPr>
        <p:spPr>
          <a:xfrm>
            <a:off x="548640" y="365760"/>
            <a:ext cx="1203960" cy="292735"/>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OPERATORS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Assignment &amp; Increment/Decrement</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7373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Assignment operators</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Shorthand ways to update a variable using its own current value.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 and --</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Pre (++a) changes the value first, then uses it. Post (a++) uses the current value first, then changes it.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5" name="Table 0"/>
          <p:cNvGraphicFramePr>
            <a:graphicFrameLocks noGrp="1"/>
          </p:cNvGraphicFramePr>
          <p:nvPr/>
        </p:nvGraphicFramePr>
        <p:xfrm>
          <a:off x="548640" y="3474720"/>
          <a:ext cx="5623560" cy="1828800"/>
        </p:xfrm>
        <a:graphic>
          <a:graphicData uri="http://schemas.openxmlformats.org/drawingml/2006/table">
            <a:tbl>
              <a:tblPr/>
              <a:tblGrid>
                <a:gridCol w="1874520"/>
                <a:gridCol w="1874520"/>
                <a:gridCol w="1874520"/>
              </a:tblGrid>
              <a:tr h="365760">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Same as</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Example (a=5)</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36576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becomes 7</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6576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becomes 3</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6576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becomes 10</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6576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 a / 2</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becomes 2 (int)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11" name="Shape 8"/>
          <p:cNvSpPr/>
          <p:nvPr/>
        </p:nvSpPr>
        <p:spPr>
          <a:xfrm>
            <a:off x="6912864" y="1700784"/>
            <a:ext cx="82296" cy="82296"/>
          </a:xfrm>
          <a:prstGeom prst="ellipse">
            <a:avLst/>
          </a:prstGeom>
          <a:solidFill>
            <a:srgbClr val="98C379"/>
          </a:solidFill>
        </p:spPr>
      </p:sp>
      <p:sp>
        <p:nvSpPr>
          <p:cNvPr id="12"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increment.c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 = 5;</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 (post) = %d\n"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"now a = %d\n"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b = 5;</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"++b (pre) = %d\n"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++b);</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"now b = %d"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b);</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6" name="Text 12"/>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a++ = 5, now a = 6 | ++b = 6, now b = 6</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18</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endParaRPr lang="en-US" sz="1600" dirty="0"/>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Bitwise Operators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03</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Text 3"/>
          <p:cNvSpPr/>
          <p:nvPr/>
        </p:nvSpPr>
        <p:spPr>
          <a:xfrm>
            <a:off x="457200" y="1371600"/>
            <a:ext cx="11247120" cy="548640"/>
          </a:xfrm>
          <a:prstGeom prst="rect">
            <a:avLst/>
          </a:prstGeom>
          <a:noFill/>
        </p:spPr>
        <p:txBody>
          <a:bodyPr wrap="square" rtlCol="0" anchor="ctr"/>
          <a:lstStyle/>
          <a:p>
            <a:pPr marL="0" indent="0">
              <a:buNone/>
            </a:pPr>
            <a:r>
              <a:rPr lang="en-US" sz="2000" dirty="0">
                <a:solidFill>
                  <a:srgbClr val="9B9CB5"/>
                </a:solidFill>
                <a:latin typeface="Calibri" panose="020F0502020204030204" pitchFamily="34" charset="0"/>
                <a:ea typeface="Calibri" panose="020F0502020204030204" pitchFamily="34" charset="-122"/>
                <a:cs typeface="Calibri" panose="020F0502020204030204" pitchFamily="34" charset="-120"/>
              </a:rPr>
              <a:t>Bitwise operators work directly on the individual bits (the 0s and 1s) that make up a number — not on the number as a whole. They are useful for low-level tasks like flags, masking, and fast math.</a:t>
            </a:r>
            <a:endParaRPr lang="en-US" sz="2000"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228600" y="2286000"/>
            <a:ext cx="1783080" cy="1828800"/>
          </a:xfrm>
          <a:prstGeom prst="roundRect">
            <a:avLst>
              <a:gd name="adj" fmla="val 5128"/>
            </a:avLst>
          </a:prstGeom>
          <a:solidFill>
            <a:srgbClr val="2A2B3D"/>
          </a:solidFill>
        </p:spPr>
      </p:sp>
      <p:sp>
        <p:nvSpPr>
          <p:cNvPr id="7" name="Shape 5"/>
          <p:cNvSpPr/>
          <p:nvPr/>
        </p:nvSpPr>
        <p:spPr>
          <a:xfrm>
            <a:off x="708660" y="2560320"/>
            <a:ext cx="822960" cy="822960"/>
          </a:xfrm>
          <a:prstGeom prst="ellipse">
            <a:avLst/>
          </a:prstGeom>
          <a:solidFill>
            <a:srgbClr val="1B1C2B"/>
          </a:solidFill>
        </p:spPr>
      </p:sp>
      <p:sp>
        <p:nvSpPr>
          <p:cNvPr id="8" name="Text 6"/>
          <p:cNvSpPr/>
          <p:nvPr/>
        </p:nvSpPr>
        <p:spPr>
          <a:xfrm>
            <a:off x="708660" y="2560320"/>
            <a:ext cx="822960" cy="822960"/>
          </a:xfrm>
          <a:prstGeom prst="rect">
            <a:avLst/>
          </a:prstGeom>
          <a:noFill/>
        </p:spPr>
        <p:txBody>
          <a:bodyPr wrap="square" rtlCol="0" anchor="ctr"/>
          <a:lstStyle/>
          <a:p>
            <a:pPr marL="0" indent="0" algn="ctr">
              <a:buNone/>
            </a:pPr>
            <a:r>
              <a:rPr lang="en-US" sz="32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&amp;</a:t>
            </a:r>
            <a:endParaRPr lang="en-US" sz="32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9" name="Text 7"/>
          <p:cNvSpPr/>
          <p:nvPr/>
        </p:nvSpPr>
        <p:spPr>
          <a:xfrm>
            <a:off x="228600" y="3520440"/>
            <a:ext cx="1783080" cy="457200"/>
          </a:xfrm>
          <a:prstGeom prst="rect">
            <a:avLst/>
          </a:prstGeom>
          <a:noFill/>
        </p:spPr>
        <p:txBody>
          <a:bodyPr wrap="square" rtlCol="0" anchor="ctr"/>
          <a:lstStyle/>
          <a:p>
            <a:pPr marL="0" indent="0" algn="ctr">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AND</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2212848" y="2286000"/>
            <a:ext cx="1783080" cy="1828800"/>
          </a:xfrm>
          <a:prstGeom prst="roundRect">
            <a:avLst>
              <a:gd name="adj" fmla="val 5128"/>
            </a:avLst>
          </a:prstGeom>
          <a:solidFill>
            <a:srgbClr val="2A2B3D"/>
          </a:solidFill>
        </p:spPr>
      </p:sp>
      <p:sp>
        <p:nvSpPr>
          <p:cNvPr id="11" name="Shape 9"/>
          <p:cNvSpPr/>
          <p:nvPr/>
        </p:nvSpPr>
        <p:spPr>
          <a:xfrm>
            <a:off x="2692908" y="2560320"/>
            <a:ext cx="822960" cy="822960"/>
          </a:xfrm>
          <a:prstGeom prst="ellipse">
            <a:avLst/>
          </a:prstGeom>
          <a:solidFill>
            <a:srgbClr val="1B1C2B"/>
          </a:solidFill>
        </p:spPr>
      </p:sp>
      <p:sp>
        <p:nvSpPr>
          <p:cNvPr id="12" name="Text 10"/>
          <p:cNvSpPr/>
          <p:nvPr/>
        </p:nvSpPr>
        <p:spPr>
          <a:xfrm>
            <a:off x="2692908" y="2560320"/>
            <a:ext cx="822960" cy="822960"/>
          </a:xfrm>
          <a:prstGeom prst="rect">
            <a:avLst/>
          </a:prstGeom>
          <a:noFill/>
        </p:spPr>
        <p:txBody>
          <a:bodyPr wrap="square" rtlCol="0" anchor="ctr"/>
          <a:lstStyle/>
          <a:p>
            <a:pPr marL="0" indent="0" algn="ctr">
              <a:buNone/>
            </a:pPr>
            <a:r>
              <a:rPr lang="en-US" sz="32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a:t>
            </a:r>
            <a:endParaRPr lang="en-US" sz="32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1"/>
          <p:cNvSpPr/>
          <p:nvPr/>
        </p:nvSpPr>
        <p:spPr>
          <a:xfrm>
            <a:off x="2212848" y="3520440"/>
            <a:ext cx="1783080" cy="457200"/>
          </a:xfrm>
          <a:prstGeom prst="rect">
            <a:avLst/>
          </a:prstGeom>
          <a:noFill/>
        </p:spPr>
        <p:txBody>
          <a:bodyPr wrap="square" rtlCol="0" anchor="ctr"/>
          <a:lstStyle/>
          <a:p>
            <a:pPr marL="0" indent="0" algn="ctr">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OR</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4197096" y="2286000"/>
            <a:ext cx="1783080" cy="1828800"/>
          </a:xfrm>
          <a:prstGeom prst="roundRect">
            <a:avLst>
              <a:gd name="adj" fmla="val 5128"/>
            </a:avLst>
          </a:prstGeom>
          <a:solidFill>
            <a:srgbClr val="2A2B3D"/>
          </a:solidFill>
        </p:spPr>
      </p:sp>
      <p:sp>
        <p:nvSpPr>
          <p:cNvPr id="15" name="Shape 13"/>
          <p:cNvSpPr/>
          <p:nvPr/>
        </p:nvSpPr>
        <p:spPr>
          <a:xfrm>
            <a:off x="4677156" y="2560320"/>
            <a:ext cx="822960" cy="822960"/>
          </a:xfrm>
          <a:prstGeom prst="ellipse">
            <a:avLst/>
          </a:prstGeom>
          <a:solidFill>
            <a:srgbClr val="1B1C2B"/>
          </a:solidFill>
        </p:spPr>
      </p:sp>
      <p:sp>
        <p:nvSpPr>
          <p:cNvPr id="16" name="Text 14"/>
          <p:cNvSpPr/>
          <p:nvPr/>
        </p:nvSpPr>
        <p:spPr>
          <a:xfrm>
            <a:off x="4677156" y="2560320"/>
            <a:ext cx="822960" cy="822960"/>
          </a:xfrm>
          <a:prstGeom prst="rect">
            <a:avLst/>
          </a:prstGeom>
          <a:noFill/>
        </p:spPr>
        <p:txBody>
          <a:bodyPr wrap="square" rtlCol="0" anchor="ctr"/>
          <a:lstStyle/>
          <a:p>
            <a:pPr marL="0" indent="0" algn="ctr">
              <a:buNone/>
            </a:pPr>
            <a:r>
              <a:rPr lang="en-US" sz="32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rPr>
              <a:t>~</a:t>
            </a:r>
            <a:endParaRPr lang="en-US" sz="32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4197096" y="3520440"/>
            <a:ext cx="1783080" cy="457200"/>
          </a:xfrm>
          <a:prstGeom prst="rect">
            <a:avLst/>
          </a:prstGeom>
          <a:noFill/>
        </p:spPr>
        <p:txBody>
          <a:bodyPr wrap="square" rtlCol="0" anchor="ctr"/>
          <a:lstStyle/>
          <a:p>
            <a:pPr marL="0" indent="0" algn="ctr">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NOT</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6181344" y="2286000"/>
            <a:ext cx="1783080" cy="1828800"/>
          </a:xfrm>
          <a:prstGeom prst="roundRect">
            <a:avLst>
              <a:gd name="adj" fmla="val 5128"/>
            </a:avLst>
          </a:prstGeom>
          <a:solidFill>
            <a:srgbClr val="2A2B3D"/>
          </a:solidFill>
        </p:spPr>
      </p:sp>
      <p:sp>
        <p:nvSpPr>
          <p:cNvPr id="19" name="Shape 17"/>
          <p:cNvSpPr/>
          <p:nvPr/>
        </p:nvSpPr>
        <p:spPr>
          <a:xfrm>
            <a:off x="6661404" y="2560320"/>
            <a:ext cx="822960" cy="822960"/>
          </a:xfrm>
          <a:prstGeom prst="ellipse">
            <a:avLst/>
          </a:prstGeom>
          <a:solidFill>
            <a:srgbClr val="1B1C2B"/>
          </a:solidFill>
        </p:spPr>
      </p:sp>
      <p:sp>
        <p:nvSpPr>
          <p:cNvPr id="20" name="Text 18"/>
          <p:cNvSpPr/>
          <p:nvPr/>
        </p:nvSpPr>
        <p:spPr>
          <a:xfrm>
            <a:off x="6661404" y="2560320"/>
            <a:ext cx="822960" cy="822960"/>
          </a:xfrm>
          <a:prstGeom prst="rect">
            <a:avLst/>
          </a:prstGeom>
          <a:noFill/>
        </p:spPr>
        <p:txBody>
          <a:bodyPr wrap="square" rtlCol="0" anchor="ctr"/>
          <a:lstStyle/>
          <a:p>
            <a:pPr marL="0" indent="0" algn="ctr">
              <a:buNone/>
            </a:pPr>
            <a:r>
              <a:rPr lang="en-US" sz="32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rPr>
              <a:t>^</a:t>
            </a:r>
            <a:endParaRPr lang="en-US" sz="32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1" name="Text 19"/>
          <p:cNvSpPr/>
          <p:nvPr/>
        </p:nvSpPr>
        <p:spPr>
          <a:xfrm>
            <a:off x="6181344" y="3520440"/>
            <a:ext cx="1783080" cy="457200"/>
          </a:xfrm>
          <a:prstGeom prst="rect">
            <a:avLst/>
          </a:prstGeom>
          <a:noFill/>
        </p:spPr>
        <p:txBody>
          <a:bodyPr wrap="square" rtlCol="0" anchor="ctr"/>
          <a:lstStyle/>
          <a:p>
            <a:pPr marL="0" indent="0" algn="ctr">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XOR</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8165592" y="2286000"/>
            <a:ext cx="1783080" cy="1828800"/>
          </a:xfrm>
          <a:prstGeom prst="roundRect">
            <a:avLst>
              <a:gd name="adj" fmla="val 5128"/>
            </a:avLst>
          </a:prstGeom>
          <a:solidFill>
            <a:srgbClr val="2A2B3D"/>
          </a:solidFill>
        </p:spPr>
      </p:sp>
      <p:sp>
        <p:nvSpPr>
          <p:cNvPr id="23" name="Shape 21"/>
          <p:cNvSpPr/>
          <p:nvPr/>
        </p:nvSpPr>
        <p:spPr>
          <a:xfrm>
            <a:off x="8645652" y="2560320"/>
            <a:ext cx="822960" cy="822960"/>
          </a:xfrm>
          <a:prstGeom prst="ellipse">
            <a:avLst/>
          </a:prstGeom>
          <a:solidFill>
            <a:srgbClr val="1B1C2B"/>
          </a:solidFill>
        </p:spPr>
      </p:sp>
      <p:sp>
        <p:nvSpPr>
          <p:cNvPr id="24" name="Text 22"/>
          <p:cNvSpPr/>
          <p:nvPr/>
        </p:nvSpPr>
        <p:spPr>
          <a:xfrm>
            <a:off x="8645652" y="2560320"/>
            <a:ext cx="822960" cy="822960"/>
          </a:xfrm>
          <a:prstGeom prst="rect">
            <a:avLst/>
          </a:prstGeom>
          <a:noFill/>
        </p:spPr>
        <p:txBody>
          <a:bodyPr wrap="square" rtlCol="0" anchor="ctr"/>
          <a:lstStyle/>
          <a:p>
            <a:pPr marL="0" indent="0" algn="ctr">
              <a:buNone/>
            </a:pPr>
            <a:r>
              <a:rPr lang="en-US" sz="28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&lt;&lt;</a:t>
            </a:r>
            <a:endParaRPr lang="en-US" sz="28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5" name="Text 23"/>
          <p:cNvSpPr/>
          <p:nvPr/>
        </p:nvSpPr>
        <p:spPr>
          <a:xfrm>
            <a:off x="8165592" y="3520440"/>
            <a:ext cx="1783080" cy="457200"/>
          </a:xfrm>
          <a:prstGeom prst="rect">
            <a:avLst/>
          </a:prstGeom>
          <a:noFill/>
        </p:spPr>
        <p:txBody>
          <a:bodyPr wrap="square" rtlCol="0" anchor="ctr"/>
          <a:lstStyle/>
          <a:p>
            <a:pPr marL="0" indent="0" algn="ctr">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LEFT SHIFT</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10149840" y="2286000"/>
            <a:ext cx="1783080" cy="1828800"/>
          </a:xfrm>
          <a:prstGeom prst="roundRect">
            <a:avLst>
              <a:gd name="adj" fmla="val 5128"/>
            </a:avLst>
          </a:prstGeom>
          <a:solidFill>
            <a:srgbClr val="2A2B3D"/>
          </a:solidFill>
        </p:spPr>
      </p:sp>
      <p:sp>
        <p:nvSpPr>
          <p:cNvPr id="27" name="Shape 25"/>
          <p:cNvSpPr/>
          <p:nvPr/>
        </p:nvSpPr>
        <p:spPr>
          <a:xfrm>
            <a:off x="10629900" y="2560320"/>
            <a:ext cx="822960" cy="822960"/>
          </a:xfrm>
          <a:prstGeom prst="ellipse">
            <a:avLst/>
          </a:prstGeom>
          <a:solidFill>
            <a:srgbClr val="1B1C2B"/>
          </a:solidFill>
        </p:spPr>
      </p:sp>
      <p:sp>
        <p:nvSpPr>
          <p:cNvPr id="28" name="Text 26"/>
          <p:cNvSpPr/>
          <p:nvPr/>
        </p:nvSpPr>
        <p:spPr>
          <a:xfrm>
            <a:off x="10629900" y="2560320"/>
            <a:ext cx="822960" cy="822960"/>
          </a:xfrm>
          <a:prstGeom prst="rect">
            <a:avLst/>
          </a:prstGeom>
          <a:noFill/>
        </p:spPr>
        <p:txBody>
          <a:bodyPr wrap="square" rtlCol="0" anchor="ctr"/>
          <a:lstStyle/>
          <a:p>
            <a:pPr marL="0" indent="0" algn="ctr">
              <a:buNone/>
            </a:pPr>
            <a:r>
              <a:rPr lang="en-US" sz="28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&gt;&gt;</a:t>
            </a:r>
            <a:endParaRPr lang="en-US" sz="28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9" name="Text 27"/>
          <p:cNvSpPr/>
          <p:nvPr/>
        </p:nvSpPr>
        <p:spPr>
          <a:xfrm>
            <a:off x="10149840" y="3520440"/>
            <a:ext cx="1783080" cy="457200"/>
          </a:xfrm>
          <a:prstGeom prst="rect">
            <a:avLst/>
          </a:prstGeom>
          <a:noFill/>
        </p:spPr>
        <p:txBody>
          <a:bodyPr wrap="square" rtlCol="0" anchor="ctr"/>
          <a:lstStyle/>
          <a:p>
            <a:pPr marL="0" indent="0" algn="ctr">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RIGHT SHIFT</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457200" y="4526280"/>
            <a:ext cx="11247120" cy="365760"/>
          </a:xfrm>
          <a:prstGeom prst="rect">
            <a:avLst/>
          </a:prstGeom>
          <a:noFill/>
        </p:spPr>
        <p:txBody>
          <a:bodyPr wrap="square" rtlCol="0" anchor="ctr"/>
          <a:lstStyle/>
          <a:p>
            <a:pPr marL="0" indent="0" algn="ctr">
              <a:buNone/>
            </a:pPr>
            <a:r>
              <a:rPr lang="en-US" sz="1600" i="1" dirty="0">
                <a:solidFill>
                  <a:srgbClr val="9B9CB5"/>
                </a:solidFill>
                <a:latin typeface="Calibri" panose="020F0502020204030204" pitchFamily="34" charset="0"/>
                <a:ea typeface="Calibri" panose="020F0502020204030204" pitchFamily="34" charset="-122"/>
                <a:cs typeface="Calibri" panose="020F0502020204030204" pitchFamily="34" charset="-120"/>
              </a:rPr>
              <a:t>We'll go through each one — what it means, its truth table, and a working C example.</a:t>
            </a:r>
            <a:endParaRPr lang="en-US" sz="160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BITWISE OPERATOR</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AND Operator ( &amp;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04</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502920" y="1371600"/>
            <a:ext cx="777240" cy="777240"/>
          </a:xfrm>
          <a:prstGeom prst="ellipse">
            <a:avLst/>
          </a:prstGeom>
          <a:solidFill>
            <a:srgbClr val="1B1C2B"/>
          </a:solidFill>
        </p:spPr>
      </p:sp>
      <p:sp>
        <p:nvSpPr>
          <p:cNvPr id="6" name="Text 4"/>
          <p:cNvSpPr/>
          <p:nvPr/>
        </p:nvSpPr>
        <p:spPr>
          <a:xfrm>
            <a:off x="502920" y="1371600"/>
            <a:ext cx="777240" cy="777240"/>
          </a:xfrm>
          <a:prstGeom prst="rect">
            <a:avLst/>
          </a:prstGeom>
          <a:noFill/>
        </p:spPr>
        <p:txBody>
          <a:bodyPr wrap="square" rtlCol="0" anchor="ctr"/>
          <a:lstStyle/>
          <a:p>
            <a:pPr marL="0" indent="0" algn="ctr">
              <a:buNone/>
            </a:pPr>
            <a:r>
              <a:rPr lang="en-US" sz="32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&amp;</a:t>
            </a:r>
            <a:endParaRPr lang="en-US" sz="32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1508760" y="1298448"/>
            <a:ext cx="4617720" cy="914400"/>
          </a:xfrm>
          <a:prstGeom prst="rect">
            <a:avLst/>
          </a:prstGeom>
          <a:noFill/>
        </p:spPr>
        <p:txBody>
          <a:bodyPr wrap="square" rtlCol="0" anchor="t"/>
          <a:lstStyle/>
          <a:p>
            <a:pPr marL="0" indent="0">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Compares two numbers bit by bit. The result bit is 1 only when BOTH bits are 1 — otherwise it's 0. Simple rule: both switches must be ON for the light to turn on.</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1508760" y="2350008"/>
            <a:ext cx="4617720" cy="256032"/>
          </a:xfrm>
          <a:prstGeom prst="rect">
            <a:avLst/>
          </a:prstGeom>
          <a:noFill/>
        </p:spPr>
        <p:txBody>
          <a:bodyPr wrap="square" rtlCol="0" anchor="ctr"/>
          <a:lstStyle/>
          <a:p>
            <a:pPr marL="0" indent="0">
              <a:buNone/>
            </a:pPr>
            <a:r>
              <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rPr>
              <a:t>TRUTH TABLE</a:t>
            </a:r>
            <a:endPar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9" name="Table 0"/>
          <p:cNvGraphicFramePr>
            <a:graphicFrameLocks noGrp="1"/>
          </p:cNvGraphicFramePr>
          <p:nvPr/>
        </p:nvGraphicFramePr>
        <p:xfrm>
          <a:off x="1508760" y="2642616"/>
          <a:ext cx="3108960" cy="1463040"/>
        </p:xfrm>
        <a:graphic>
          <a:graphicData uri="http://schemas.openxmlformats.org/drawingml/2006/table">
            <a:tbl>
              <a:tblPr/>
              <a:tblGrid>
                <a:gridCol w="1033272"/>
                <a:gridCol w="1033272"/>
                <a:gridCol w="1042416"/>
              </a:tblGrid>
              <a:tr h="292608">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B</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&amp; B</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bl>
          </a:graphicData>
        </a:graphic>
      </p:graphicFrame>
      <p:sp>
        <p:nvSpPr>
          <p:cNvPr id="10" name="Shape 7"/>
          <p:cNvSpPr/>
          <p:nvPr/>
        </p:nvSpPr>
        <p:spPr>
          <a:xfrm>
            <a:off x="6400800" y="1298448"/>
            <a:ext cx="5303520" cy="3246120"/>
          </a:xfrm>
          <a:prstGeom prst="roundRect">
            <a:avLst>
              <a:gd name="adj" fmla="val 2254"/>
            </a:avLst>
          </a:prstGeom>
          <a:solidFill>
            <a:srgbClr val="141522"/>
          </a:solidFill>
          <a:ln w="12700">
            <a:solidFill>
              <a:srgbClr val="3E3F58"/>
            </a:solidFill>
            <a:prstDash val="solid"/>
          </a:ln>
        </p:spPr>
      </p:sp>
      <p:sp>
        <p:nvSpPr>
          <p:cNvPr id="11" name="Text 8"/>
          <p:cNvSpPr/>
          <p:nvPr/>
        </p:nvSpPr>
        <p:spPr>
          <a:xfrm>
            <a:off x="6583680" y="1417320"/>
            <a:ext cx="4937760" cy="274320"/>
          </a:xfrm>
          <a:prstGeom prst="rect">
            <a:avLst/>
          </a:prstGeom>
          <a:noFill/>
        </p:spPr>
        <p:txBody>
          <a:bodyPr wrap="square" rtlCol="0" anchor="ctr"/>
          <a:lstStyle/>
          <a:p>
            <a:pPr marL="0" indent="0">
              <a:buNone/>
            </a:pPr>
            <a:r>
              <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rPr>
              <a:t>C CODE EXAMPLE</a:t>
            </a:r>
            <a:endPar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9"/>
          <p:cNvSpPr/>
          <p:nvPr/>
        </p:nvSpPr>
        <p:spPr>
          <a:xfrm>
            <a:off x="6583680" y="1737360"/>
            <a:ext cx="4937760" cy="2423160"/>
          </a:xfrm>
          <a:prstGeom prst="rect">
            <a:avLst/>
          </a:prstGeom>
          <a:noFill/>
        </p:spPr>
        <p:txBody>
          <a:bodyPr wrap="square" rtlCol="0" anchor="ctr"/>
          <a:lstStyle/>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#include &lt;stdio.h&gt;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main() {</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a = 12;   // 1100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b = 10;   // 1010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result = a &amp; b;</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printf("%d &amp; %d = %d",</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a, b, result);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0"/>
          <p:cNvSpPr/>
          <p:nvPr/>
        </p:nvSpPr>
        <p:spPr>
          <a:xfrm>
            <a:off x="6583680" y="4206240"/>
            <a:ext cx="4937760" cy="0"/>
          </a:xfrm>
          <a:prstGeom prst="line">
            <a:avLst/>
          </a:prstGeom>
          <a:noFill/>
          <a:ln w="9525">
            <a:solidFill>
              <a:srgbClr val="3E3F58"/>
            </a:solidFill>
            <a:prstDash val="solid"/>
          </a:ln>
        </p:spPr>
      </p:sp>
      <p:sp>
        <p:nvSpPr>
          <p:cNvPr id="14" name="Text 11"/>
          <p:cNvSpPr/>
          <p:nvPr/>
        </p:nvSpPr>
        <p:spPr>
          <a:xfrm>
            <a:off x="6583680" y="4279392"/>
            <a:ext cx="4937760" cy="228600"/>
          </a:xfrm>
          <a:prstGeom prst="rect">
            <a:avLst/>
          </a:prstGeom>
          <a:noFill/>
        </p:spPr>
        <p:txBody>
          <a:bodyPr wrap="square" rtlCol="0" anchor="ctr"/>
          <a:lstStyle/>
          <a:p>
            <a:pPr marL="0" indent="0">
              <a:buNone/>
            </a:pPr>
            <a:r>
              <a:rPr lang="en-US" sz="16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Output:  </a:t>
            </a: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12 &amp; 10 = 8</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2"/>
          <p:cNvSpPr/>
          <p:nvPr/>
        </p:nvSpPr>
        <p:spPr>
          <a:xfrm>
            <a:off x="457200" y="4800600"/>
            <a:ext cx="5486400" cy="256032"/>
          </a:xfrm>
          <a:prstGeom prst="rect">
            <a:avLst/>
          </a:prstGeom>
          <a:noFill/>
        </p:spPr>
        <p:txBody>
          <a:bodyPr wrap="square" rtlCol="0" anchor="ctr"/>
          <a:lstStyle/>
          <a:p>
            <a:pPr marL="0" indent="0">
              <a:buNone/>
            </a:pPr>
            <a:r>
              <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rPr>
              <a:t>BIT-BY-BIT VIEW</a:t>
            </a:r>
            <a:endPar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nvSpPr>
        <p:spPr>
          <a:xfrm>
            <a:off x="457200" y="5093208"/>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1100  (12)</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4"/>
          <p:cNvSpPr/>
          <p:nvPr/>
        </p:nvSpPr>
        <p:spPr>
          <a:xfrm>
            <a:off x="457200" y="5404104"/>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b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1010  (10)</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8" name="Text 15"/>
          <p:cNvSpPr/>
          <p:nvPr/>
        </p:nvSpPr>
        <p:spPr>
          <a:xfrm>
            <a:off x="457200" y="5715000"/>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a&amp;b=  </a:t>
            </a: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1000  (8)</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9" name="Text 16"/>
          <p:cNvSpPr/>
          <p:nvPr/>
        </p:nvSpPr>
        <p:spPr>
          <a:xfrm>
            <a:off x="457200" y="6172200"/>
            <a:ext cx="11247120" cy="411480"/>
          </a:xfrm>
          <a:prstGeom prst="rect">
            <a:avLst/>
          </a:prstGeom>
          <a:noFill/>
        </p:spPr>
        <p:txBody>
          <a:bodyPr wrap="square" rtlCol="0" anchor="ctr"/>
          <a:lstStyle/>
          <a:p>
            <a:pPr marL="0" indent="0">
              <a:buNone/>
            </a:pPr>
            <a:r>
              <a:rPr lang="en-US" i="1" dirty="0">
                <a:solidFill>
                  <a:srgbClr val="9B9CB5"/>
                </a:solidFill>
                <a:latin typeface="Calibri" panose="020F0502020204030204" pitchFamily="34" charset="0"/>
                <a:ea typeface="Calibri" panose="020F0502020204030204" pitchFamily="34" charset="-122"/>
                <a:cs typeface="Calibri" panose="020F0502020204030204" pitchFamily="34" charset="-120"/>
              </a:rPr>
              <a:t>Common use: checking or "masking" whether a specific bit is turned on/True/1.</a:t>
            </a:r>
            <a:endParaRPr lang="en-US"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BITWISE OPERATOR</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OR Operator ( |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05</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502920" y="1371600"/>
            <a:ext cx="777240" cy="777240"/>
          </a:xfrm>
          <a:prstGeom prst="ellipse">
            <a:avLst/>
          </a:prstGeom>
          <a:solidFill>
            <a:srgbClr val="1B1C2B"/>
          </a:solidFill>
        </p:spPr>
      </p:sp>
      <p:sp>
        <p:nvSpPr>
          <p:cNvPr id="6" name="Text 4"/>
          <p:cNvSpPr/>
          <p:nvPr/>
        </p:nvSpPr>
        <p:spPr>
          <a:xfrm>
            <a:off x="502920" y="1371600"/>
            <a:ext cx="777240" cy="777240"/>
          </a:xfrm>
          <a:prstGeom prst="rect">
            <a:avLst/>
          </a:prstGeom>
          <a:noFill/>
        </p:spPr>
        <p:txBody>
          <a:bodyPr wrap="square" rtlCol="0" anchor="ctr"/>
          <a:lstStyle/>
          <a:p>
            <a:pPr marL="0" indent="0" algn="ctr">
              <a:buNone/>
            </a:pPr>
            <a:r>
              <a:rPr lang="en-US" sz="32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a:t>
            </a:r>
            <a:endParaRPr lang="en-US" sz="32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1508760" y="1298448"/>
            <a:ext cx="4617720" cy="914400"/>
          </a:xfrm>
          <a:prstGeom prst="rect">
            <a:avLst/>
          </a:prstGeom>
          <a:noFill/>
        </p:spPr>
        <p:txBody>
          <a:bodyPr wrap="square" rtlCol="0" anchor="t"/>
          <a:lstStyle/>
          <a:p>
            <a:pPr marL="0" indent="0">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Compares two numbers bit by bit. The result bit is 1 if AT LEAST ONE of the bits is 1. It's 0 only when both are 0. Simple rule: if either switch is ON, the light turns on.</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1508760" y="2350008"/>
            <a:ext cx="4617720" cy="256032"/>
          </a:xfrm>
          <a:prstGeom prst="rect">
            <a:avLst/>
          </a:prstGeom>
          <a:noFill/>
        </p:spPr>
        <p:txBody>
          <a:bodyPr wrap="square" rtlCol="0" anchor="ctr"/>
          <a:lstStyle/>
          <a:p>
            <a:pPr marL="0" indent="0">
              <a:buNone/>
            </a:pPr>
            <a:r>
              <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rPr>
              <a:t>TRUTH TABLE</a:t>
            </a:r>
            <a:endPar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9" name="Table 0"/>
          <p:cNvGraphicFramePr>
            <a:graphicFrameLocks noGrp="1"/>
          </p:cNvGraphicFramePr>
          <p:nvPr/>
        </p:nvGraphicFramePr>
        <p:xfrm>
          <a:off x="1508760" y="2642616"/>
          <a:ext cx="3108960" cy="1463040"/>
        </p:xfrm>
        <a:graphic>
          <a:graphicData uri="http://schemas.openxmlformats.org/drawingml/2006/table">
            <a:tbl>
              <a:tblPr/>
              <a:tblGrid>
                <a:gridCol w="1033272"/>
                <a:gridCol w="1033272"/>
                <a:gridCol w="1042416"/>
              </a:tblGrid>
              <a:tr h="292608">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B</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B</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bl>
          </a:graphicData>
        </a:graphic>
      </p:graphicFrame>
      <p:sp>
        <p:nvSpPr>
          <p:cNvPr id="10" name="Shape 7"/>
          <p:cNvSpPr/>
          <p:nvPr/>
        </p:nvSpPr>
        <p:spPr>
          <a:xfrm>
            <a:off x="6400800" y="1298448"/>
            <a:ext cx="5303520" cy="3246120"/>
          </a:xfrm>
          <a:prstGeom prst="roundRect">
            <a:avLst>
              <a:gd name="adj" fmla="val 2254"/>
            </a:avLst>
          </a:prstGeom>
          <a:solidFill>
            <a:srgbClr val="141522"/>
          </a:solidFill>
          <a:ln w="12700">
            <a:solidFill>
              <a:srgbClr val="3E3F58"/>
            </a:solidFill>
            <a:prstDash val="solid"/>
          </a:ln>
        </p:spPr>
      </p:sp>
      <p:sp>
        <p:nvSpPr>
          <p:cNvPr id="11" name="Text 8"/>
          <p:cNvSpPr/>
          <p:nvPr/>
        </p:nvSpPr>
        <p:spPr>
          <a:xfrm>
            <a:off x="6583680" y="1417320"/>
            <a:ext cx="4937760" cy="274320"/>
          </a:xfrm>
          <a:prstGeom prst="rect">
            <a:avLst/>
          </a:prstGeom>
          <a:noFill/>
        </p:spPr>
        <p:txBody>
          <a:bodyPr wrap="square" rtlCol="0" anchor="ctr"/>
          <a:lstStyle/>
          <a:p>
            <a:pPr marL="0" indent="0">
              <a:buNone/>
            </a:pPr>
            <a:r>
              <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rPr>
              <a:t>C CODE EXAMPLE</a:t>
            </a:r>
            <a:endPar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9"/>
          <p:cNvSpPr/>
          <p:nvPr/>
        </p:nvSpPr>
        <p:spPr>
          <a:xfrm>
            <a:off x="6583680" y="1737360"/>
            <a:ext cx="4937760" cy="2423160"/>
          </a:xfrm>
          <a:prstGeom prst="rect">
            <a:avLst/>
          </a:prstGeom>
          <a:noFill/>
        </p:spPr>
        <p:txBody>
          <a:bodyPr wrap="square" rtlCol="0" anchor="ctr"/>
          <a:lstStyle/>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#include &lt;stdio.h&gt;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main() {</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a = 12;   // 1100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b = 10;   // 1010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result = a | b;</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printf("%d | %d = %d",</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a, b, result);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0"/>
          <p:cNvSpPr/>
          <p:nvPr/>
        </p:nvSpPr>
        <p:spPr>
          <a:xfrm>
            <a:off x="6583680" y="4206240"/>
            <a:ext cx="4937760" cy="0"/>
          </a:xfrm>
          <a:prstGeom prst="line">
            <a:avLst/>
          </a:prstGeom>
          <a:noFill/>
          <a:ln w="9525">
            <a:solidFill>
              <a:srgbClr val="3E3F58"/>
            </a:solidFill>
            <a:prstDash val="solid"/>
          </a:ln>
        </p:spPr>
      </p:sp>
      <p:sp>
        <p:nvSpPr>
          <p:cNvPr id="14" name="Text 11"/>
          <p:cNvSpPr/>
          <p:nvPr/>
        </p:nvSpPr>
        <p:spPr>
          <a:xfrm>
            <a:off x="6583680" y="4279392"/>
            <a:ext cx="4937760" cy="228600"/>
          </a:xfrm>
          <a:prstGeom prst="rect">
            <a:avLst/>
          </a:prstGeom>
          <a:noFill/>
        </p:spPr>
        <p:txBody>
          <a:bodyPr wrap="square" rtlCol="0" anchor="ctr"/>
          <a:lstStyle/>
          <a:p>
            <a:pPr marL="0" indent="0">
              <a:buNone/>
            </a:pPr>
            <a:r>
              <a:rPr lang="en-US" sz="16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Output:  </a:t>
            </a: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12 | 10 = 14</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2"/>
          <p:cNvSpPr/>
          <p:nvPr/>
        </p:nvSpPr>
        <p:spPr>
          <a:xfrm>
            <a:off x="457200" y="4800600"/>
            <a:ext cx="5486400" cy="256032"/>
          </a:xfrm>
          <a:prstGeom prst="rect">
            <a:avLst/>
          </a:prstGeom>
          <a:noFill/>
        </p:spPr>
        <p:txBody>
          <a:bodyPr wrap="square" rtlCol="0" anchor="ctr"/>
          <a:lstStyle/>
          <a:p>
            <a:pPr marL="0" indent="0">
              <a:buNone/>
            </a:pPr>
            <a:r>
              <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rPr>
              <a:t>BIT-BY-BIT VIEW</a:t>
            </a:r>
            <a:endPar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nvSpPr>
        <p:spPr>
          <a:xfrm>
            <a:off x="457200" y="5093208"/>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1100  (12)</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4"/>
          <p:cNvSpPr/>
          <p:nvPr/>
        </p:nvSpPr>
        <p:spPr>
          <a:xfrm>
            <a:off x="457200" y="5404104"/>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b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1010  (10)</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8" name="Text 15"/>
          <p:cNvSpPr/>
          <p:nvPr/>
        </p:nvSpPr>
        <p:spPr>
          <a:xfrm>
            <a:off x="457200" y="5715000"/>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a|b=  </a:t>
            </a: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1110  (14)</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9" name="Text 16"/>
          <p:cNvSpPr/>
          <p:nvPr/>
        </p:nvSpPr>
        <p:spPr>
          <a:xfrm>
            <a:off x="457200" y="6172200"/>
            <a:ext cx="11247120" cy="411480"/>
          </a:xfrm>
          <a:prstGeom prst="rect">
            <a:avLst/>
          </a:prstGeom>
          <a:noFill/>
        </p:spPr>
        <p:txBody>
          <a:bodyPr wrap="square" rtlCol="0" anchor="ctr"/>
          <a:lstStyle/>
          <a:p>
            <a:pPr marL="0" indent="0">
              <a:buNone/>
            </a:pPr>
            <a:r>
              <a:rPr lang="en-US" sz="1400" i="1" dirty="0">
                <a:solidFill>
                  <a:srgbClr val="9B9CB5"/>
                </a:solidFill>
                <a:latin typeface="Calibri" panose="020F0502020204030204" pitchFamily="34" charset="0"/>
                <a:ea typeface="Calibri" panose="020F0502020204030204" pitchFamily="34" charset="-122"/>
                <a:cs typeface="Calibri" panose="020F0502020204030204" pitchFamily="34" charset="-120"/>
              </a:rPr>
              <a:t>Common use: SETTING (turning on) specific bits in a number.</a:t>
            </a:r>
            <a:endParaRPr lang="en-US" sz="140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66725"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BITWISE OPERATOR</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66725"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XOR Operator ( ^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76685"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07</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512445" y="1371600"/>
            <a:ext cx="777240" cy="777240"/>
          </a:xfrm>
          <a:prstGeom prst="ellipse">
            <a:avLst/>
          </a:prstGeom>
          <a:solidFill>
            <a:srgbClr val="1B1C2B"/>
          </a:solidFill>
        </p:spPr>
      </p:sp>
      <p:sp>
        <p:nvSpPr>
          <p:cNvPr id="6" name="Text 4"/>
          <p:cNvSpPr/>
          <p:nvPr/>
        </p:nvSpPr>
        <p:spPr>
          <a:xfrm>
            <a:off x="512445" y="1371600"/>
            <a:ext cx="777240" cy="777240"/>
          </a:xfrm>
          <a:prstGeom prst="rect">
            <a:avLst/>
          </a:prstGeom>
          <a:noFill/>
        </p:spPr>
        <p:txBody>
          <a:bodyPr wrap="square" rtlCol="0" anchor="ctr"/>
          <a:lstStyle/>
          <a:p>
            <a:pPr marL="0" indent="0" algn="ctr">
              <a:buNone/>
            </a:pPr>
            <a:r>
              <a:rPr lang="en-US" sz="32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rPr>
              <a:t>^</a:t>
            </a:r>
            <a:endParaRPr lang="en-US" sz="32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1518285" y="1298448"/>
            <a:ext cx="4617720" cy="914400"/>
          </a:xfrm>
          <a:prstGeom prst="rect">
            <a:avLst/>
          </a:prstGeom>
          <a:noFill/>
        </p:spPr>
        <p:txBody>
          <a:bodyPr wrap="square" rtlCol="0" anchor="t"/>
          <a:lstStyle/>
          <a:p>
            <a:pPr marL="0" indent="0">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XOR means "exclusive OR." The result bit is 1 when the two bits are DIFFERENT, and 0 when they are the SAME. Simple rule: the light turns on only if exactly one switch is ON, not both.</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1518285" y="2350008"/>
            <a:ext cx="4617720" cy="256032"/>
          </a:xfrm>
          <a:prstGeom prst="rect">
            <a:avLst/>
          </a:prstGeom>
          <a:noFill/>
        </p:spPr>
        <p:txBody>
          <a:bodyPr wrap="square" rtlCol="0" anchor="ctr"/>
          <a:lstStyle/>
          <a:p>
            <a:pPr marL="0" indent="0">
              <a:buNone/>
            </a:pPr>
            <a:r>
              <a:rPr lang="en-US" sz="1400" b="1" kern="0" spc="100" dirty="0">
                <a:solidFill>
                  <a:srgbClr val="61AFEF"/>
                </a:solidFill>
                <a:latin typeface="Calibri" panose="020F0502020204030204" pitchFamily="34" charset="0"/>
                <a:ea typeface="Calibri" panose="020F0502020204030204" pitchFamily="34" charset="-122"/>
                <a:cs typeface="Calibri" panose="020F0502020204030204" pitchFamily="34" charset="-120"/>
              </a:rPr>
              <a:t>TRUTH TABLE</a:t>
            </a:r>
            <a:endParaRPr lang="en-US" sz="1400" b="1" kern="0" spc="100" dirty="0">
              <a:solidFill>
                <a:srgbClr val="61AFEF"/>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9" name="Table 0"/>
          <p:cNvGraphicFramePr>
            <a:graphicFrameLocks noGrp="1"/>
          </p:cNvGraphicFramePr>
          <p:nvPr/>
        </p:nvGraphicFramePr>
        <p:xfrm>
          <a:off x="1518285" y="2642616"/>
          <a:ext cx="3108960" cy="1463040"/>
        </p:xfrm>
        <a:graphic>
          <a:graphicData uri="http://schemas.openxmlformats.org/drawingml/2006/table">
            <a:tbl>
              <a:tblPr/>
              <a:tblGrid>
                <a:gridCol w="1033272"/>
                <a:gridCol w="1033272"/>
                <a:gridCol w="1042416"/>
              </a:tblGrid>
              <a:tr h="292608">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B</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B</a:t>
                      </a:r>
                      <a:endParaRPr lang="en-US" sz="14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292608">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ctr">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bl>
          </a:graphicData>
        </a:graphic>
      </p:graphicFrame>
      <p:sp>
        <p:nvSpPr>
          <p:cNvPr id="10" name="Shape 7"/>
          <p:cNvSpPr/>
          <p:nvPr/>
        </p:nvSpPr>
        <p:spPr>
          <a:xfrm>
            <a:off x="6410325" y="1298448"/>
            <a:ext cx="5303520" cy="3246120"/>
          </a:xfrm>
          <a:prstGeom prst="roundRect">
            <a:avLst>
              <a:gd name="adj" fmla="val 2254"/>
            </a:avLst>
          </a:prstGeom>
          <a:solidFill>
            <a:srgbClr val="141522"/>
          </a:solidFill>
          <a:ln w="12700">
            <a:solidFill>
              <a:srgbClr val="3E3F58"/>
            </a:solidFill>
            <a:prstDash val="solid"/>
          </a:ln>
        </p:spPr>
      </p:sp>
      <p:sp>
        <p:nvSpPr>
          <p:cNvPr id="11" name="Text 8"/>
          <p:cNvSpPr/>
          <p:nvPr/>
        </p:nvSpPr>
        <p:spPr>
          <a:xfrm>
            <a:off x="6593205" y="1417320"/>
            <a:ext cx="4937760" cy="274320"/>
          </a:xfrm>
          <a:prstGeom prst="rect">
            <a:avLst/>
          </a:prstGeom>
          <a:noFill/>
        </p:spPr>
        <p:txBody>
          <a:bodyPr wrap="square" rtlCol="0" anchor="ctr"/>
          <a:lstStyle/>
          <a:p>
            <a:pPr marL="0" indent="0">
              <a:buNone/>
            </a:pPr>
            <a:r>
              <a:rPr lang="en-US" sz="1400" b="1" kern="0" spc="100" dirty="0">
                <a:solidFill>
                  <a:srgbClr val="61AFEF"/>
                </a:solidFill>
                <a:latin typeface="Calibri" panose="020F0502020204030204" pitchFamily="34" charset="0"/>
                <a:ea typeface="Calibri" panose="020F0502020204030204" pitchFamily="34" charset="-122"/>
                <a:cs typeface="Calibri" panose="020F0502020204030204" pitchFamily="34" charset="-120"/>
              </a:rPr>
              <a:t>C CODE EXAMPLE</a:t>
            </a:r>
            <a:endParaRPr lang="en-US" sz="1400" b="1" kern="0" spc="100" dirty="0">
              <a:solidFill>
                <a:srgbClr val="61AFE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9"/>
          <p:cNvSpPr/>
          <p:nvPr/>
        </p:nvSpPr>
        <p:spPr>
          <a:xfrm>
            <a:off x="6593205" y="1737360"/>
            <a:ext cx="4937760" cy="2423160"/>
          </a:xfrm>
          <a:prstGeom prst="rect">
            <a:avLst/>
          </a:prstGeom>
          <a:noFill/>
        </p:spPr>
        <p:txBody>
          <a:bodyPr wrap="square" rtlCol="0" anchor="ctr"/>
          <a:lstStyle/>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#include &lt;stdio.h&gt;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main() {</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a = 12;   // 1100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b = 10;   // 1010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result = a ^ b;</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printf("%d ^ %d = %d",</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a, b, result);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0"/>
          <p:cNvSpPr/>
          <p:nvPr/>
        </p:nvSpPr>
        <p:spPr>
          <a:xfrm>
            <a:off x="6593205" y="4206240"/>
            <a:ext cx="4937760" cy="0"/>
          </a:xfrm>
          <a:prstGeom prst="line">
            <a:avLst/>
          </a:prstGeom>
          <a:noFill/>
          <a:ln w="9525">
            <a:solidFill>
              <a:srgbClr val="3E3F58"/>
            </a:solidFill>
            <a:prstDash val="solid"/>
          </a:ln>
        </p:spPr>
      </p:sp>
      <p:sp>
        <p:nvSpPr>
          <p:cNvPr id="14" name="Text 11"/>
          <p:cNvSpPr/>
          <p:nvPr/>
        </p:nvSpPr>
        <p:spPr>
          <a:xfrm>
            <a:off x="6593205" y="4279392"/>
            <a:ext cx="4937760" cy="228600"/>
          </a:xfrm>
          <a:prstGeom prst="rect">
            <a:avLst/>
          </a:prstGeom>
          <a:noFill/>
        </p:spPr>
        <p:txBody>
          <a:bodyPr wrap="square" rtlCol="0" anchor="ctr"/>
          <a:lstStyle/>
          <a:p>
            <a:pPr marL="0" indent="0">
              <a:buNone/>
            </a:pPr>
            <a:r>
              <a:rPr lang="en-US" sz="16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Output:  </a:t>
            </a:r>
            <a:r>
              <a:rPr lang="en-US" sz="16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rPr>
              <a:t>12 ^ 10 = 6</a:t>
            </a:r>
            <a:endParaRPr lang="en-US" sz="16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2"/>
          <p:cNvSpPr/>
          <p:nvPr/>
        </p:nvSpPr>
        <p:spPr>
          <a:xfrm>
            <a:off x="466725" y="4800600"/>
            <a:ext cx="5486400" cy="256032"/>
          </a:xfrm>
          <a:prstGeom prst="rect">
            <a:avLst/>
          </a:prstGeom>
          <a:noFill/>
        </p:spPr>
        <p:txBody>
          <a:bodyPr wrap="square" rtlCol="0" anchor="ctr"/>
          <a:lstStyle/>
          <a:p>
            <a:pPr marL="0" indent="0">
              <a:buNone/>
            </a:pPr>
            <a:r>
              <a:rPr lang="en-US" sz="1400" b="1" kern="0" spc="100" dirty="0">
                <a:solidFill>
                  <a:srgbClr val="61AFEF"/>
                </a:solidFill>
                <a:latin typeface="Calibri" panose="020F0502020204030204" pitchFamily="34" charset="0"/>
                <a:ea typeface="Calibri" panose="020F0502020204030204" pitchFamily="34" charset="-122"/>
                <a:cs typeface="Calibri" panose="020F0502020204030204" pitchFamily="34" charset="-120"/>
              </a:rPr>
              <a:t>BIT-BY-BIT VIEW</a:t>
            </a:r>
            <a:endParaRPr lang="en-US" sz="1400" b="1" kern="0" spc="100" dirty="0">
              <a:solidFill>
                <a:srgbClr val="61AFEF"/>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3"/>
          <p:cNvSpPr/>
          <p:nvPr/>
        </p:nvSpPr>
        <p:spPr>
          <a:xfrm>
            <a:off x="466725" y="5093208"/>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1100  (12)</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4"/>
          <p:cNvSpPr/>
          <p:nvPr/>
        </p:nvSpPr>
        <p:spPr>
          <a:xfrm>
            <a:off x="466725" y="5404104"/>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b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1010  (10)</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8" name="Text 15"/>
          <p:cNvSpPr/>
          <p:nvPr/>
        </p:nvSpPr>
        <p:spPr>
          <a:xfrm>
            <a:off x="466725" y="5715000"/>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a^b=  </a:t>
            </a:r>
            <a:r>
              <a:rPr lang="en-US" sz="16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rPr>
              <a:t>0110  (6)</a:t>
            </a:r>
            <a:endParaRPr lang="en-US" sz="1600" b="1" dirty="0">
              <a:solidFill>
                <a:srgbClr val="61AFE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9" name="Text 16"/>
          <p:cNvSpPr/>
          <p:nvPr/>
        </p:nvSpPr>
        <p:spPr>
          <a:xfrm>
            <a:off x="466725" y="6172200"/>
            <a:ext cx="11247120" cy="411480"/>
          </a:xfrm>
          <a:prstGeom prst="rect">
            <a:avLst/>
          </a:prstGeom>
          <a:noFill/>
        </p:spPr>
        <p:txBody>
          <a:bodyPr wrap="square" rtlCol="0" anchor="ctr"/>
          <a:lstStyle/>
          <a:p>
            <a:pPr marL="0" indent="0">
              <a:buNone/>
            </a:pPr>
            <a:r>
              <a:rPr lang="en-US" sz="1400" i="1" dirty="0">
                <a:solidFill>
                  <a:srgbClr val="9B9CB5"/>
                </a:solidFill>
                <a:latin typeface="Calibri" panose="020F0502020204030204" pitchFamily="34" charset="0"/>
                <a:ea typeface="Calibri" panose="020F0502020204030204" pitchFamily="34" charset="-122"/>
                <a:cs typeface="Calibri" panose="020F0502020204030204" pitchFamily="34" charset="-120"/>
              </a:rPr>
              <a:t>Fun fact: a ^ a = 0 always. This trick lets you swap two variables without a temp variable.</a:t>
            </a:r>
            <a:endParaRPr lang="en-US" sz="140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BITWISE OPERATOR</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NOT Operator ( ~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06</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502920" y="1371600"/>
            <a:ext cx="777240" cy="777240"/>
          </a:xfrm>
          <a:prstGeom prst="ellipse">
            <a:avLst/>
          </a:prstGeom>
          <a:solidFill>
            <a:srgbClr val="1B1C2B"/>
          </a:solidFill>
        </p:spPr>
      </p:sp>
      <p:sp>
        <p:nvSpPr>
          <p:cNvPr id="6" name="Text 4"/>
          <p:cNvSpPr/>
          <p:nvPr/>
        </p:nvSpPr>
        <p:spPr>
          <a:xfrm>
            <a:off x="502920" y="1371600"/>
            <a:ext cx="777240" cy="777240"/>
          </a:xfrm>
          <a:prstGeom prst="rect">
            <a:avLst/>
          </a:prstGeom>
          <a:noFill/>
        </p:spPr>
        <p:txBody>
          <a:bodyPr wrap="square" rtlCol="0" anchor="ctr"/>
          <a:lstStyle/>
          <a:p>
            <a:pPr marL="0" indent="0" algn="ctr">
              <a:buNone/>
            </a:pPr>
            <a:r>
              <a:rPr lang="en-US" sz="32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rPr>
              <a:t>~</a:t>
            </a:r>
            <a:endParaRPr lang="en-US" sz="32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1508760" y="1298448"/>
            <a:ext cx="4617720" cy="1234440"/>
          </a:xfrm>
          <a:prstGeom prst="rect">
            <a:avLst/>
          </a:prstGeom>
          <a:noFill/>
        </p:spPr>
        <p:txBody>
          <a:bodyPr wrap="square" rtlCol="0" anchor="t"/>
          <a:lstStyle/>
          <a:p>
            <a:pPr marL="0" indent="0">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NOT works on just ONE number (a unary operator). It flips every single bit: every 0 becomes 1, and every 1 becomes 0. This is called the "one's complement." Because C stores negative numbers in two's complement form, flipping all bits of a number gives  −(a + 1).</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00800" y="1298448"/>
            <a:ext cx="5303520" cy="3246120"/>
          </a:xfrm>
          <a:prstGeom prst="roundRect">
            <a:avLst>
              <a:gd name="adj" fmla="val 2254"/>
            </a:avLst>
          </a:prstGeom>
          <a:solidFill>
            <a:srgbClr val="141522"/>
          </a:solidFill>
          <a:ln w="12700">
            <a:solidFill>
              <a:srgbClr val="3E3F58"/>
            </a:solidFill>
            <a:prstDash val="solid"/>
          </a:ln>
        </p:spPr>
      </p:sp>
      <p:sp>
        <p:nvSpPr>
          <p:cNvPr id="9" name="Text 7"/>
          <p:cNvSpPr/>
          <p:nvPr/>
        </p:nvSpPr>
        <p:spPr>
          <a:xfrm>
            <a:off x="6583680" y="1417320"/>
            <a:ext cx="4937760" cy="274320"/>
          </a:xfrm>
          <a:prstGeom prst="rect">
            <a:avLst/>
          </a:prstGeom>
          <a:noFill/>
        </p:spPr>
        <p:txBody>
          <a:bodyPr wrap="square" rtlCol="0" anchor="ctr"/>
          <a:lstStyle/>
          <a:p>
            <a:pPr marL="0" indent="0">
              <a:buNone/>
            </a:pPr>
            <a:r>
              <a:rPr lang="en-US" sz="1400" b="1" kern="0" spc="100" dirty="0">
                <a:solidFill>
                  <a:srgbClr val="F27DA0"/>
                </a:solidFill>
                <a:latin typeface="Calibri" panose="020F0502020204030204" pitchFamily="34" charset="0"/>
                <a:ea typeface="Calibri" panose="020F0502020204030204" pitchFamily="34" charset="-122"/>
                <a:cs typeface="Calibri" panose="020F0502020204030204" pitchFamily="34" charset="-120"/>
              </a:rPr>
              <a:t>C CODE EXAMPLE</a:t>
            </a:r>
            <a:endParaRPr lang="en-US" sz="1400" b="1" kern="0" spc="100" dirty="0">
              <a:solidFill>
                <a:srgbClr val="F27DA0"/>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6583680" y="1737360"/>
            <a:ext cx="4937760" cy="2423160"/>
          </a:xfrm>
          <a:prstGeom prst="rect">
            <a:avLst/>
          </a:prstGeom>
          <a:noFill/>
        </p:spPr>
        <p:txBody>
          <a:bodyPr wrap="square" rtlCol="0" anchor="ctr"/>
          <a:lstStyle/>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#include &lt;stdio.h&gt;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main() {</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a = 12;</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result = ~a;</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printf("~%d = %d",</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a, result);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583680" y="4206240"/>
            <a:ext cx="4937760" cy="0"/>
          </a:xfrm>
          <a:prstGeom prst="line">
            <a:avLst/>
          </a:prstGeom>
          <a:noFill/>
          <a:ln w="9525">
            <a:solidFill>
              <a:srgbClr val="3E3F58"/>
            </a:solidFill>
            <a:prstDash val="solid"/>
          </a:ln>
        </p:spPr>
      </p:sp>
      <p:sp>
        <p:nvSpPr>
          <p:cNvPr id="12" name="Text 10"/>
          <p:cNvSpPr/>
          <p:nvPr/>
        </p:nvSpPr>
        <p:spPr>
          <a:xfrm>
            <a:off x="6583680" y="4279392"/>
            <a:ext cx="4937760" cy="228600"/>
          </a:xfrm>
          <a:prstGeom prst="rect">
            <a:avLst/>
          </a:prstGeom>
          <a:noFill/>
        </p:spPr>
        <p:txBody>
          <a:bodyPr wrap="square" rtlCol="0" anchor="ctr"/>
          <a:lstStyle/>
          <a:p>
            <a:pPr marL="0" indent="0">
              <a:buNone/>
            </a:pPr>
            <a:r>
              <a:rPr lang="en-US" sz="16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Output:  </a:t>
            </a:r>
            <a:r>
              <a:rPr lang="en-US" sz="16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rPr>
              <a:t>~12 = -13</a:t>
            </a:r>
            <a:endParaRPr lang="en-US" sz="16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1"/>
          <p:cNvSpPr/>
          <p:nvPr/>
        </p:nvSpPr>
        <p:spPr>
          <a:xfrm>
            <a:off x="457200" y="4800600"/>
            <a:ext cx="5486400" cy="256032"/>
          </a:xfrm>
          <a:prstGeom prst="rect">
            <a:avLst/>
          </a:prstGeom>
          <a:noFill/>
        </p:spPr>
        <p:txBody>
          <a:bodyPr wrap="square" rtlCol="0" anchor="ctr"/>
          <a:lstStyle/>
          <a:p>
            <a:pPr marL="0" indent="0">
              <a:buNone/>
            </a:pPr>
            <a:r>
              <a:rPr lang="en-US" sz="1400" b="1" kern="0" spc="100" dirty="0">
                <a:solidFill>
                  <a:srgbClr val="F27DA0"/>
                </a:solidFill>
                <a:latin typeface="Calibri" panose="020F0502020204030204" pitchFamily="34" charset="0"/>
                <a:ea typeface="Calibri" panose="020F0502020204030204" pitchFamily="34" charset="-122"/>
                <a:cs typeface="Calibri" panose="020F0502020204030204" pitchFamily="34" charset="-120"/>
              </a:rPr>
              <a:t>BIT-BY-BIT VIEW</a:t>
            </a:r>
            <a:endParaRPr lang="en-US" sz="1400" b="1" kern="0" spc="100" dirty="0">
              <a:solidFill>
                <a:srgbClr val="F27DA0"/>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457200" y="5093208"/>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00000000 00000000 00000000 00001100</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457200" y="5404104"/>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rPr>
              <a:t>11111111 11111111 11111111 11110011</a:t>
            </a:r>
            <a:endParaRPr lang="en-US" sz="1600" b="1" dirty="0">
              <a:solidFill>
                <a:srgbClr val="F27DA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4"/>
          <p:cNvSpPr/>
          <p:nvPr/>
        </p:nvSpPr>
        <p:spPr>
          <a:xfrm>
            <a:off x="457200" y="6172200"/>
            <a:ext cx="11247120" cy="411480"/>
          </a:xfrm>
          <a:prstGeom prst="rect">
            <a:avLst/>
          </a:prstGeom>
          <a:noFill/>
        </p:spPr>
        <p:txBody>
          <a:bodyPr wrap="square" rtlCol="0" anchor="ctr"/>
          <a:lstStyle/>
          <a:p>
            <a:pPr marL="0" indent="0">
              <a:buNone/>
            </a:pPr>
            <a:r>
              <a:rPr lang="en-US" sz="1400" i="1" dirty="0">
                <a:solidFill>
                  <a:srgbClr val="9B9CB5"/>
                </a:solidFill>
                <a:latin typeface="Calibri" panose="020F0502020204030204" pitchFamily="34" charset="0"/>
                <a:ea typeface="Calibri" panose="020F0502020204030204" pitchFamily="34" charset="-122"/>
                <a:cs typeface="Calibri" panose="020F0502020204030204" pitchFamily="34" charset="-120"/>
              </a:rPr>
              <a:t>Rule of thumb:  ~a  is always equal to  −(a + 1).</a:t>
            </a:r>
            <a:endParaRPr lang="en-US" sz="140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BITWISE OPERATOR</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Left Shift ( &lt;&lt;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08</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502920" y="1371600"/>
            <a:ext cx="777240" cy="777240"/>
          </a:xfrm>
          <a:prstGeom prst="ellipse">
            <a:avLst/>
          </a:prstGeom>
          <a:solidFill>
            <a:srgbClr val="1B1C2B"/>
          </a:solidFill>
        </p:spPr>
      </p:sp>
      <p:sp>
        <p:nvSpPr>
          <p:cNvPr id="6" name="Text 4"/>
          <p:cNvSpPr/>
          <p:nvPr/>
        </p:nvSpPr>
        <p:spPr>
          <a:xfrm>
            <a:off x="502920" y="1371600"/>
            <a:ext cx="777240" cy="777240"/>
          </a:xfrm>
          <a:prstGeom prst="rect">
            <a:avLst/>
          </a:prstGeom>
          <a:noFill/>
        </p:spPr>
        <p:txBody>
          <a:bodyPr wrap="square" rtlCol="0" anchor="ctr"/>
          <a:lstStyle/>
          <a:p>
            <a:pPr marL="0" indent="0" algn="ctr">
              <a:buNone/>
            </a:pPr>
            <a:r>
              <a:rPr lang="en-US" sz="28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&lt;&lt;</a:t>
            </a:r>
            <a:endParaRPr lang="en-US" sz="28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1508760" y="1298448"/>
            <a:ext cx="4617720" cy="1188720"/>
          </a:xfrm>
          <a:prstGeom prst="rect">
            <a:avLst/>
          </a:prstGeom>
          <a:noFill/>
        </p:spPr>
        <p:txBody>
          <a:bodyPr wrap="square" rtlCol="0" anchor="t"/>
          <a:lstStyle/>
          <a:p>
            <a:pPr marL="0" indent="0">
              <a:buNone/>
            </a:pPr>
            <a:r>
              <a:rPr lang="en-US" dirty="0">
                <a:solidFill>
                  <a:srgbClr val="F2F2F2"/>
                </a:solidFill>
                <a:latin typeface="Calibri" panose="020F0502020204030204" pitchFamily="34" charset="0"/>
                <a:ea typeface="Calibri" panose="020F0502020204030204" pitchFamily="34" charset="-122"/>
                <a:cs typeface="Calibri" panose="020F0502020204030204" pitchFamily="34" charset="-120"/>
              </a:rPr>
              <a:t>Left shift moves every bit to the LEFT by a given number of positions, and fills the empty spots on the right with 0. Shifting left by n positions is the same as multiplying the number by 2ⁿ.</a:t>
            </a:r>
            <a:endParaRPr lang="en-US"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00800" y="1298448"/>
            <a:ext cx="5303520" cy="3246120"/>
          </a:xfrm>
          <a:prstGeom prst="roundRect">
            <a:avLst>
              <a:gd name="adj" fmla="val 2254"/>
            </a:avLst>
          </a:prstGeom>
          <a:solidFill>
            <a:srgbClr val="141522"/>
          </a:solidFill>
          <a:ln w="12700">
            <a:solidFill>
              <a:srgbClr val="3E3F58"/>
            </a:solidFill>
            <a:prstDash val="solid"/>
          </a:ln>
        </p:spPr>
      </p:sp>
      <p:sp>
        <p:nvSpPr>
          <p:cNvPr id="9" name="Text 7"/>
          <p:cNvSpPr/>
          <p:nvPr/>
        </p:nvSpPr>
        <p:spPr>
          <a:xfrm>
            <a:off x="6583680" y="1417320"/>
            <a:ext cx="4937760" cy="274320"/>
          </a:xfrm>
          <a:prstGeom prst="rect">
            <a:avLst/>
          </a:prstGeom>
          <a:noFill/>
        </p:spPr>
        <p:txBody>
          <a:bodyPr wrap="square" rtlCol="0" anchor="ctr"/>
          <a:lstStyle/>
          <a:p>
            <a:pPr marL="0" indent="0">
              <a:buNone/>
            </a:pPr>
            <a:r>
              <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rPr>
              <a:t>C CODE EXAMPLE</a:t>
            </a:r>
            <a:endPar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6583680" y="1737360"/>
            <a:ext cx="4937760" cy="2423160"/>
          </a:xfrm>
          <a:prstGeom prst="rect">
            <a:avLst/>
          </a:prstGeom>
          <a:noFill/>
        </p:spPr>
        <p:txBody>
          <a:bodyPr wrap="square" rtlCol="0" anchor="ctr"/>
          <a:lstStyle/>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#include &lt;stdio.h&gt;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main() {</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a = 5;        // 00000101</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result = a &lt;&lt; 2;</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printf("%d &lt;&lt; 2 = %d",</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a, result);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583680" y="4206240"/>
            <a:ext cx="4937760" cy="0"/>
          </a:xfrm>
          <a:prstGeom prst="line">
            <a:avLst/>
          </a:prstGeom>
          <a:noFill/>
          <a:ln w="9525">
            <a:solidFill>
              <a:srgbClr val="3E3F58"/>
            </a:solidFill>
            <a:prstDash val="solid"/>
          </a:ln>
        </p:spPr>
      </p:sp>
      <p:sp>
        <p:nvSpPr>
          <p:cNvPr id="12" name="Text 10"/>
          <p:cNvSpPr/>
          <p:nvPr/>
        </p:nvSpPr>
        <p:spPr>
          <a:xfrm>
            <a:off x="6583680" y="4279392"/>
            <a:ext cx="4937760" cy="228600"/>
          </a:xfrm>
          <a:prstGeom prst="rect">
            <a:avLst/>
          </a:prstGeom>
          <a:noFill/>
        </p:spPr>
        <p:txBody>
          <a:bodyPr wrap="square" rtlCol="0" anchor="ctr"/>
          <a:lstStyle/>
          <a:p>
            <a:pPr marL="0" indent="0">
              <a:buNone/>
            </a:pPr>
            <a:r>
              <a:rPr lang="en-US" sz="16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Output:  </a:t>
            </a: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5 &lt;&lt; 2 = 20</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1"/>
          <p:cNvSpPr/>
          <p:nvPr/>
        </p:nvSpPr>
        <p:spPr>
          <a:xfrm>
            <a:off x="457200" y="4800600"/>
            <a:ext cx="5486400" cy="256032"/>
          </a:xfrm>
          <a:prstGeom prst="rect">
            <a:avLst/>
          </a:prstGeom>
          <a:noFill/>
        </p:spPr>
        <p:txBody>
          <a:bodyPr wrap="square" rtlCol="0" anchor="ctr"/>
          <a:lstStyle/>
          <a:p>
            <a:pPr marL="0" indent="0">
              <a:buNone/>
            </a:pPr>
            <a:r>
              <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rPr>
              <a:t>BIT-BY-BIT VIEW</a:t>
            </a:r>
            <a:endPar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457200" y="5093208"/>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00000101   (5)</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457200" y="5404104"/>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&lt;&lt; 2 =  </a:t>
            </a: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00010100   (20)</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4"/>
          <p:cNvSpPr/>
          <p:nvPr/>
        </p:nvSpPr>
        <p:spPr>
          <a:xfrm>
            <a:off x="457200" y="6172200"/>
            <a:ext cx="11247120" cy="411480"/>
          </a:xfrm>
          <a:prstGeom prst="rect">
            <a:avLst/>
          </a:prstGeom>
          <a:noFill/>
        </p:spPr>
        <p:txBody>
          <a:bodyPr wrap="square" rtlCol="0" anchor="ctr"/>
          <a:lstStyle/>
          <a:p>
            <a:pPr marL="0" indent="0">
              <a:buNone/>
            </a:pPr>
            <a:r>
              <a:rPr lang="en-US" sz="2400" i="1" dirty="0">
                <a:solidFill>
                  <a:srgbClr val="9B9CB5"/>
                </a:solidFill>
                <a:latin typeface="Calibri" panose="020F0502020204030204" pitchFamily="34" charset="0"/>
                <a:ea typeface="Calibri" panose="020F0502020204030204" pitchFamily="34" charset="-122"/>
                <a:cs typeface="Calibri" panose="020F0502020204030204" pitchFamily="34" charset="-120"/>
              </a:rPr>
              <a:t>Quick formula:  a &lt;&lt; n   is the same as   a × 2ⁿ    (here, 5 × 2² = 20).</a:t>
            </a:r>
            <a:endParaRPr lang="en-US" sz="240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BITWISE OPERATOR</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Right Shift ( &gt;&gt; )</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09</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502920" y="1371600"/>
            <a:ext cx="777240" cy="777240"/>
          </a:xfrm>
          <a:prstGeom prst="ellipse">
            <a:avLst/>
          </a:prstGeom>
          <a:solidFill>
            <a:srgbClr val="1B1C2B"/>
          </a:solidFill>
        </p:spPr>
      </p:sp>
      <p:sp>
        <p:nvSpPr>
          <p:cNvPr id="6" name="Text 4"/>
          <p:cNvSpPr/>
          <p:nvPr/>
        </p:nvSpPr>
        <p:spPr>
          <a:xfrm>
            <a:off x="502920" y="1371600"/>
            <a:ext cx="777240" cy="777240"/>
          </a:xfrm>
          <a:prstGeom prst="rect">
            <a:avLst/>
          </a:prstGeom>
          <a:noFill/>
        </p:spPr>
        <p:txBody>
          <a:bodyPr wrap="square" rtlCol="0" anchor="ctr"/>
          <a:lstStyle/>
          <a:p>
            <a:pPr marL="0" indent="0" algn="ctr">
              <a:buNone/>
            </a:pPr>
            <a:r>
              <a:rPr lang="en-US" sz="28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&gt;&gt;</a:t>
            </a:r>
            <a:endParaRPr lang="en-US" sz="28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1508760" y="1298448"/>
            <a:ext cx="4617720" cy="1188720"/>
          </a:xfrm>
          <a:prstGeom prst="rect">
            <a:avLst/>
          </a:prstGeom>
          <a:noFill/>
        </p:spPr>
        <p:txBody>
          <a:bodyPr wrap="square" rtlCol="0" anchor="t"/>
          <a:lstStyle/>
          <a:p>
            <a:pPr marL="0" indent="0">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Right shift moves every bit to the RIGHT by a given number of positions. For positive numbers the empty spots on the left are filled with 0. Shifting right by n positions is the same as dividing the number by 2ⁿ (dropping any remainder).</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00800" y="1298448"/>
            <a:ext cx="5303520" cy="3246120"/>
          </a:xfrm>
          <a:prstGeom prst="roundRect">
            <a:avLst>
              <a:gd name="adj" fmla="val 2254"/>
            </a:avLst>
          </a:prstGeom>
          <a:solidFill>
            <a:srgbClr val="141522"/>
          </a:solidFill>
          <a:ln w="12700">
            <a:solidFill>
              <a:srgbClr val="3E3F58"/>
            </a:solidFill>
            <a:prstDash val="solid"/>
          </a:ln>
        </p:spPr>
      </p:sp>
      <p:sp>
        <p:nvSpPr>
          <p:cNvPr id="9" name="Text 7"/>
          <p:cNvSpPr/>
          <p:nvPr/>
        </p:nvSpPr>
        <p:spPr>
          <a:xfrm>
            <a:off x="6583680" y="1417320"/>
            <a:ext cx="4937760" cy="274320"/>
          </a:xfrm>
          <a:prstGeom prst="rect">
            <a:avLst/>
          </a:prstGeom>
          <a:noFill/>
        </p:spPr>
        <p:txBody>
          <a:bodyPr wrap="square" rtlCol="0" anchor="ctr"/>
          <a:lstStyle/>
          <a:p>
            <a:pPr marL="0" indent="0">
              <a:buNone/>
            </a:pPr>
            <a:r>
              <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rPr>
              <a:t>C CODE EXAMPLE</a:t>
            </a:r>
            <a:endPar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6583680" y="1737360"/>
            <a:ext cx="4937760" cy="2423160"/>
          </a:xfrm>
          <a:prstGeom prst="rect">
            <a:avLst/>
          </a:prstGeom>
          <a:noFill/>
        </p:spPr>
        <p:txBody>
          <a:bodyPr wrap="square" rtlCol="0" anchor="ctr"/>
          <a:lstStyle/>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#include &lt;stdio.h&gt;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main() {</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a = 20;       // 00010100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int result = a &gt;&gt; 2;</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printf("%d &gt;&gt; 2 = %d",</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a, result);</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400" dirty="0"/>
          </a:p>
          <a:p>
            <a:pPr marL="0" indent="0">
              <a:lnSpc>
                <a:spcPct val="120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583680" y="4206240"/>
            <a:ext cx="4937760" cy="0"/>
          </a:xfrm>
          <a:prstGeom prst="line">
            <a:avLst/>
          </a:prstGeom>
          <a:noFill/>
          <a:ln w="9525">
            <a:solidFill>
              <a:srgbClr val="3E3F58"/>
            </a:solidFill>
            <a:prstDash val="solid"/>
          </a:ln>
        </p:spPr>
      </p:sp>
      <p:sp>
        <p:nvSpPr>
          <p:cNvPr id="12" name="Text 10"/>
          <p:cNvSpPr/>
          <p:nvPr/>
        </p:nvSpPr>
        <p:spPr>
          <a:xfrm>
            <a:off x="6583680" y="4279392"/>
            <a:ext cx="4937760" cy="228600"/>
          </a:xfrm>
          <a:prstGeom prst="rect">
            <a:avLst/>
          </a:prstGeom>
          <a:noFill/>
        </p:spPr>
        <p:txBody>
          <a:bodyPr wrap="square" rtlCol="0" anchor="ctr"/>
          <a:lstStyle/>
          <a:p>
            <a:pPr marL="0" indent="0">
              <a:buNone/>
            </a:pPr>
            <a:r>
              <a:rPr lang="en-US" sz="1600" b="1"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Output:  </a:t>
            </a: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20 &gt;&gt; 2 = 5</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1"/>
          <p:cNvSpPr/>
          <p:nvPr/>
        </p:nvSpPr>
        <p:spPr>
          <a:xfrm>
            <a:off x="457200" y="4800600"/>
            <a:ext cx="5486400" cy="256032"/>
          </a:xfrm>
          <a:prstGeom prst="rect">
            <a:avLst/>
          </a:prstGeom>
          <a:noFill/>
        </p:spPr>
        <p:txBody>
          <a:bodyPr wrap="square" rtlCol="0" anchor="ctr"/>
          <a:lstStyle/>
          <a:p>
            <a:pPr marL="0" indent="0">
              <a:buNone/>
            </a:pPr>
            <a:r>
              <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rPr>
              <a:t>BIT-BY-BIT VIEW</a:t>
            </a:r>
            <a:endPar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457200" y="5093208"/>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  </a:t>
            </a: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00010100   (20)</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457200" y="5404104"/>
            <a:ext cx="7772400" cy="292608"/>
          </a:xfrm>
          <a:prstGeom prst="rect">
            <a:avLst/>
          </a:prstGeom>
          <a:noFill/>
        </p:spPr>
        <p:txBody>
          <a:bodyPr wrap="square" rtlCol="0" anchor="ctr"/>
          <a:lstStyle/>
          <a:p>
            <a:pPr marL="0" indent="0">
              <a:buNone/>
            </a:pPr>
            <a:r>
              <a:rPr lang="en-US" sz="16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a &gt;&gt; 2 =  </a:t>
            </a: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00000101   (5)</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4"/>
          <p:cNvSpPr/>
          <p:nvPr/>
        </p:nvSpPr>
        <p:spPr>
          <a:xfrm>
            <a:off x="457200" y="6172200"/>
            <a:ext cx="11247120" cy="411480"/>
          </a:xfrm>
          <a:prstGeom prst="rect">
            <a:avLst/>
          </a:prstGeom>
          <a:noFill/>
        </p:spPr>
        <p:txBody>
          <a:bodyPr wrap="square" rtlCol="0" anchor="ctr"/>
          <a:lstStyle/>
          <a:p>
            <a:pPr marL="0" indent="0">
              <a:buNone/>
            </a:pPr>
            <a:r>
              <a:rPr lang="en-US" sz="2400" i="1" dirty="0">
                <a:solidFill>
                  <a:srgbClr val="9B9CB5"/>
                </a:solidFill>
                <a:latin typeface="Calibri" panose="020F0502020204030204" pitchFamily="34" charset="0"/>
                <a:ea typeface="Calibri" panose="020F0502020204030204" pitchFamily="34" charset="-122"/>
                <a:cs typeface="Calibri" panose="020F0502020204030204" pitchFamily="34" charset="-120"/>
              </a:rPr>
              <a:t>Quick formula:  a &gt;&gt; n   is the same as   a ÷ 2ⁿ    (here, 20 ÷ 2² = 5).</a:t>
            </a:r>
            <a:endParaRPr lang="en-US" sz="240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r>
              <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rPr>
              <a:t>SUMMARY</a:t>
            </a:r>
            <a:endParaRPr lang="en-US" sz="1600" b="1" kern="0" spc="2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Bitwise Operators — Cheat Sheet</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graphicFrame>
        <p:nvGraphicFramePr>
          <p:cNvPr id="11" name="Table 0"/>
          <p:cNvGraphicFramePr>
            <a:graphicFrameLocks noGrp="1"/>
          </p:cNvGraphicFramePr>
          <p:nvPr/>
        </p:nvGraphicFramePr>
        <p:xfrm>
          <a:off x="457200" y="1417320"/>
          <a:ext cx="11247120" cy="3200400"/>
        </p:xfrm>
        <a:graphic>
          <a:graphicData uri="http://schemas.openxmlformats.org/drawingml/2006/table">
            <a:tbl>
              <a:tblPr/>
              <a:tblGrid>
                <a:gridCol w="2194560"/>
                <a:gridCol w="1371600"/>
                <a:gridCol w="5120640"/>
                <a:gridCol w="2560320"/>
              </a:tblGrid>
              <a:tr h="457200">
                <a:tc>
                  <a:txBody>
                    <a:bodyPr/>
                    <a:lstStyle/>
                    <a:p>
                      <a:pPr marL="0" indent="0" algn="l">
                        <a:buNone/>
                      </a:pPr>
                      <a:r>
                        <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rPr>
                        <a:t>Operator</a:t>
                      </a:r>
                      <a:endPar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4FD6C4"/>
                    </a:solidFill>
                  </a:tcPr>
                </a:tc>
                <a:tc>
                  <a:txBody>
                    <a:bodyPr/>
                    <a:lstStyle/>
                    <a:p>
                      <a:pPr marL="0" indent="0" algn="l">
                        <a:buNone/>
                      </a:pPr>
                      <a:r>
                        <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rPr>
                        <a:t>Symbol</a:t>
                      </a:r>
                      <a:endPar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4FD6C4"/>
                    </a:solidFill>
                  </a:tcPr>
                </a:tc>
                <a:tc>
                  <a:txBody>
                    <a:bodyPr/>
                    <a:lstStyle/>
                    <a:p>
                      <a:pPr marL="0" indent="0" algn="l">
                        <a:buNone/>
                      </a:pPr>
                      <a:r>
                        <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rPr>
                        <a:t>Meaning (Simple English)</a:t>
                      </a:r>
                      <a:endPar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4FD6C4"/>
                    </a:solidFill>
                  </a:tcPr>
                </a:tc>
                <a:tc>
                  <a:txBody>
                    <a:bodyPr/>
                    <a:lstStyle/>
                    <a:p>
                      <a:pPr marL="0" indent="0" algn="l">
                        <a:buNone/>
                      </a:pPr>
                      <a:r>
                        <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rPr>
                        <a:t>Example</a:t>
                      </a:r>
                      <a:endParaRPr lang="en-US" sz="1600" b="1" dirty="0">
                        <a:solidFill>
                          <a:srgbClr val="1E1E2E"/>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4FD6C4"/>
                    </a:solidFill>
                  </a:tcPr>
                </a:tc>
              </a:tr>
              <a:tr h="457200">
                <a:tc>
                  <a:txBody>
                    <a:bodyPr/>
                    <a:lstStyle/>
                    <a:p>
                      <a:pPr marL="0" indent="0" algn="l">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AND</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&amp;</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1 only if BOTH bits are 1</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12 &amp; 10 = 8</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457200">
                <a:tc>
                  <a:txBody>
                    <a:bodyPr/>
                    <a:lstStyle/>
                    <a:p>
                      <a:pPr marL="0" indent="0" algn="l">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OR</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1 if AT LEAST ONE bit is 1</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12 | 10 = 14</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r>
              <a:tr h="457200">
                <a:tc>
                  <a:txBody>
                    <a:bodyPr/>
                    <a:lstStyle/>
                    <a:p>
                      <a:pPr marL="0" indent="0" algn="l">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NOT</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Flips every bit (0↔1)</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~12 = -13</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457200">
                <a:tc>
                  <a:txBody>
                    <a:bodyPr/>
                    <a:lstStyle/>
                    <a:p>
                      <a:pPr marL="0" indent="0" algn="l">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XOR</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1 only if bits are DIFFERENT</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12 ^ 10 = 6</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r>
              <a:tr h="457200">
                <a:tc>
                  <a:txBody>
                    <a:bodyPr/>
                    <a:lstStyle/>
                    <a:p>
                      <a:pPr marL="0" indent="0" algn="l">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Left Shift</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&lt;&lt;</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Shifts bits left, fills 0 (× 2ⁿ)</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c>
                  <a:txBody>
                    <a:bodyPr/>
                    <a:lstStyle/>
                    <a:p>
                      <a:pPr marL="0" indent="0" algn="l">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5 &lt;&lt; 2 = 20</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A2B3D"/>
                    </a:solidFill>
                  </a:tcPr>
                </a:tc>
              </a:tr>
              <a:tr h="457200">
                <a:tc>
                  <a:txBody>
                    <a:bodyPr/>
                    <a:lstStyle/>
                    <a:p>
                      <a:pPr marL="0" indent="0" algn="l">
                        <a:buNone/>
                      </a:pPr>
                      <a:r>
                        <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rPr>
                        <a:t>Right Shift</a:t>
                      </a:r>
                      <a:endParaRPr lang="en-US" sz="1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&gt;&gt;</a:t>
                      </a:r>
                      <a:endParaRPr lang="en-US" sz="16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rPr>
                        <a:t>Shifts bits right (÷ 2ⁿ)</a:t>
                      </a:r>
                      <a:endParaRPr lang="en-US" sz="16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c>
                  <a:txBody>
                    <a:bodyPr/>
                    <a:lstStyle/>
                    <a:p>
                      <a:pPr marL="0" indent="0" algn="l">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20 &gt;&gt; 2 = 5</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a:txBody>
                  <a:tcPr anchor="ctr">
                    <a:lnL w="9525" cap="flat" cmpd="sng" algn="ctr">
                      <a:solidFill>
                        <a:srgbClr val="3E3F58"/>
                      </a:solidFill>
                      <a:prstDash val="solid"/>
                      <a:round/>
                      <a:headEnd type="none" w="med" len="med"/>
                      <a:tailEnd type="none" w="med" len="med"/>
                    </a:lnL>
                    <a:lnR w="9525" cap="flat" cmpd="sng" algn="ctr">
                      <a:solidFill>
                        <a:srgbClr val="3E3F58"/>
                      </a:solidFill>
                      <a:prstDash val="solid"/>
                      <a:round/>
                      <a:headEnd type="none" w="med" len="med"/>
                      <a:tailEnd type="none" w="med" len="med"/>
                    </a:lnR>
                    <a:lnT w="9525" cap="flat" cmpd="sng" algn="ctr">
                      <a:solidFill>
                        <a:srgbClr val="3E3F58"/>
                      </a:solidFill>
                      <a:prstDash val="solid"/>
                      <a:round/>
                      <a:headEnd type="none" w="med" len="med"/>
                      <a:tailEnd type="none" w="med" len="med"/>
                    </a:lnT>
                    <a:lnB w="9525" cap="flat" cmpd="sng" algn="ctr">
                      <a:solidFill>
                        <a:srgbClr val="3E3F58"/>
                      </a:solidFill>
                      <a:prstDash val="solid"/>
                      <a:round/>
                      <a:headEnd type="none" w="med" len="med"/>
                      <a:tailEnd type="none" w="med" len="med"/>
                    </a:lnB>
                    <a:solidFill>
                      <a:srgbClr val="262738"/>
                    </a:solidFill>
                  </a:tcPr>
                </a:tc>
              </a:tr>
            </a:tbl>
          </a:graphicData>
        </a:graphic>
      </p:graphicFrame>
      <p:sp>
        <p:nvSpPr>
          <p:cNvPr id="6" name="Text 3"/>
          <p:cNvSpPr/>
          <p:nvPr/>
        </p:nvSpPr>
        <p:spPr>
          <a:xfrm>
            <a:off x="457200" y="5257800"/>
            <a:ext cx="11247120" cy="457200"/>
          </a:xfrm>
          <a:prstGeom prst="rect">
            <a:avLst/>
          </a:prstGeom>
          <a:noFill/>
        </p:spPr>
        <p:txBody>
          <a:bodyPr wrap="square" rtlCol="0" anchor="ctr"/>
          <a:lstStyle/>
          <a:p>
            <a:pPr marL="0" indent="0" algn="ctr">
              <a:buNone/>
            </a:pPr>
            <a:r>
              <a:rPr lang="en-US" i="1" dirty="0">
                <a:solidFill>
                  <a:srgbClr val="9B9CB5"/>
                </a:solidFill>
                <a:latin typeface="Calibri" panose="020F0502020204030204" pitchFamily="34" charset="0"/>
                <a:ea typeface="Calibri" panose="020F0502020204030204" pitchFamily="34" charset="-122"/>
                <a:cs typeface="Calibri" panose="020F0502020204030204" pitchFamily="34" charset="-120"/>
              </a:rPr>
              <a:t>Tip: bitwise operators work on the binary form of a number — always convert to binary first when you're unsure of the result.</a:t>
            </a:r>
            <a:endParaRPr lang="en-US"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TERNARY OPERATOR</a:t>
            </a:r>
            <a:endPar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7772400" cy="548640"/>
          </a:xfrm>
          <a:prstGeom prst="rect">
            <a:avLst/>
          </a:prstGeom>
          <a:noFill/>
        </p:spPr>
        <p:txBody>
          <a:bodyPr wrap="square" rtlCol="0" anchor="ctr"/>
          <a:lstStyle/>
          <a:p>
            <a:pPr marL="0" indent="0">
              <a:buNone/>
            </a:pPr>
            <a:r>
              <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rPr>
              <a:t>The Ternary Operator: ?:</a:t>
            </a:r>
            <a:endPar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640080" y="1508760"/>
            <a:ext cx="5486400" cy="1280160"/>
          </a:xfrm>
          <a:prstGeom prst="rect">
            <a:avLst/>
          </a:prstGeom>
          <a:noFill/>
        </p:spPr>
        <p:txBody>
          <a:bodyPr wrap="square" rtlCol="0" anchor="ctr"/>
          <a:lstStyle/>
          <a:p>
            <a:pPr marL="0" indent="0">
              <a:lnSpc>
                <a:spcPct val="130000"/>
              </a:lnSpc>
              <a:buNone/>
            </a:pPr>
            <a:r>
              <a:rPr lang="en-US" dirty="0">
                <a:solidFill>
                  <a:srgbClr val="3D4A5C"/>
                </a:solidFill>
                <a:latin typeface="Calibri" panose="020F0502020204030204" pitchFamily="34" charset="0"/>
                <a:ea typeface="Calibri" panose="020F0502020204030204" pitchFamily="34" charset="-122"/>
                <a:cs typeface="Calibri" panose="020F0502020204030204" pitchFamily="34" charset="-120"/>
              </a:rPr>
              <a:t>C's only operator that takes three operands. It evaluates a condition and returns one of two expressions — a compact, inline replacement for a simple if...else that assigns or returns a value.</a:t>
            </a:r>
            <a:endParaRPr lang="en-US"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0080" y="2880360"/>
            <a:ext cx="5486400" cy="1051560"/>
          </a:xfrm>
          <a:prstGeom prst="roundRect">
            <a:avLst>
              <a:gd name="adj" fmla="val 8696"/>
            </a:avLst>
          </a:prstGeom>
          <a:solidFill>
            <a:srgbClr val="F5F7FB"/>
          </a:solidFill>
        </p:spPr>
      </p:sp>
      <p:sp>
        <p:nvSpPr>
          <p:cNvPr id="7" name="Text 5"/>
          <p:cNvSpPr/>
          <p:nvPr/>
        </p:nvSpPr>
        <p:spPr>
          <a:xfrm>
            <a:off x="822960" y="2880360"/>
            <a:ext cx="5120640" cy="1051560"/>
          </a:xfrm>
          <a:prstGeom prst="rect">
            <a:avLst/>
          </a:prstGeom>
          <a:noFill/>
        </p:spPr>
        <p:txBody>
          <a:bodyPr wrap="square" lIns="0" tIns="0" rIns="0" bIns="0" rtlCol="0" anchor="ctr"/>
          <a:lstStyle/>
          <a:p>
            <a:pPr marL="0" indent="0" algn="l">
              <a:buNone/>
            </a:pPr>
            <a:r>
              <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condition</a:t>
            </a:r>
            <a:r>
              <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  ?  </a:t>
            </a:r>
            <a:r>
              <a:rPr lang="en-US" b="1" dirty="0">
                <a:solidFill>
                  <a:srgbClr val="1E5C3B"/>
                </a:solidFill>
                <a:latin typeface="Courier New" panose="02070309020205020404" pitchFamily="34" charset="0"/>
                <a:ea typeface="Courier New" panose="02070309020205020404" pitchFamily="34" charset="-122"/>
                <a:cs typeface="Courier New" panose="02070309020205020404" pitchFamily="34" charset="-120"/>
              </a:rPr>
              <a:t>expr_if_true</a:t>
            </a:r>
            <a:r>
              <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  :  </a:t>
            </a:r>
            <a:r>
              <a:rPr lang="en-US" b="1" dirty="0">
                <a:solidFill>
                  <a:srgbClr val="6B2E2E"/>
                </a:solidFill>
                <a:latin typeface="Courier New" panose="02070309020205020404" pitchFamily="34" charset="0"/>
                <a:ea typeface="Courier New" panose="02070309020205020404" pitchFamily="34" charset="-122"/>
                <a:cs typeface="Courier New" panose="02070309020205020404" pitchFamily="34" charset="-120"/>
              </a:rPr>
              <a:t>expr_if_false</a:t>
            </a:r>
            <a:r>
              <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a:t>
            </a:r>
            <a:endPar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8" name="Shape 6"/>
          <p:cNvSpPr/>
          <p:nvPr/>
        </p:nvSpPr>
        <p:spPr>
          <a:xfrm>
            <a:off x="640080" y="4206240"/>
            <a:ext cx="402336" cy="402336"/>
          </a:xfrm>
          <a:prstGeom prst="roundRect">
            <a:avLst>
              <a:gd name="adj" fmla="val 18182"/>
            </a:avLst>
          </a:prstGeom>
          <a:solidFill>
            <a:srgbClr val="1B2A4A"/>
          </a:solidFill>
        </p:spPr>
      </p:sp>
      <p:sp>
        <p:nvSpPr>
          <p:cNvPr id="9" name="Text 7"/>
          <p:cNvSpPr/>
          <p:nvPr/>
        </p:nvSpPr>
        <p:spPr>
          <a:xfrm>
            <a:off x="640080" y="4206240"/>
            <a:ext cx="402336" cy="402336"/>
          </a:xfrm>
          <a:prstGeom prst="rect">
            <a:avLst/>
          </a:prstGeom>
          <a:noFill/>
        </p:spPr>
        <p:txBody>
          <a:bodyPr wrap="square" lIns="0" tIns="0" rIns="0" bIns="0" rtlCol="0" anchor="ctr"/>
          <a:lstStyle/>
          <a:p>
            <a:pPr marL="0" indent="0" algn="ctr">
              <a:buNone/>
            </a:pPr>
            <a:r>
              <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a:t>
            </a:r>
            <a:endPar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0" name="Text 8"/>
          <p:cNvSpPr/>
          <p:nvPr/>
        </p:nvSpPr>
        <p:spPr>
          <a:xfrm>
            <a:off x="1188720" y="4233672"/>
            <a:ext cx="4846320" cy="365760"/>
          </a:xfrm>
          <a:prstGeom prst="rect">
            <a:avLst/>
          </a:prstGeom>
          <a:noFill/>
        </p:spPr>
        <p:txBody>
          <a:bodyPr wrap="square" lIns="0" tIns="0" rIns="0" bIns="0" rtlCol="0" anchor="ctr"/>
          <a:lstStyle/>
          <a:p>
            <a:pPr marL="0" indent="0">
              <a:buNone/>
            </a:pPr>
            <a:r>
              <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rPr>
              <a:t>Separates the condition from the two results</a:t>
            </a:r>
            <a:endPar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640080" y="4754880"/>
            <a:ext cx="402336" cy="402336"/>
          </a:xfrm>
          <a:prstGeom prst="roundRect">
            <a:avLst>
              <a:gd name="adj" fmla="val 18182"/>
            </a:avLst>
          </a:prstGeom>
          <a:solidFill>
            <a:srgbClr val="1B2A4A"/>
          </a:solidFill>
        </p:spPr>
      </p:sp>
      <p:sp>
        <p:nvSpPr>
          <p:cNvPr id="12" name="Text 10"/>
          <p:cNvSpPr/>
          <p:nvPr/>
        </p:nvSpPr>
        <p:spPr>
          <a:xfrm>
            <a:off x="640080" y="4754880"/>
            <a:ext cx="402336" cy="402336"/>
          </a:xfrm>
          <a:prstGeom prst="rect">
            <a:avLst/>
          </a:prstGeom>
          <a:noFill/>
        </p:spPr>
        <p:txBody>
          <a:bodyPr wrap="square" lIns="0" tIns="0" rIns="0" bIns="0" rtlCol="0" anchor="ctr"/>
          <a:lstStyle/>
          <a:p>
            <a:pPr marL="0" indent="0" algn="ctr">
              <a:buNone/>
            </a:pPr>
            <a:r>
              <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a:t>
            </a:r>
            <a:endPar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1"/>
          <p:cNvSpPr/>
          <p:nvPr/>
        </p:nvSpPr>
        <p:spPr>
          <a:xfrm>
            <a:off x="1188720" y="4782312"/>
            <a:ext cx="4846320" cy="365760"/>
          </a:xfrm>
          <a:prstGeom prst="rect">
            <a:avLst/>
          </a:prstGeom>
          <a:noFill/>
        </p:spPr>
        <p:txBody>
          <a:bodyPr wrap="square" lIns="0" tIns="0" rIns="0" bIns="0" rtlCol="0" anchor="ctr"/>
          <a:lstStyle/>
          <a:p>
            <a:pPr marL="0" indent="0">
              <a:buNone/>
            </a:pPr>
            <a:r>
              <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rPr>
              <a:t>Separates the true-value from the false-value</a:t>
            </a:r>
            <a:endPar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640080" y="5303520"/>
            <a:ext cx="402336" cy="402336"/>
          </a:xfrm>
          <a:prstGeom prst="roundRect">
            <a:avLst>
              <a:gd name="adj" fmla="val 18182"/>
            </a:avLst>
          </a:prstGeom>
          <a:solidFill>
            <a:srgbClr val="1B2A4A"/>
          </a:solidFill>
        </p:spPr>
      </p:sp>
      <p:sp>
        <p:nvSpPr>
          <p:cNvPr id="15" name="Text 13"/>
          <p:cNvSpPr/>
          <p:nvPr/>
        </p:nvSpPr>
        <p:spPr>
          <a:xfrm>
            <a:off x="640080" y="5303520"/>
            <a:ext cx="402336" cy="402336"/>
          </a:xfrm>
          <a:prstGeom prst="rect">
            <a:avLst/>
          </a:prstGeom>
          <a:noFill/>
        </p:spPr>
        <p:txBody>
          <a:bodyPr wrap="square" lIns="0" tIns="0" rIns="0" bIns="0" rtlCol="0" anchor="ctr"/>
          <a:lstStyle/>
          <a:p>
            <a:pPr marL="0" indent="0" algn="ctr">
              <a:buNone/>
            </a:pPr>
            <a:r>
              <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a:t>
            </a:r>
            <a:endParaRPr lang="en-US"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4"/>
          <p:cNvSpPr/>
          <p:nvPr/>
        </p:nvSpPr>
        <p:spPr>
          <a:xfrm>
            <a:off x="1188720" y="5330952"/>
            <a:ext cx="4846320" cy="365760"/>
          </a:xfrm>
          <a:prstGeom prst="rect">
            <a:avLst/>
          </a:prstGeom>
          <a:noFill/>
        </p:spPr>
        <p:txBody>
          <a:bodyPr wrap="square" lIns="0" tIns="0" rIns="0" bIns="0" rtlCol="0" anchor="ctr"/>
          <a:lstStyle/>
          <a:p>
            <a:pPr marL="0" indent="0">
              <a:buNone/>
            </a:pPr>
            <a:r>
              <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rPr>
              <a:t>The whole expression evaluates to a single value</a:t>
            </a:r>
            <a:endPar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6400800" y="1508760"/>
            <a:ext cx="5120640" cy="4206240"/>
          </a:xfrm>
          <a:prstGeom prst="roundRect">
            <a:avLst>
              <a:gd name="adj" fmla="val 1739"/>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18" name="Shape 16"/>
          <p:cNvSpPr/>
          <p:nvPr/>
        </p:nvSpPr>
        <p:spPr>
          <a:xfrm>
            <a:off x="6565392" y="1655064"/>
            <a:ext cx="109728" cy="109728"/>
          </a:xfrm>
          <a:prstGeom prst="ellipse">
            <a:avLst/>
          </a:prstGeom>
          <a:solidFill>
            <a:srgbClr val="FF5F56"/>
          </a:solidFill>
        </p:spPr>
      </p:sp>
      <p:sp>
        <p:nvSpPr>
          <p:cNvPr id="19" name="Shape 17"/>
          <p:cNvSpPr/>
          <p:nvPr/>
        </p:nvSpPr>
        <p:spPr>
          <a:xfrm>
            <a:off x="6766560" y="1655064"/>
            <a:ext cx="109728" cy="109728"/>
          </a:xfrm>
          <a:prstGeom prst="ellipse">
            <a:avLst/>
          </a:prstGeom>
          <a:solidFill>
            <a:srgbClr val="FFBD2E"/>
          </a:solidFill>
        </p:spPr>
      </p:sp>
      <p:sp>
        <p:nvSpPr>
          <p:cNvPr id="20" name="Shape 18"/>
          <p:cNvSpPr/>
          <p:nvPr/>
        </p:nvSpPr>
        <p:spPr>
          <a:xfrm>
            <a:off x="6967728" y="1655064"/>
            <a:ext cx="109728" cy="109728"/>
          </a:xfrm>
          <a:prstGeom prst="ellipse">
            <a:avLst/>
          </a:prstGeom>
          <a:solidFill>
            <a:srgbClr val="27C93F"/>
          </a:solidFill>
        </p:spPr>
      </p:sp>
      <p:sp>
        <p:nvSpPr>
          <p:cNvPr id="21" name="Text 19"/>
          <p:cNvSpPr/>
          <p:nvPr/>
        </p:nvSpPr>
        <p:spPr>
          <a:xfrm>
            <a:off x="7223760" y="1600200"/>
            <a:ext cx="4023360" cy="219456"/>
          </a:xfrm>
          <a:prstGeom prst="rect">
            <a:avLst/>
          </a:prstGeom>
          <a:noFill/>
        </p:spPr>
        <p:txBody>
          <a:bodyPr wrap="square" lIns="0" tIns="0" rIns="0" bIns="0" rtlCol="0" anchor="ctr"/>
          <a:lstStyle/>
          <a:p>
            <a:pPr marL="0" indent="0" algn="l">
              <a:buNone/>
            </a:pPr>
            <a:r>
              <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ternary_vs_if.c</a:t>
            </a:r>
            <a:endPar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2" name="Text 20"/>
          <p:cNvSpPr/>
          <p:nvPr/>
        </p:nvSpPr>
        <p:spPr>
          <a:xfrm>
            <a:off x="6629400" y="1892808"/>
            <a:ext cx="4663440" cy="3703320"/>
          </a:xfrm>
          <a:prstGeom prst="rect">
            <a:avLst/>
          </a:prstGeom>
          <a:noFill/>
        </p:spPr>
        <p:txBody>
          <a:bodyPr wrap="square" lIns="0" tIns="0" rIns="0" bIns="0" rtlCol="0" anchor="t"/>
          <a:lstStyle/>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 = 12, b = 45;</a:t>
            </a:r>
            <a:endParaRPr lang="en-US" sz="1600" dirty="0"/>
          </a:p>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max;</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Equivalent if...else:</a:t>
            </a:r>
            <a:endParaRPr lang="en-US" sz="1600" dirty="0"/>
          </a:p>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 &gt; b)</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max = a;</a:t>
            </a:r>
            <a:endParaRPr lang="en-US" sz="1600" dirty="0"/>
          </a:p>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max = b;</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Same logic, one line:</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max = (a &gt; b) ? a : b;</a:t>
            </a:r>
            <a:endPar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3" name="Text 21"/>
          <p:cNvSpPr/>
          <p:nvPr/>
        </p:nvSpPr>
        <p:spPr>
          <a:xfrm>
            <a:off x="457200" y="6510528"/>
            <a:ext cx="5486400" cy="274320"/>
          </a:xfrm>
          <a:prstGeom prst="rect">
            <a:avLst/>
          </a:prstGeom>
          <a:noFill/>
        </p:spPr>
        <p:txBody>
          <a:bodyPr wrap="square" rtlCol="0" anchor="ctr"/>
          <a:lstStyle/>
          <a:p>
            <a:pPr marL="0" indent="0" algn="l">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11247120" y="6510528"/>
            <a:ext cx="457200" cy="274320"/>
          </a:xfrm>
          <a:prstGeom prst="rect">
            <a:avLst/>
          </a:prstGeom>
          <a:noFill/>
        </p:spPr>
        <p:txBody>
          <a:bodyPr wrap="square" rtlCol="0" anchor="ctr"/>
          <a:lstStyle/>
          <a:p>
            <a:pPr marL="0" indent="0" algn="r">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7</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TERNARY · EXAMPLE 1</a:t>
            </a:r>
            <a:endPar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7315200" cy="548640"/>
          </a:xfrm>
          <a:prstGeom prst="rect">
            <a:avLst/>
          </a:prstGeom>
          <a:noFill/>
        </p:spPr>
        <p:txBody>
          <a:bodyPr wrap="square" rtlCol="0" anchor="ctr"/>
          <a:lstStyle/>
          <a:p>
            <a:pPr marL="0" indent="0">
              <a:buNone/>
            </a:pPr>
            <a:r>
              <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rPr>
              <a:t>Maximum of Two Numbers</a:t>
            </a:r>
            <a:endPar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640080" y="1600200"/>
            <a:ext cx="6035040" cy="3840480"/>
          </a:xfrm>
          <a:prstGeom prst="roundRect">
            <a:avLst>
              <a:gd name="adj" fmla="val 1905"/>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6" name="Shape 4"/>
          <p:cNvSpPr/>
          <p:nvPr/>
        </p:nvSpPr>
        <p:spPr>
          <a:xfrm>
            <a:off x="804672" y="1746504"/>
            <a:ext cx="109728" cy="109728"/>
          </a:xfrm>
          <a:prstGeom prst="ellipse">
            <a:avLst/>
          </a:prstGeom>
          <a:solidFill>
            <a:srgbClr val="FF5F56"/>
          </a:solidFill>
        </p:spPr>
      </p:sp>
      <p:sp>
        <p:nvSpPr>
          <p:cNvPr id="7" name="Shape 5"/>
          <p:cNvSpPr/>
          <p:nvPr/>
        </p:nvSpPr>
        <p:spPr>
          <a:xfrm>
            <a:off x="1005840" y="1746504"/>
            <a:ext cx="109728" cy="109728"/>
          </a:xfrm>
          <a:prstGeom prst="ellipse">
            <a:avLst/>
          </a:prstGeom>
          <a:solidFill>
            <a:srgbClr val="FFBD2E"/>
          </a:solidFill>
        </p:spPr>
      </p:sp>
      <p:sp>
        <p:nvSpPr>
          <p:cNvPr id="8" name="Shape 6"/>
          <p:cNvSpPr/>
          <p:nvPr/>
        </p:nvSpPr>
        <p:spPr>
          <a:xfrm>
            <a:off x="1207008" y="1746504"/>
            <a:ext cx="109728" cy="109728"/>
          </a:xfrm>
          <a:prstGeom prst="ellipse">
            <a:avLst/>
          </a:prstGeom>
          <a:solidFill>
            <a:srgbClr val="27C93F"/>
          </a:solidFill>
        </p:spPr>
      </p:sp>
      <p:sp>
        <p:nvSpPr>
          <p:cNvPr id="9" name="Text 7"/>
          <p:cNvSpPr/>
          <p:nvPr/>
        </p:nvSpPr>
        <p:spPr>
          <a:xfrm>
            <a:off x="1463040" y="1691640"/>
            <a:ext cx="4937760" cy="219456"/>
          </a:xfrm>
          <a:prstGeom prst="rect">
            <a:avLst/>
          </a:prstGeom>
          <a:noFill/>
        </p:spPr>
        <p:txBody>
          <a:bodyPr wrap="square" lIns="0" tIns="0" rIns="0" bIns="0" rtlCol="0" anchor="ctr"/>
          <a:lstStyle/>
          <a:p>
            <a:pPr marL="0" indent="0" algn="l">
              <a:buNone/>
            </a:pPr>
            <a:r>
              <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max_of_two.c</a:t>
            </a:r>
            <a:endPar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0" name="Text 8"/>
          <p:cNvSpPr/>
          <p:nvPr/>
        </p:nvSpPr>
        <p:spPr>
          <a:xfrm>
            <a:off x="868680" y="1984248"/>
            <a:ext cx="5577840" cy="3337560"/>
          </a:xfrm>
          <a:prstGeom prst="rect">
            <a:avLst/>
          </a:prstGeom>
          <a:noFill/>
        </p:spPr>
        <p:txBody>
          <a:bodyPr wrap="square" lIns="0" tIns="0" rIns="0" bIns="0" rtlCol="0" anchor="t"/>
          <a:lstStyle/>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 = 20, b = 35;</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max = (a &gt; b) ? a : b;</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"Max = %d"</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max);</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949440" y="1600200"/>
            <a:ext cx="4572000" cy="1371600"/>
          </a:xfrm>
          <a:prstGeom prst="roundRect">
            <a:avLst>
              <a:gd name="adj" fmla="val 6667"/>
            </a:avLst>
          </a:prstGeom>
          <a:solidFill>
            <a:srgbClr val="FFFFFF"/>
          </a:solidFill>
          <a:ln w="12700">
            <a:solidFill>
              <a:srgbClr val="E1E7F0"/>
            </a:solidFill>
            <a:prstDash val="solid"/>
          </a:ln>
        </p:spPr>
      </p:sp>
      <p:sp>
        <p:nvSpPr>
          <p:cNvPr id="12" name="Text 10"/>
          <p:cNvSpPr/>
          <p:nvPr/>
        </p:nvSpPr>
        <p:spPr>
          <a:xfrm>
            <a:off x="7223760" y="1737360"/>
            <a:ext cx="2743200" cy="274320"/>
          </a:xfrm>
          <a:prstGeom prst="rect">
            <a:avLst/>
          </a:prstGeom>
          <a:noFill/>
        </p:spPr>
        <p:txBody>
          <a:bodyPr wrap="square" rtlCol="0" anchor="ctr"/>
          <a:lstStyle/>
          <a:p>
            <a:pPr marL="0" indent="0">
              <a:buNone/>
            </a:pPr>
            <a:r>
              <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OUTPUT</a:t>
            </a:r>
            <a:endPar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7223760" y="2011680"/>
            <a:ext cx="3931920" cy="822960"/>
          </a:xfrm>
          <a:prstGeom prst="rect">
            <a:avLst/>
          </a:prstGeom>
          <a:noFill/>
        </p:spPr>
        <p:txBody>
          <a:bodyPr wrap="square" rtlCol="0" anchor="ctr"/>
          <a:lstStyle/>
          <a:p>
            <a:pPr marL="0" indent="0">
              <a:buNone/>
            </a:pPr>
            <a:r>
              <a:rPr lang="en-US" sz="24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Max = 35</a:t>
            </a:r>
            <a:endParaRPr lang="en-US" sz="24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2"/>
          <p:cNvSpPr/>
          <p:nvPr/>
        </p:nvSpPr>
        <p:spPr>
          <a:xfrm>
            <a:off x="6949440" y="3200400"/>
            <a:ext cx="4572000" cy="2240280"/>
          </a:xfrm>
          <a:prstGeom prst="roundRect">
            <a:avLst>
              <a:gd name="adj" fmla="val 4082"/>
            </a:avLst>
          </a:prstGeom>
          <a:solidFill>
            <a:srgbClr val="FFFFFF"/>
          </a:solidFill>
          <a:ln w="12700">
            <a:solidFill>
              <a:srgbClr val="E1E7F0"/>
            </a:solidFill>
            <a:prstDash val="solid"/>
          </a:ln>
        </p:spPr>
      </p:sp>
      <p:sp>
        <p:nvSpPr>
          <p:cNvPr id="15" name="Text 13"/>
          <p:cNvSpPr/>
          <p:nvPr/>
        </p:nvSpPr>
        <p:spPr>
          <a:xfrm>
            <a:off x="7223760" y="3337560"/>
            <a:ext cx="3657600" cy="274320"/>
          </a:xfrm>
          <a:prstGeom prst="rect">
            <a:avLst/>
          </a:prstGeom>
          <a:noFill/>
        </p:spPr>
        <p:txBody>
          <a:bodyPr wrap="square" rtlCol="0" anchor="ctr"/>
          <a:lstStyle/>
          <a:p>
            <a:pPr marL="0" indent="0">
              <a:buNone/>
            </a:pPr>
            <a:r>
              <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READ IT ALOUD</a:t>
            </a:r>
            <a:endPar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7223760" y="3657600"/>
            <a:ext cx="3931920" cy="1645920"/>
          </a:xfrm>
          <a:prstGeom prst="rect">
            <a:avLst/>
          </a:prstGeom>
          <a:noFill/>
        </p:spPr>
        <p:txBody>
          <a:bodyPr wrap="square" rtlCol="0" anchor="ctr"/>
          <a:lstStyle/>
          <a:p>
            <a:pPr marL="0" indent="0">
              <a:lnSpc>
                <a:spcPct val="135000"/>
              </a:lnSpc>
              <a:buNone/>
            </a:pPr>
            <a:r>
              <a:rPr lang="en-US" sz="1600" i="1" dirty="0">
                <a:solidFill>
                  <a:srgbClr val="3D4A5C"/>
                </a:solidFill>
                <a:latin typeface="Calibri" panose="020F0502020204030204" pitchFamily="34" charset="0"/>
                <a:ea typeface="Calibri" panose="020F0502020204030204" pitchFamily="34" charset="-122"/>
                <a:cs typeface="Calibri" panose="020F0502020204030204" pitchFamily="34" charset="-120"/>
              </a:rPr>
              <a:t>"If a is greater than b, the expression is a — otherwise it's b." The result is assigned to max directly, with no separate variable declaration inside branches.</a:t>
            </a:r>
            <a:endParaRPr lang="en-US" sz="1600" i="1"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457200" y="6510528"/>
            <a:ext cx="5486400" cy="274320"/>
          </a:xfrm>
          <a:prstGeom prst="rect">
            <a:avLst/>
          </a:prstGeom>
          <a:noFill/>
        </p:spPr>
        <p:txBody>
          <a:bodyPr wrap="square" rtlCol="0" anchor="ctr"/>
          <a:lstStyle/>
          <a:p>
            <a:pPr marL="0" indent="0" algn="l">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11247120" y="6510528"/>
            <a:ext cx="457200" cy="274320"/>
          </a:xfrm>
          <a:prstGeom prst="rect">
            <a:avLst/>
          </a:prstGeom>
          <a:noFill/>
        </p:spPr>
        <p:txBody>
          <a:bodyPr wrap="square" rtlCol="0" anchor="ctr"/>
          <a:lstStyle/>
          <a:p>
            <a:pPr marL="0" indent="0" algn="r">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8</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TERNARY · EXAMPLE 2</a:t>
            </a:r>
            <a:endPar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7315200" cy="548640"/>
          </a:xfrm>
          <a:prstGeom prst="rect">
            <a:avLst/>
          </a:prstGeom>
          <a:noFill/>
        </p:spPr>
        <p:txBody>
          <a:bodyPr wrap="square" rtlCol="0" anchor="ctr"/>
          <a:lstStyle/>
          <a:p>
            <a:pPr marL="0" indent="0">
              <a:buNone/>
            </a:pPr>
            <a:r>
              <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rPr>
              <a:t>Even or Odd Check</a:t>
            </a:r>
            <a:endPar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640080" y="1600200"/>
            <a:ext cx="6035040" cy="3840480"/>
          </a:xfrm>
          <a:prstGeom prst="roundRect">
            <a:avLst>
              <a:gd name="adj" fmla="val 1905"/>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6" name="Shape 4"/>
          <p:cNvSpPr/>
          <p:nvPr/>
        </p:nvSpPr>
        <p:spPr>
          <a:xfrm>
            <a:off x="804672" y="1746504"/>
            <a:ext cx="109728" cy="109728"/>
          </a:xfrm>
          <a:prstGeom prst="ellipse">
            <a:avLst/>
          </a:prstGeom>
          <a:solidFill>
            <a:srgbClr val="FF5F56"/>
          </a:solidFill>
        </p:spPr>
      </p:sp>
      <p:sp>
        <p:nvSpPr>
          <p:cNvPr id="7" name="Shape 5"/>
          <p:cNvSpPr/>
          <p:nvPr/>
        </p:nvSpPr>
        <p:spPr>
          <a:xfrm>
            <a:off x="1005840" y="1746504"/>
            <a:ext cx="109728" cy="109728"/>
          </a:xfrm>
          <a:prstGeom prst="ellipse">
            <a:avLst/>
          </a:prstGeom>
          <a:solidFill>
            <a:srgbClr val="FFBD2E"/>
          </a:solidFill>
        </p:spPr>
      </p:sp>
      <p:sp>
        <p:nvSpPr>
          <p:cNvPr id="8" name="Shape 6"/>
          <p:cNvSpPr/>
          <p:nvPr/>
        </p:nvSpPr>
        <p:spPr>
          <a:xfrm>
            <a:off x="1207008" y="1746504"/>
            <a:ext cx="109728" cy="109728"/>
          </a:xfrm>
          <a:prstGeom prst="ellipse">
            <a:avLst/>
          </a:prstGeom>
          <a:solidFill>
            <a:srgbClr val="27C93F"/>
          </a:solidFill>
        </p:spPr>
      </p:sp>
      <p:sp>
        <p:nvSpPr>
          <p:cNvPr id="9" name="Text 7"/>
          <p:cNvSpPr/>
          <p:nvPr/>
        </p:nvSpPr>
        <p:spPr>
          <a:xfrm>
            <a:off x="1463040" y="1691640"/>
            <a:ext cx="4937760" cy="219456"/>
          </a:xfrm>
          <a:prstGeom prst="rect">
            <a:avLst/>
          </a:prstGeom>
          <a:noFill/>
        </p:spPr>
        <p:txBody>
          <a:bodyPr wrap="square" lIns="0" tIns="0" rIns="0" bIns="0" rtlCol="0" anchor="ctr"/>
          <a:lstStyle/>
          <a:p>
            <a:pPr marL="0" indent="0" algn="l">
              <a:buNone/>
            </a:pPr>
            <a:r>
              <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even_odd.c</a:t>
            </a:r>
            <a:endPar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0" name="Text 8"/>
          <p:cNvSpPr/>
          <p:nvPr/>
        </p:nvSpPr>
        <p:spPr>
          <a:xfrm>
            <a:off x="868680" y="1984248"/>
            <a:ext cx="5577840" cy="3337560"/>
          </a:xfrm>
          <a:prstGeom prst="rect">
            <a:avLst/>
          </a:prstGeom>
          <a:noFill/>
        </p:spPr>
        <p:txBody>
          <a:bodyPr wrap="square" lIns="0" tIns="0" rIns="0" bIns="0" rtlCol="0" anchor="t"/>
          <a:lstStyle/>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n = 17;</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"%d is %s"</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n,</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(n % 2 == 0) ? </a:t>
            </a:r>
            <a:r>
              <a:rPr lang="en-US" sz="16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"Even"</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"Odd"</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949440" y="1600200"/>
            <a:ext cx="4572000" cy="1371600"/>
          </a:xfrm>
          <a:prstGeom prst="roundRect">
            <a:avLst>
              <a:gd name="adj" fmla="val 6667"/>
            </a:avLst>
          </a:prstGeom>
          <a:solidFill>
            <a:srgbClr val="FFFFFF"/>
          </a:solidFill>
          <a:ln w="12700">
            <a:solidFill>
              <a:srgbClr val="E1E7F0"/>
            </a:solidFill>
            <a:prstDash val="solid"/>
          </a:ln>
        </p:spPr>
      </p:sp>
      <p:sp>
        <p:nvSpPr>
          <p:cNvPr id="12" name="Text 10"/>
          <p:cNvSpPr/>
          <p:nvPr/>
        </p:nvSpPr>
        <p:spPr>
          <a:xfrm>
            <a:off x="7223760" y="1737360"/>
            <a:ext cx="2743200" cy="274320"/>
          </a:xfrm>
          <a:prstGeom prst="rect">
            <a:avLst/>
          </a:prstGeom>
          <a:noFill/>
        </p:spPr>
        <p:txBody>
          <a:bodyPr wrap="square" rtlCol="0" anchor="ctr"/>
          <a:lstStyle/>
          <a:p>
            <a:pPr marL="0" indent="0">
              <a:buNone/>
            </a:pPr>
            <a:r>
              <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OUTPUT</a:t>
            </a:r>
            <a:endPar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7223760" y="2011680"/>
            <a:ext cx="3931920" cy="822960"/>
          </a:xfrm>
          <a:prstGeom prst="rect">
            <a:avLst/>
          </a:prstGeom>
          <a:noFill/>
        </p:spPr>
        <p:txBody>
          <a:bodyPr wrap="square" rtlCol="0" anchor="ctr"/>
          <a:lstStyle/>
          <a:p>
            <a:pPr marL="0" indent="0">
              <a:buNone/>
            </a:pPr>
            <a:r>
              <a:rPr lang="en-US" sz="24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17 is Odd</a:t>
            </a:r>
            <a:endParaRPr lang="en-US" sz="24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2"/>
          <p:cNvSpPr/>
          <p:nvPr/>
        </p:nvSpPr>
        <p:spPr>
          <a:xfrm>
            <a:off x="6949440" y="3200400"/>
            <a:ext cx="4572000" cy="2240280"/>
          </a:xfrm>
          <a:prstGeom prst="roundRect">
            <a:avLst>
              <a:gd name="adj" fmla="val 4082"/>
            </a:avLst>
          </a:prstGeom>
          <a:solidFill>
            <a:srgbClr val="FFFFFF"/>
          </a:solidFill>
          <a:ln w="12700">
            <a:solidFill>
              <a:srgbClr val="E1E7F0"/>
            </a:solidFill>
            <a:prstDash val="solid"/>
          </a:ln>
        </p:spPr>
      </p:sp>
      <p:sp>
        <p:nvSpPr>
          <p:cNvPr id="15" name="Text 13"/>
          <p:cNvSpPr/>
          <p:nvPr/>
        </p:nvSpPr>
        <p:spPr>
          <a:xfrm>
            <a:off x="7223760" y="3337560"/>
            <a:ext cx="3657600" cy="274320"/>
          </a:xfrm>
          <a:prstGeom prst="rect">
            <a:avLst/>
          </a:prstGeom>
          <a:noFill/>
        </p:spPr>
        <p:txBody>
          <a:bodyPr wrap="square" rtlCol="0" anchor="ctr"/>
          <a:lstStyle/>
          <a:p>
            <a:pPr marL="0" indent="0">
              <a:buNone/>
            </a:pPr>
            <a:r>
              <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WHY IT'S HANDY</a:t>
            </a:r>
            <a:endParaRPr lang="en-US" sz="14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7223760" y="3657600"/>
            <a:ext cx="3931920" cy="1645920"/>
          </a:xfrm>
          <a:prstGeom prst="rect">
            <a:avLst/>
          </a:prstGeom>
          <a:noFill/>
        </p:spPr>
        <p:txBody>
          <a:bodyPr wrap="square" rtlCol="0" anchor="ctr"/>
          <a:lstStyle/>
          <a:p>
            <a:pPr marL="0" indent="0">
              <a:lnSpc>
                <a:spcPct val="135000"/>
              </a:lnSpc>
              <a:buNone/>
            </a:pPr>
            <a:r>
              <a:rPr lang="en-US" sz="1600" dirty="0">
                <a:solidFill>
                  <a:srgbClr val="3D4A5C"/>
                </a:solidFill>
                <a:latin typeface="Calibri" panose="020F0502020204030204" pitchFamily="34" charset="0"/>
                <a:ea typeface="Calibri" panose="020F0502020204030204" pitchFamily="34" charset="-122"/>
                <a:cs typeface="Calibri" panose="020F0502020204030204" pitchFamily="34" charset="-120"/>
              </a:rPr>
              <a:t>The ternary sits directly inside the printf() argument list — no temporary variable or separate if block needed just to pick a string to print.</a:t>
            </a:r>
            <a:endParaRPr lang="en-US" sz="1600"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457200" y="6510528"/>
            <a:ext cx="5486400" cy="274320"/>
          </a:xfrm>
          <a:prstGeom prst="rect">
            <a:avLst/>
          </a:prstGeom>
          <a:noFill/>
        </p:spPr>
        <p:txBody>
          <a:bodyPr wrap="square" rtlCol="0" anchor="ctr"/>
          <a:lstStyle/>
          <a:p>
            <a:pPr marL="0" indent="0" algn="l">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11247120" y="6510528"/>
            <a:ext cx="457200" cy="274320"/>
          </a:xfrm>
          <a:prstGeom prst="rect">
            <a:avLst/>
          </a:prstGeom>
          <a:noFill/>
        </p:spPr>
        <p:txBody>
          <a:bodyPr wrap="square" rtlCol="0" anchor="ctr"/>
          <a:lstStyle/>
          <a:p>
            <a:pPr marL="0" indent="0" algn="r">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9</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2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TERNARY · EXAMPLE 3</a:t>
            </a:r>
            <a:endParaRPr lang="en-US" sz="12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8229600" cy="548640"/>
          </a:xfrm>
          <a:prstGeom prst="rect">
            <a:avLst/>
          </a:prstGeom>
          <a:noFill/>
        </p:spPr>
        <p:txBody>
          <a:bodyPr wrap="square" rtlCol="0" anchor="ctr"/>
          <a:lstStyle/>
          <a:p>
            <a:pPr marL="0" indent="0">
              <a:buNone/>
            </a:pPr>
            <a:r>
              <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rPr>
              <a:t>Nested Ternary Operators</a:t>
            </a:r>
            <a:endPar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640080" y="1463040"/>
            <a:ext cx="10607040" cy="457200"/>
          </a:xfrm>
          <a:prstGeom prst="rect">
            <a:avLst/>
          </a:prstGeom>
          <a:noFill/>
        </p:spPr>
        <p:txBody>
          <a:bodyPr wrap="square" rtlCol="0" anchor="ctr"/>
          <a:lstStyle/>
          <a:p>
            <a:pPr marL="0" indent="0">
              <a:buNone/>
            </a:pPr>
            <a:r>
              <a:rPr lang="en-US" sz="1400" dirty="0">
                <a:solidFill>
                  <a:srgbClr val="5A6B85"/>
                </a:solidFill>
                <a:latin typeface="Calibri" panose="020F0502020204030204" pitchFamily="34" charset="0"/>
                <a:ea typeface="Calibri" panose="020F0502020204030204" pitchFamily="34" charset="-122"/>
                <a:cs typeface="Calibri" panose="020F0502020204030204" pitchFamily="34" charset="-120"/>
              </a:rPr>
              <a:t>Ternaries can be chained by using another ternary as the false-branch — mirroring an else-if ladder in one expression.</a:t>
            </a:r>
            <a:endParaRPr lang="en-US" sz="1400" dirty="0">
              <a:solidFill>
                <a:srgbClr val="5A6B85"/>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0080" y="2103120"/>
            <a:ext cx="6400800" cy="3794760"/>
          </a:xfrm>
          <a:prstGeom prst="roundRect">
            <a:avLst>
              <a:gd name="adj" fmla="val 1928"/>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7" name="Shape 5"/>
          <p:cNvSpPr/>
          <p:nvPr/>
        </p:nvSpPr>
        <p:spPr>
          <a:xfrm>
            <a:off x="804672" y="2249424"/>
            <a:ext cx="109728" cy="109728"/>
          </a:xfrm>
          <a:prstGeom prst="ellipse">
            <a:avLst/>
          </a:prstGeom>
          <a:solidFill>
            <a:srgbClr val="FF5F56"/>
          </a:solidFill>
        </p:spPr>
      </p:sp>
      <p:sp>
        <p:nvSpPr>
          <p:cNvPr id="8" name="Shape 6"/>
          <p:cNvSpPr/>
          <p:nvPr/>
        </p:nvSpPr>
        <p:spPr>
          <a:xfrm>
            <a:off x="1005840" y="2249424"/>
            <a:ext cx="109728" cy="109728"/>
          </a:xfrm>
          <a:prstGeom prst="ellipse">
            <a:avLst/>
          </a:prstGeom>
          <a:solidFill>
            <a:srgbClr val="FFBD2E"/>
          </a:solidFill>
        </p:spPr>
      </p:sp>
      <p:sp>
        <p:nvSpPr>
          <p:cNvPr id="9" name="Shape 7"/>
          <p:cNvSpPr/>
          <p:nvPr/>
        </p:nvSpPr>
        <p:spPr>
          <a:xfrm>
            <a:off x="1207008" y="2249424"/>
            <a:ext cx="109728" cy="109728"/>
          </a:xfrm>
          <a:prstGeom prst="ellipse">
            <a:avLst/>
          </a:prstGeom>
          <a:solidFill>
            <a:srgbClr val="27C93F"/>
          </a:solidFill>
        </p:spPr>
      </p:sp>
      <p:sp>
        <p:nvSpPr>
          <p:cNvPr id="10" name="Text 8"/>
          <p:cNvSpPr/>
          <p:nvPr/>
        </p:nvSpPr>
        <p:spPr>
          <a:xfrm>
            <a:off x="1463040" y="2194560"/>
            <a:ext cx="5303520" cy="219456"/>
          </a:xfrm>
          <a:prstGeom prst="rect">
            <a:avLst/>
          </a:prstGeom>
          <a:noFill/>
        </p:spPr>
        <p:txBody>
          <a:bodyPr wrap="square" lIns="0" tIns="0" rIns="0" bIns="0" rtlCol="0" anchor="ctr"/>
          <a:lstStyle/>
          <a:p>
            <a:pPr marL="0" indent="0" algn="l">
              <a:buNone/>
            </a:pPr>
            <a:r>
              <a:rPr lang="en-US" sz="12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nested_ternary.c</a:t>
            </a:r>
            <a:endParaRPr lang="en-US" sz="12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Text 9"/>
          <p:cNvSpPr/>
          <p:nvPr/>
        </p:nvSpPr>
        <p:spPr>
          <a:xfrm>
            <a:off x="868680" y="2487168"/>
            <a:ext cx="5943600" cy="3291840"/>
          </a:xfrm>
          <a:prstGeom prst="rect">
            <a:avLst/>
          </a:prstGeom>
          <a:noFill/>
        </p:spPr>
        <p:txBody>
          <a:bodyPr wrap="square" lIns="0" tIns="0" rIns="0" bIns="0" rtlCol="0" anchor="t"/>
          <a:lstStyle/>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25000"/>
              </a:lnSpc>
              <a:buNone/>
            </a:pP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 82;</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char</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grade = (marks &gt;= 90) ? </a:t>
            </a:r>
            <a:r>
              <a:rPr lang="en-US" sz="14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&gt;= 75) ? </a:t>
            </a:r>
            <a:r>
              <a:rPr lang="en-US" sz="14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&gt;= 60) ? </a:t>
            </a:r>
            <a:r>
              <a:rPr lang="en-US" sz="14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'C'</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'F'</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"Grade: %c"</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grade);</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nSpc>
                <a:spcPct val="125000"/>
              </a:lnSpc>
              <a:buNone/>
            </a:pPr>
            <a:r>
              <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Shape 10"/>
          <p:cNvSpPr/>
          <p:nvPr/>
        </p:nvSpPr>
        <p:spPr>
          <a:xfrm>
            <a:off x="7269480" y="2103120"/>
            <a:ext cx="4251960" cy="1737360"/>
          </a:xfrm>
          <a:prstGeom prst="roundRect">
            <a:avLst>
              <a:gd name="adj" fmla="val 5263"/>
            </a:avLst>
          </a:prstGeom>
          <a:solidFill>
            <a:srgbClr val="F5F7FB"/>
          </a:solidFill>
        </p:spPr>
      </p:sp>
      <p:sp>
        <p:nvSpPr>
          <p:cNvPr id="13" name="Text 11"/>
          <p:cNvSpPr/>
          <p:nvPr/>
        </p:nvSpPr>
        <p:spPr>
          <a:xfrm>
            <a:off x="7498080" y="2240280"/>
            <a:ext cx="2743200" cy="274320"/>
          </a:xfrm>
          <a:prstGeom prst="rect">
            <a:avLst/>
          </a:prstGeom>
          <a:noFill/>
        </p:spPr>
        <p:txBody>
          <a:bodyPr wrap="square" rtlCol="0" anchor="ctr"/>
          <a:lstStyle/>
          <a:p>
            <a:pPr marL="0" indent="0">
              <a:buNone/>
            </a:pPr>
            <a:r>
              <a:rPr lang="en-US" sz="12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OUTPUT</a:t>
            </a:r>
            <a:endParaRPr lang="en-US" sz="12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7498080" y="2514600"/>
            <a:ext cx="3657600" cy="548640"/>
          </a:xfrm>
          <a:prstGeom prst="rect">
            <a:avLst/>
          </a:prstGeom>
          <a:noFill/>
        </p:spPr>
        <p:txBody>
          <a:bodyPr wrap="square" rtlCol="0" anchor="ctr"/>
          <a:lstStyle/>
          <a:p>
            <a:pPr marL="0" indent="0">
              <a:buNone/>
            </a:pPr>
            <a:r>
              <a:rPr lang="en-US" sz="20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Grade: B</a:t>
            </a:r>
            <a:endParaRPr lang="en-US" sz="20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7498080" y="3063240"/>
            <a:ext cx="3840480" cy="685800"/>
          </a:xfrm>
          <a:prstGeom prst="rect">
            <a:avLst/>
          </a:prstGeom>
          <a:noFill/>
        </p:spPr>
        <p:txBody>
          <a:bodyPr wrap="square" rtlCol="0" anchor="ctr"/>
          <a:lstStyle/>
          <a:p>
            <a:pPr marL="0" indent="0">
              <a:lnSpc>
                <a:spcPct val="130000"/>
              </a:lnSpc>
              <a:buNone/>
            </a:pPr>
            <a:r>
              <a:rPr lang="en-US" sz="1200" dirty="0">
                <a:solidFill>
                  <a:srgbClr val="5A6B85"/>
                </a:solidFill>
                <a:latin typeface="Calibri" panose="020F0502020204030204" pitchFamily="34" charset="0"/>
                <a:ea typeface="Calibri" panose="020F0502020204030204" pitchFamily="34" charset="-122"/>
                <a:cs typeface="Calibri" panose="020F0502020204030204" pitchFamily="34" charset="-120"/>
              </a:rPr>
              <a:t>marks = 82 fails the ≥90 test, passes ≥75, so grade = 'B'.</a:t>
            </a:r>
            <a:endParaRPr lang="en-US" sz="1200" dirty="0">
              <a:solidFill>
                <a:srgbClr val="5A6B85"/>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7269480" y="3977640"/>
            <a:ext cx="4251960" cy="1920240"/>
          </a:xfrm>
          <a:prstGeom prst="roundRect">
            <a:avLst>
              <a:gd name="adj" fmla="val 4762"/>
            </a:avLst>
          </a:prstGeom>
          <a:solidFill>
            <a:srgbClr val="FFF4E0"/>
          </a:solidFill>
        </p:spPr>
      </p:sp>
      <p:sp>
        <p:nvSpPr>
          <p:cNvPr id="17" name="Text 15"/>
          <p:cNvSpPr/>
          <p:nvPr/>
        </p:nvSpPr>
        <p:spPr>
          <a:xfrm>
            <a:off x="7498080" y="4114800"/>
            <a:ext cx="3840480" cy="274320"/>
          </a:xfrm>
          <a:prstGeom prst="rect">
            <a:avLst/>
          </a:prstGeom>
          <a:noFill/>
        </p:spPr>
        <p:txBody>
          <a:bodyPr wrap="square" rtlCol="0" anchor="ctr"/>
          <a:lstStyle/>
          <a:p>
            <a:pPr marL="0" indent="0">
              <a:buNone/>
            </a:pPr>
            <a:r>
              <a:rPr lang="en-US" sz="1200" b="1" kern="0" spc="50" dirty="0">
                <a:solidFill>
                  <a:srgbClr val="B85042"/>
                </a:solidFill>
                <a:latin typeface="Calibri" panose="020F0502020204030204" pitchFamily="34" charset="0"/>
                <a:ea typeface="Calibri" panose="020F0502020204030204" pitchFamily="34" charset="-122"/>
                <a:cs typeface="Calibri" panose="020F0502020204030204" pitchFamily="34" charset="-120"/>
              </a:rPr>
              <a:t>⚠ READABILITY CAUTION</a:t>
            </a:r>
            <a:endParaRPr lang="en-US" sz="1200" b="1" kern="0" spc="50" dirty="0">
              <a:solidFill>
                <a:srgbClr val="B85042"/>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7498080" y="4434840"/>
            <a:ext cx="3840480" cy="1371600"/>
          </a:xfrm>
          <a:prstGeom prst="rect">
            <a:avLst/>
          </a:prstGeom>
          <a:noFill/>
        </p:spPr>
        <p:txBody>
          <a:bodyPr wrap="square" rtlCol="0" anchor="ctr"/>
          <a:lstStyle/>
          <a:p>
            <a:pPr marL="0" indent="0">
              <a:lnSpc>
                <a:spcPct val="135000"/>
              </a:lnSpc>
              <a:buNone/>
            </a:pPr>
            <a:r>
              <a:rPr lang="en-US" sz="1400" dirty="0">
                <a:solidFill>
                  <a:srgbClr val="6B4A3A"/>
                </a:solidFill>
                <a:latin typeface="Calibri" panose="020F0502020204030204" pitchFamily="34" charset="0"/>
                <a:ea typeface="Calibri" panose="020F0502020204030204" pitchFamily="34" charset="-122"/>
                <a:cs typeface="Calibri" panose="020F0502020204030204" pitchFamily="34" charset="-120"/>
              </a:rPr>
              <a:t>Nesting beyond 2 levels gets hard to read fast. Many teams cap ternaries at one level and use if...else ladders for anything deeper.</a:t>
            </a:r>
            <a:endParaRPr lang="en-US" sz="1400" dirty="0">
              <a:solidFill>
                <a:srgbClr val="6B4A3A"/>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457200" y="6510528"/>
            <a:ext cx="5486400" cy="274320"/>
          </a:xfrm>
          <a:prstGeom prst="rect">
            <a:avLst/>
          </a:prstGeom>
          <a:noFill/>
        </p:spPr>
        <p:txBody>
          <a:bodyPr wrap="square" rtlCol="0" anchor="ctr"/>
          <a:lstStyle/>
          <a:p>
            <a:pPr marL="0" indent="0" algn="l">
              <a:buNone/>
            </a:pPr>
            <a:r>
              <a:rPr lang="en-US" sz="12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2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11247120" y="6510528"/>
            <a:ext cx="457200" cy="274320"/>
          </a:xfrm>
          <a:prstGeom prst="rect">
            <a:avLst/>
          </a:prstGeom>
          <a:noFill/>
        </p:spPr>
        <p:txBody>
          <a:bodyPr wrap="square" rtlCol="0" anchor="ctr"/>
          <a:lstStyle/>
          <a:p>
            <a:pPr marL="0" indent="0" algn="r">
              <a:buNone/>
            </a:pPr>
            <a:r>
              <a:rPr lang="en-US" sz="1200" dirty="0">
                <a:solidFill>
                  <a:srgbClr val="9AA5B5"/>
                </a:solidFill>
                <a:latin typeface="Calibri" panose="020F0502020204030204" pitchFamily="34" charset="0"/>
                <a:ea typeface="Calibri" panose="020F0502020204030204" pitchFamily="34" charset="-122"/>
                <a:cs typeface="Calibri" panose="020F0502020204030204" pitchFamily="34" charset="-120"/>
              </a:rPr>
              <a:t>10</a:t>
            </a:r>
            <a:endParaRPr lang="en-US" sz="12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200" y="292608"/>
            <a:ext cx="7315200" cy="320040"/>
          </a:xfrm>
          <a:prstGeom prst="rect">
            <a:avLst/>
          </a:prstGeom>
          <a:noFill/>
        </p:spPr>
        <p:txBody>
          <a:bodyPr wrap="square" rtlCol="0" anchor="ctr"/>
          <a:lstStyle/>
          <a:p>
            <a:pPr marL="0" indent="0">
              <a:buNone/>
            </a:pPr>
            <a:endParaRPr lang="en-US" sz="1600" dirty="0"/>
          </a:p>
        </p:txBody>
      </p:sp>
      <p:sp>
        <p:nvSpPr>
          <p:cNvPr id="3" name="Text 1"/>
          <p:cNvSpPr/>
          <p:nvPr/>
        </p:nvSpPr>
        <p:spPr>
          <a:xfrm>
            <a:off x="457200" y="566928"/>
            <a:ext cx="11247120" cy="640080"/>
          </a:xfrm>
          <a:prstGeom prst="rect">
            <a:avLst/>
          </a:prstGeom>
          <a:noFill/>
        </p:spPr>
        <p:txBody>
          <a:bodyPr wrap="square" rtlCol="0" anchor="ctr"/>
          <a:lstStyle/>
          <a:p>
            <a:pPr marL="0" indent="0">
              <a:buNone/>
            </a:pPr>
            <a:r>
              <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rPr>
              <a:t>Data Types in C</a:t>
            </a:r>
            <a:endParaRPr lang="en-US" sz="3600"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11567160" y="6473952"/>
            <a:ext cx="548640" cy="274320"/>
          </a:xfrm>
          <a:prstGeom prst="rect">
            <a:avLst/>
          </a:prstGeom>
          <a:noFill/>
        </p:spPr>
        <p:txBody>
          <a:bodyPr wrap="square" rtlCol="0" anchor="ctr"/>
          <a:lstStyle/>
          <a:p>
            <a:pPr marL="0" indent="0" algn="r">
              <a:buNone/>
            </a:pPr>
            <a:r>
              <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rPr>
              <a:t>02</a:t>
            </a:r>
            <a:endParaRPr lang="en-US" sz="1400" dirty="0">
              <a:solidFill>
                <a:srgbClr val="9B9CB5"/>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 name="Shape 3"/>
          <p:cNvSpPr/>
          <p:nvPr/>
        </p:nvSpPr>
        <p:spPr>
          <a:xfrm>
            <a:off x="4617720" y="1371600"/>
            <a:ext cx="2926080" cy="548640"/>
          </a:xfrm>
          <a:prstGeom prst="roundRect">
            <a:avLst>
              <a:gd name="adj" fmla="val 16667"/>
            </a:avLst>
          </a:prstGeom>
          <a:solidFill>
            <a:srgbClr val="2A2B3D"/>
          </a:solidFill>
          <a:ln w="19050">
            <a:solidFill>
              <a:srgbClr val="4FD6C4"/>
            </a:solidFill>
            <a:prstDash val="solid"/>
          </a:ln>
        </p:spPr>
      </p:sp>
      <p:sp>
        <p:nvSpPr>
          <p:cNvPr id="6" name="Text 4"/>
          <p:cNvSpPr/>
          <p:nvPr/>
        </p:nvSpPr>
        <p:spPr>
          <a:xfrm>
            <a:off x="4617720" y="1371600"/>
            <a:ext cx="2926080" cy="548640"/>
          </a:xfrm>
          <a:prstGeom prst="rect">
            <a:avLst/>
          </a:prstGeom>
          <a:noFill/>
        </p:spPr>
        <p:txBody>
          <a:bodyPr wrap="square" rtlCol="0" anchor="ctr"/>
          <a:lstStyle/>
          <a:p>
            <a:pPr marL="0" indent="0" algn="ctr">
              <a:buNone/>
            </a:pPr>
            <a:r>
              <a:rPr lang="en-US" b="1" dirty="0">
                <a:solidFill>
                  <a:srgbClr val="F2F2F2"/>
                </a:solidFill>
                <a:latin typeface="Calibri" panose="020F0502020204030204" pitchFamily="34" charset="0"/>
                <a:ea typeface="Calibri" panose="020F0502020204030204" pitchFamily="34" charset="-122"/>
                <a:cs typeface="Calibri" panose="020F0502020204030204" pitchFamily="34" charset="-120"/>
              </a:rPr>
              <a:t>C DATA TYPES</a:t>
            </a:r>
            <a:endParaRPr lang="en-US" b="1"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822960" y="2331720"/>
            <a:ext cx="5029200" cy="502920"/>
          </a:xfrm>
          <a:prstGeom prst="roundRect">
            <a:avLst>
              <a:gd name="adj" fmla="val 14545"/>
            </a:avLst>
          </a:prstGeom>
          <a:solidFill>
            <a:srgbClr val="203230"/>
          </a:solidFill>
          <a:ln w="15875">
            <a:solidFill>
              <a:srgbClr val="4FD6C4"/>
            </a:solidFill>
            <a:prstDash val="solid"/>
          </a:ln>
        </p:spPr>
      </p:sp>
      <p:sp>
        <p:nvSpPr>
          <p:cNvPr id="8" name="Text 6"/>
          <p:cNvSpPr/>
          <p:nvPr/>
        </p:nvSpPr>
        <p:spPr>
          <a:xfrm>
            <a:off x="822960" y="2331720"/>
            <a:ext cx="5029200" cy="502920"/>
          </a:xfrm>
          <a:prstGeom prst="rect">
            <a:avLst/>
          </a:prstGeom>
          <a:noFill/>
        </p:spPr>
        <p:txBody>
          <a:bodyPr wrap="square" rtlCol="0" anchor="ctr"/>
          <a:lstStyle/>
          <a:p>
            <a:pPr marL="0" indent="0" algn="ctr">
              <a:buNone/>
            </a:pPr>
            <a:r>
              <a:rPr lang="en-US" b="1" dirty="0">
                <a:solidFill>
                  <a:srgbClr val="4FD6C4"/>
                </a:solidFill>
                <a:latin typeface="Calibri" panose="020F0502020204030204" pitchFamily="34" charset="0"/>
                <a:ea typeface="Calibri" panose="020F0502020204030204" pitchFamily="34" charset="-122"/>
                <a:cs typeface="Calibri" panose="020F0502020204030204" pitchFamily="34" charset="-120"/>
              </a:rPr>
              <a:t>PRIMITIVE  (Basic Types)</a:t>
            </a:r>
            <a:endParaRPr lang="en-US" b="1"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6309360" y="2331720"/>
            <a:ext cx="5029200" cy="502920"/>
          </a:xfrm>
          <a:prstGeom prst="roundRect">
            <a:avLst>
              <a:gd name="adj" fmla="val 14545"/>
            </a:avLst>
          </a:prstGeom>
          <a:solidFill>
            <a:srgbClr val="332B16"/>
          </a:solidFill>
          <a:ln w="15875">
            <a:solidFill>
              <a:srgbClr val="F9C74F"/>
            </a:solidFill>
            <a:prstDash val="solid"/>
          </a:ln>
        </p:spPr>
      </p:sp>
      <p:sp>
        <p:nvSpPr>
          <p:cNvPr id="10" name="Text 8"/>
          <p:cNvSpPr/>
          <p:nvPr/>
        </p:nvSpPr>
        <p:spPr>
          <a:xfrm>
            <a:off x="6309360" y="2331720"/>
            <a:ext cx="5029200" cy="502920"/>
          </a:xfrm>
          <a:prstGeom prst="rect">
            <a:avLst/>
          </a:prstGeom>
          <a:noFill/>
        </p:spPr>
        <p:txBody>
          <a:bodyPr wrap="square" rtlCol="0" anchor="ctr"/>
          <a:lstStyle/>
          <a:p>
            <a:pPr marL="0" indent="0" algn="ctr">
              <a:buNone/>
            </a:pPr>
            <a:r>
              <a:rPr lang="en-US" b="1" dirty="0">
                <a:solidFill>
                  <a:srgbClr val="F9C74F"/>
                </a:solidFill>
                <a:latin typeface="Calibri" panose="020F0502020204030204" pitchFamily="34" charset="0"/>
                <a:ea typeface="Calibri" panose="020F0502020204030204" pitchFamily="34" charset="-122"/>
                <a:cs typeface="Calibri" panose="020F0502020204030204" pitchFamily="34" charset="-120"/>
              </a:rPr>
              <a:t>NON-PRIMITIVE  (Derived / User-Defined)</a:t>
            </a:r>
            <a:endParaRPr lang="en-US" b="1"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5349240" y="1920240"/>
            <a:ext cx="0" cy="411480"/>
          </a:xfrm>
          <a:prstGeom prst="line">
            <a:avLst/>
          </a:prstGeom>
          <a:noFill/>
          <a:ln w="19050">
            <a:solidFill>
              <a:srgbClr val="3E3F58"/>
            </a:solidFill>
            <a:prstDash val="solid"/>
          </a:ln>
        </p:spPr>
      </p:sp>
      <p:sp>
        <p:nvSpPr>
          <p:cNvPr id="12" name="Shape 10"/>
          <p:cNvSpPr/>
          <p:nvPr/>
        </p:nvSpPr>
        <p:spPr>
          <a:xfrm>
            <a:off x="3337560" y="1920240"/>
            <a:ext cx="2011680" cy="0"/>
          </a:xfrm>
          <a:prstGeom prst="line">
            <a:avLst/>
          </a:prstGeom>
          <a:noFill/>
          <a:ln w="19050">
            <a:solidFill>
              <a:srgbClr val="3E3F58"/>
            </a:solidFill>
            <a:prstDash val="solid"/>
          </a:ln>
        </p:spPr>
      </p:sp>
      <p:sp>
        <p:nvSpPr>
          <p:cNvPr id="13" name="Shape 11"/>
          <p:cNvSpPr/>
          <p:nvPr/>
        </p:nvSpPr>
        <p:spPr>
          <a:xfrm>
            <a:off x="3337560" y="1920240"/>
            <a:ext cx="0" cy="411480"/>
          </a:xfrm>
          <a:prstGeom prst="line">
            <a:avLst/>
          </a:prstGeom>
          <a:noFill/>
          <a:ln w="19050">
            <a:solidFill>
              <a:srgbClr val="3E3F58"/>
            </a:solidFill>
            <a:prstDash val="solid"/>
          </a:ln>
        </p:spPr>
      </p:sp>
      <p:sp>
        <p:nvSpPr>
          <p:cNvPr id="14" name="Shape 12"/>
          <p:cNvSpPr/>
          <p:nvPr/>
        </p:nvSpPr>
        <p:spPr>
          <a:xfrm>
            <a:off x="6812280" y="1920240"/>
            <a:ext cx="0" cy="411480"/>
          </a:xfrm>
          <a:prstGeom prst="line">
            <a:avLst/>
          </a:prstGeom>
          <a:noFill/>
          <a:ln w="19050">
            <a:solidFill>
              <a:srgbClr val="3E3F58"/>
            </a:solidFill>
            <a:prstDash val="solid"/>
          </a:ln>
        </p:spPr>
      </p:sp>
      <p:sp>
        <p:nvSpPr>
          <p:cNvPr id="15" name="Shape 13"/>
          <p:cNvSpPr/>
          <p:nvPr/>
        </p:nvSpPr>
        <p:spPr>
          <a:xfrm>
            <a:off x="6812280" y="1920240"/>
            <a:ext cx="2011680" cy="0"/>
          </a:xfrm>
          <a:prstGeom prst="line">
            <a:avLst/>
          </a:prstGeom>
          <a:noFill/>
          <a:ln w="19050">
            <a:solidFill>
              <a:srgbClr val="3E3F58"/>
            </a:solidFill>
            <a:prstDash val="solid"/>
          </a:ln>
        </p:spPr>
      </p:sp>
      <p:sp>
        <p:nvSpPr>
          <p:cNvPr id="16" name="Shape 14"/>
          <p:cNvSpPr/>
          <p:nvPr/>
        </p:nvSpPr>
        <p:spPr>
          <a:xfrm>
            <a:off x="8823960" y="1920240"/>
            <a:ext cx="0" cy="411480"/>
          </a:xfrm>
          <a:prstGeom prst="line">
            <a:avLst/>
          </a:prstGeom>
          <a:noFill/>
          <a:ln w="19050">
            <a:solidFill>
              <a:srgbClr val="3E3F58"/>
            </a:solidFill>
            <a:prstDash val="solid"/>
          </a:ln>
        </p:spPr>
      </p:sp>
      <p:sp>
        <p:nvSpPr>
          <p:cNvPr id="17" name="Shape 15"/>
          <p:cNvSpPr/>
          <p:nvPr/>
        </p:nvSpPr>
        <p:spPr>
          <a:xfrm>
            <a:off x="795528" y="3154680"/>
            <a:ext cx="932688" cy="1051560"/>
          </a:xfrm>
          <a:prstGeom prst="roundRect">
            <a:avLst>
              <a:gd name="adj" fmla="val 5882"/>
            </a:avLst>
          </a:prstGeom>
          <a:solidFill>
            <a:srgbClr val="2A2B3D"/>
          </a:solidFill>
          <a:ln w="12700">
            <a:solidFill>
              <a:srgbClr val="3E3F58"/>
            </a:solidFill>
            <a:prstDash val="solid"/>
          </a:ln>
        </p:spPr>
      </p:sp>
      <p:sp>
        <p:nvSpPr>
          <p:cNvPr id="18" name="Text 16"/>
          <p:cNvSpPr/>
          <p:nvPr/>
        </p:nvSpPr>
        <p:spPr>
          <a:xfrm>
            <a:off x="795528" y="3227832"/>
            <a:ext cx="932688" cy="274320"/>
          </a:xfrm>
          <a:prstGeom prst="rect">
            <a:avLst/>
          </a:prstGeom>
          <a:noFill/>
        </p:spPr>
        <p:txBody>
          <a:bodyPr wrap="square" rtlCol="0" anchor="ctr"/>
          <a:lstStyle/>
          <a:p>
            <a:pPr marL="0" indent="0" algn="ctr">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int</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9" name="Text 17"/>
          <p:cNvSpPr/>
          <p:nvPr/>
        </p:nvSpPr>
        <p:spPr>
          <a:xfrm>
            <a:off x="841248" y="3538728"/>
            <a:ext cx="841248" cy="41148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Whole numbers</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795528" y="3959352"/>
            <a:ext cx="932688" cy="201168"/>
          </a:xfrm>
          <a:prstGeom prst="rect">
            <a:avLst/>
          </a:prstGeom>
          <a:noFill/>
        </p:spPr>
        <p:txBody>
          <a:bodyPr wrap="square" rtlCol="0" anchor="ctr"/>
          <a:lstStyle/>
          <a:p>
            <a:pPr marL="0" indent="0" algn="ctr">
              <a:buNone/>
            </a:pPr>
            <a:r>
              <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rPr>
              <a:t>4 bytes</a:t>
            </a:r>
            <a:endPar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1833372" y="3154680"/>
            <a:ext cx="932688" cy="1051560"/>
          </a:xfrm>
          <a:prstGeom prst="roundRect">
            <a:avLst>
              <a:gd name="adj" fmla="val 5882"/>
            </a:avLst>
          </a:prstGeom>
          <a:solidFill>
            <a:srgbClr val="2A2B3D"/>
          </a:solidFill>
          <a:ln w="12700">
            <a:solidFill>
              <a:srgbClr val="3E3F58"/>
            </a:solidFill>
            <a:prstDash val="solid"/>
          </a:ln>
        </p:spPr>
      </p:sp>
      <p:sp>
        <p:nvSpPr>
          <p:cNvPr id="22" name="Text 20"/>
          <p:cNvSpPr/>
          <p:nvPr/>
        </p:nvSpPr>
        <p:spPr>
          <a:xfrm>
            <a:off x="1833372" y="3227832"/>
            <a:ext cx="932688" cy="274320"/>
          </a:xfrm>
          <a:prstGeom prst="rect">
            <a:avLst/>
          </a:prstGeom>
          <a:noFill/>
        </p:spPr>
        <p:txBody>
          <a:bodyPr wrap="square" rtlCol="0" anchor="ctr"/>
          <a:lstStyle/>
          <a:p>
            <a:pPr marL="0" indent="0" algn="ctr">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float</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3" name="Text 21"/>
          <p:cNvSpPr/>
          <p:nvPr/>
        </p:nvSpPr>
        <p:spPr>
          <a:xfrm>
            <a:off x="1879092" y="3538728"/>
            <a:ext cx="841248" cy="41148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Decimal numbers</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1833372" y="3959352"/>
            <a:ext cx="932688" cy="201168"/>
          </a:xfrm>
          <a:prstGeom prst="rect">
            <a:avLst/>
          </a:prstGeom>
          <a:noFill/>
        </p:spPr>
        <p:txBody>
          <a:bodyPr wrap="square" rtlCol="0" anchor="ctr"/>
          <a:lstStyle/>
          <a:p>
            <a:pPr marL="0" indent="0" algn="ctr">
              <a:buNone/>
            </a:pPr>
            <a:r>
              <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rPr>
              <a:t>4 bytes</a:t>
            </a:r>
            <a:endPar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2871216" y="3154680"/>
            <a:ext cx="932688" cy="1051560"/>
          </a:xfrm>
          <a:prstGeom prst="roundRect">
            <a:avLst>
              <a:gd name="adj" fmla="val 5882"/>
            </a:avLst>
          </a:prstGeom>
          <a:solidFill>
            <a:srgbClr val="2A2B3D"/>
          </a:solidFill>
          <a:ln w="12700">
            <a:solidFill>
              <a:srgbClr val="3E3F58"/>
            </a:solidFill>
            <a:prstDash val="solid"/>
          </a:ln>
        </p:spPr>
      </p:sp>
      <p:sp>
        <p:nvSpPr>
          <p:cNvPr id="26" name="Text 24"/>
          <p:cNvSpPr/>
          <p:nvPr/>
        </p:nvSpPr>
        <p:spPr>
          <a:xfrm>
            <a:off x="2871216" y="3227832"/>
            <a:ext cx="932688" cy="274320"/>
          </a:xfrm>
          <a:prstGeom prst="rect">
            <a:avLst/>
          </a:prstGeom>
          <a:noFill/>
        </p:spPr>
        <p:txBody>
          <a:bodyPr wrap="square" rtlCol="0" anchor="ctr"/>
          <a:lstStyle/>
          <a:p>
            <a:pPr marL="0" indent="0" algn="ctr">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double</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27" name="Text 25"/>
          <p:cNvSpPr/>
          <p:nvPr/>
        </p:nvSpPr>
        <p:spPr>
          <a:xfrm>
            <a:off x="2916936" y="3538728"/>
            <a:ext cx="841248" cy="41148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Large decimals</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2871216" y="3959352"/>
            <a:ext cx="932688" cy="201168"/>
          </a:xfrm>
          <a:prstGeom prst="rect">
            <a:avLst/>
          </a:prstGeom>
          <a:noFill/>
        </p:spPr>
        <p:txBody>
          <a:bodyPr wrap="square" rtlCol="0" anchor="ctr"/>
          <a:lstStyle/>
          <a:p>
            <a:pPr marL="0" indent="0" algn="ctr">
              <a:buNone/>
            </a:pPr>
            <a:r>
              <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rPr>
              <a:t>8 bytes</a:t>
            </a:r>
            <a:endPar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3909060" y="3154680"/>
            <a:ext cx="932688" cy="1051560"/>
          </a:xfrm>
          <a:prstGeom prst="roundRect">
            <a:avLst>
              <a:gd name="adj" fmla="val 5882"/>
            </a:avLst>
          </a:prstGeom>
          <a:solidFill>
            <a:srgbClr val="2A2B3D"/>
          </a:solidFill>
          <a:ln w="12700">
            <a:solidFill>
              <a:srgbClr val="3E3F58"/>
            </a:solidFill>
            <a:prstDash val="solid"/>
          </a:ln>
        </p:spPr>
      </p:sp>
      <p:sp>
        <p:nvSpPr>
          <p:cNvPr id="30" name="Text 28"/>
          <p:cNvSpPr/>
          <p:nvPr/>
        </p:nvSpPr>
        <p:spPr>
          <a:xfrm>
            <a:off x="3909060" y="3227832"/>
            <a:ext cx="932688" cy="274320"/>
          </a:xfrm>
          <a:prstGeom prst="rect">
            <a:avLst/>
          </a:prstGeom>
          <a:noFill/>
        </p:spPr>
        <p:txBody>
          <a:bodyPr wrap="square" rtlCol="0" anchor="ctr"/>
          <a:lstStyle/>
          <a:p>
            <a:pPr marL="0" indent="0" algn="ctr">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char</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31" name="Text 29"/>
          <p:cNvSpPr/>
          <p:nvPr/>
        </p:nvSpPr>
        <p:spPr>
          <a:xfrm>
            <a:off x="3954780" y="3538728"/>
            <a:ext cx="841248" cy="41148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Single character</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3909060" y="3959352"/>
            <a:ext cx="932688" cy="201168"/>
          </a:xfrm>
          <a:prstGeom prst="rect">
            <a:avLst/>
          </a:prstGeom>
          <a:noFill/>
        </p:spPr>
        <p:txBody>
          <a:bodyPr wrap="square" rtlCol="0" anchor="ctr"/>
          <a:lstStyle/>
          <a:p>
            <a:pPr marL="0" indent="0" algn="ctr">
              <a:buNone/>
            </a:pPr>
            <a:r>
              <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rPr>
              <a:t>1 byte</a:t>
            </a:r>
            <a:endPar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4946904" y="3154680"/>
            <a:ext cx="932688" cy="1051560"/>
          </a:xfrm>
          <a:prstGeom prst="roundRect">
            <a:avLst>
              <a:gd name="adj" fmla="val 5882"/>
            </a:avLst>
          </a:prstGeom>
          <a:solidFill>
            <a:srgbClr val="2A2B3D"/>
          </a:solidFill>
          <a:ln w="12700">
            <a:solidFill>
              <a:srgbClr val="3E3F58"/>
            </a:solidFill>
            <a:prstDash val="solid"/>
          </a:ln>
        </p:spPr>
      </p:sp>
      <p:sp>
        <p:nvSpPr>
          <p:cNvPr id="34" name="Text 32"/>
          <p:cNvSpPr/>
          <p:nvPr/>
        </p:nvSpPr>
        <p:spPr>
          <a:xfrm>
            <a:off x="4946904" y="3227832"/>
            <a:ext cx="932688" cy="274320"/>
          </a:xfrm>
          <a:prstGeom prst="rect">
            <a:avLst/>
          </a:prstGeom>
          <a:noFill/>
        </p:spPr>
        <p:txBody>
          <a:bodyPr wrap="square" rtlCol="0" anchor="ctr"/>
          <a:lstStyle/>
          <a:p>
            <a:pPr marL="0" indent="0" algn="ctr">
              <a:buNone/>
            </a:pPr>
            <a:r>
              <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rPr>
              <a:t>void</a:t>
            </a:r>
            <a:endParaRPr lang="en-US" sz="1600" b="1" dirty="0">
              <a:solidFill>
                <a:srgbClr val="4FD6C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35" name="Text 33"/>
          <p:cNvSpPr/>
          <p:nvPr/>
        </p:nvSpPr>
        <p:spPr>
          <a:xfrm>
            <a:off x="4992624" y="3538728"/>
            <a:ext cx="841248" cy="41148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No value / empty</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Text 34"/>
          <p:cNvSpPr/>
          <p:nvPr/>
        </p:nvSpPr>
        <p:spPr>
          <a:xfrm>
            <a:off x="4946904" y="3959352"/>
            <a:ext cx="932688" cy="201168"/>
          </a:xfrm>
          <a:prstGeom prst="rect">
            <a:avLst/>
          </a:prstGeom>
          <a:noFill/>
        </p:spPr>
        <p:txBody>
          <a:bodyPr wrap="square" rtlCol="0" anchor="ctr"/>
          <a:lstStyle/>
          <a:p>
            <a:pPr marL="0" indent="0" algn="ctr">
              <a:buNone/>
            </a:pPr>
            <a:r>
              <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rPr>
              <a:t>0 bytes</a:t>
            </a:r>
            <a:endParaRPr lang="en-US" sz="950" i="1" dirty="0">
              <a:solidFill>
                <a:srgbClr val="9B9C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Shape 35"/>
          <p:cNvSpPr/>
          <p:nvPr/>
        </p:nvSpPr>
        <p:spPr>
          <a:xfrm>
            <a:off x="6281928" y="3154680"/>
            <a:ext cx="932688" cy="1051560"/>
          </a:xfrm>
          <a:prstGeom prst="roundRect">
            <a:avLst>
              <a:gd name="adj" fmla="val 5882"/>
            </a:avLst>
          </a:prstGeom>
          <a:solidFill>
            <a:srgbClr val="2A2B3D"/>
          </a:solidFill>
          <a:ln w="12700">
            <a:solidFill>
              <a:srgbClr val="3E3F58"/>
            </a:solidFill>
            <a:prstDash val="solid"/>
          </a:ln>
        </p:spPr>
      </p:sp>
      <p:sp>
        <p:nvSpPr>
          <p:cNvPr id="38" name="Text 36"/>
          <p:cNvSpPr/>
          <p:nvPr/>
        </p:nvSpPr>
        <p:spPr>
          <a:xfrm>
            <a:off x="6281928" y="3227832"/>
            <a:ext cx="932688" cy="274320"/>
          </a:xfrm>
          <a:prstGeom prst="rect">
            <a:avLst/>
          </a:prstGeom>
          <a:noFill/>
        </p:spPr>
        <p:txBody>
          <a:bodyPr wrap="square" rtlCol="0" anchor="ctr"/>
          <a:lstStyle/>
          <a:p>
            <a:pPr marL="0" indent="0" algn="ctr">
              <a:buNone/>
            </a:pPr>
            <a:r>
              <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Array</a:t>
            </a:r>
            <a:endPar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39" name="Text 37"/>
          <p:cNvSpPr/>
          <p:nvPr/>
        </p:nvSpPr>
        <p:spPr>
          <a:xfrm>
            <a:off x="6327648" y="3575304"/>
            <a:ext cx="841248" cy="54864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Same-type collection</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Shape 38"/>
          <p:cNvSpPr/>
          <p:nvPr/>
        </p:nvSpPr>
        <p:spPr>
          <a:xfrm>
            <a:off x="7319772" y="3154680"/>
            <a:ext cx="932688" cy="1051560"/>
          </a:xfrm>
          <a:prstGeom prst="roundRect">
            <a:avLst>
              <a:gd name="adj" fmla="val 5882"/>
            </a:avLst>
          </a:prstGeom>
          <a:solidFill>
            <a:srgbClr val="2A2B3D"/>
          </a:solidFill>
          <a:ln w="12700">
            <a:solidFill>
              <a:srgbClr val="3E3F58"/>
            </a:solidFill>
            <a:prstDash val="solid"/>
          </a:ln>
        </p:spPr>
      </p:sp>
      <p:sp>
        <p:nvSpPr>
          <p:cNvPr id="41" name="Text 39"/>
          <p:cNvSpPr/>
          <p:nvPr/>
        </p:nvSpPr>
        <p:spPr>
          <a:xfrm>
            <a:off x="7319772" y="3227832"/>
            <a:ext cx="932688" cy="274320"/>
          </a:xfrm>
          <a:prstGeom prst="rect">
            <a:avLst/>
          </a:prstGeom>
          <a:noFill/>
        </p:spPr>
        <p:txBody>
          <a:bodyPr wrap="square" rtlCol="0" anchor="ctr"/>
          <a:lstStyle/>
          <a:p>
            <a:pPr marL="0" indent="0" algn="ctr">
              <a:buNone/>
            </a:pPr>
            <a:r>
              <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Pointer</a:t>
            </a:r>
            <a:endPar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42" name="Text 40"/>
          <p:cNvSpPr/>
          <p:nvPr/>
        </p:nvSpPr>
        <p:spPr>
          <a:xfrm>
            <a:off x="7365492" y="3575304"/>
            <a:ext cx="841248" cy="54864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Stores an address</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Shape 41"/>
          <p:cNvSpPr/>
          <p:nvPr/>
        </p:nvSpPr>
        <p:spPr>
          <a:xfrm>
            <a:off x="8357616" y="3154680"/>
            <a:ext cx="932688" cy="1051560"/>
          </a:xfrm>
          <a:prstGeom prst="roundRect">
            <a:avLst>
              <a:gd name="adj" fmla="val 5882"/>
            </a:avLst>
          </a:prstGeom>
          <a:solidFill>
            <a:srgbClr val="2A2B3D"/>
          </a:solidFill>
          <a:ln w="12700">
            <a:solidFill>
              <a:srgbClr val="3E3F58"/>
            </a:solidFill>
            <a:prstDash val="solid"/>
          </a:ln>
        </p:spPr>
      </p:sp>
      <p:sp>
        <p:nvSpPr>
          <p:cNvPr id="44" name="Text 42"/>
          <p:cNvSpPr/>
          <p:nvPr/>
        </p:nvSpPr>
        <p:spPr>
          <a:xfrm>
            <a:off x="8357616" y="3227832"/>
            <a:ext cx="932688" cy="274320"/>
          </a:xfrm>
          <a:prstGeom prst="rect">
            <a:avLst/>
          </a:prstGeom>
          <a:noFill/>
        </p:spPr>
        <p:txBody>
          <a:bodyPr wrap="square" rtlCol="0" anchor="ctr"/>
          <a:lstStyle/>
          <a:p>
            <a:pPr marL="0" indent="0" algn="ctr">
              <a:buNone/>
            </a:pPr>
            <a:r>
              <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Structure</a:t>
            </a:r>
            <a:endPar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45" name="Text 43"/>
          <p:cNvSpPr/>
          <p:nvPr/>
        </p:nvSpPr>
        <p:spPr>
          <a:xfrm>
            <a:off x="8403336" y="3575304"/>
            <a:ext cx="841248" cy="54864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Groups mixed types</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6" name="Shape 44"/>
          <p:cNvSpPr/>
          <p:nvPr/>
        </p:nvSpPr>
        <p:spPr>
          <a:xfrm>
            <a:off x="9395460" y="3154680"/>
            <a:ext cx="932688" cy="1051560"/>
          </a:xfrm>
          <a:prstGeom prst="roundRect">
            <a:avLst>
              <a:gd name="adj" fmla="val 5882"/>
            </a:avLst>
          </a:prstGeom>
          <a:solidFill>
            <a:srgbClr val="2A2B3D"/>
          </a:solidFill>
          <a:ln w="12700">
            <a:solidFill>
              <a:srgbClr val="3E3F58"/>
            </a:solidFill>
            <a:prstDash val="solid"/>
          </a:ln>
        </p:spPr>
      </p:sp>
      <p:sp>
        <p:nvSpPr>
          <p:cNvPr id="47" name="Text 45"/>
          <p:cNvSpPr/>
          <p:nvPr/>
        </p:nvSpPr>
        <p:spPr>
          <a:xfrm>
            <a:off x="9395460" y="3227832"/>
            <a:ext cx="932688" cy="274320"/>
          </a:xfrm>
          <a:prstGeom prst="rect">
            <a:avLst/>
          </a:prstGeom>
          <a:noFill/>
        </p:spPr>
        <p:txBody>
          <a:bodyPr wrap="square" rtlCol="0" anchor="ctr"/>
          <a:lstStyle/>
          <a:p>
            <a:pPr marL="0" indent="0" algn="ctr">
              <a:buNone/>
            </a:pPr>
            <a:r>
              <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Union</a:t>
            </a:r>
            <a:endPar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48" name="Text 46"/>
          <p:cNvSpPr/>
          <p:nvPr/>
        </p:nvSpPr>
        <p:spPr>
          <a:xfrm>
            <a:off x="9441180" y="3575304"/>
            <a:ext cx="841248" cy="54864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Shares memory</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49" name="Shape 47"/>
          <p:cNvSpPr/>
          <p:nvPr/>
        </p:nvSpPr>
        <p:spPr>
          <a:xfrm>
            <a:off x="10433304" y="3154680"/>
            <a:ext cx="932688" cy="1051560"/>
          </a:xfrm>
          <a:prstGeom prst="roundRect">
            <a:avLst>
              <a:gd name="adj" fmla="val 5882"/>
            </a:avLst>
          </a:prstGeom>
          <a:solidFill>
            <a:srgbClr val="2A2B3D"/>
          </a:solidFill>
          <a:ln w="12700">
            <a:solidFill>
              <a:srgbClr val="3E3F58"/>
            </a:solidFill>
            <a:prstDash val="solid"/>
          </a:ln>
        </p:spPr>
      </p:sp>
      <p:sp>
        <p:nvSpPr>
          <p:cNvPr id="50" name="Text 48"/>
          <p:cNvSpPr/>
          <p:nvPr/>
        </p:nvSpPr>
        <p:spPr>
          <a:xfrm>
            <a:off x="10433304" y="3227832"/>
            <a:ext cx="932688" cy="274320"/>
          </a:xfrm>
          <a:prstGeom prst="rect">
            <a:avLst/>
          </a:prstGeom>
          <a:noFill/>
        </p:spPr>
        <p:txBody>
          <a:bodyPr wrap="square" rtlCol="0" anchor="ctr"/>
          <a:lstStyle/>
          <a:p>
            <a:pPr marL="0" indent="0" algn="ctr">
              <a:buNone/>
            </a:pPr>
            <a:r>
              <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rPr>
              <a:t>Enum</a:t>
            </a:r>
            <a:endParaRPr lang="en-US" sz="1400" b="1" dirty="0">
              <a:solidFill>
                <a:srgbClr val="F9C74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1" name="Text 49"/>
          <p:cNvSpPr/>
          <p:nvPr/>
        </p:nvSpPr>
        <p:spPr>
          <a:xfrm>
            <a:off x="10479024" y="3575304"/>
            <a:ext cx="841248" cy="548640"/>
          </a:xfrm>
          <a:prstGeom prst="rect">
            <a:avLst/>
          </a:prstGeom>
          <a:noFill/>
        </p:spPr>
        <p:txBody>
          <a:bodyPr wrap="square" rtlCol="0" anchor="ctr"/>
          <a:lstStyle/>
          <a:p>
            <a:pPr marL="0" indent="0" algn="ctr">
              <a:buNone/>
            </a:pPr>
            <a:r>
              <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rPr>
              <a:t>Named constants</a:t>
            </a:r>
            <a:endParaRPr lang="en-US" sz="1000" dirty="0">
              <a:solidFill>
                <a:srgbClr val="F2F2F2"/>
              </a:solidFill>
              <a:latin typeface="Calibri" panose="020F0502020204030204" pitchFamily="34" charset="0"/>
              <a:ea typeface="Calibri" panose="020F0502020204030204" pitchFamily="34" charset="-122"/>
              <a:cs typeface="Calibri" panose="020F0502020204030204" pitchFamily="34" charset="-120"/>
            </a:endParaRPr>
          </a:p>
        </p:txBody>
      </p:sp>
      <p:sp>
        <p:nvSpPr>
          <p:cNvPr id="52" name="Shape 50"/>
          <p:cNvSpPr/>
          <p:nvPr/>
        </p:nvSpPr>
        <p:spPr>
          <a:xfrm>
            <a:off x="3337560" y="2834640"/>
            <a:ext cx="0" cy="320040"/>
          </a:xfrm>
          <a:prstGeom prst="line">
            <a:avLst/>
          </a:prstGeom>
          <a:noFill/>
          <a:ln w="15875">
            <a:solidFill>
              <a:srgbClr val="3E3F58"/>
            </a:solidFill>
            <a:prstDash val="dash"/>
          </a:ln>
        </p:spPr>
      </p:sp>
      <p:sp>
        <p:nvSpPr>
          <p:cNvPr id="53" name="Shape 51"/>
          <p:cNvSpPr/>
          <p:nvPr/>
        </p:nvSpPr>
        <p:spPr>
          <a:xfrm>
            <a:off x="8823960" y="2834640"/>
            <a:ext cx="0" cy="320040"/>
          </a:xfrm>
          <a:prstGeom prst="line">
            <a:avLst/>
          </a:prstGeom>
          <a:noFill/>
          <a:ln w="15875">
            <a:solidFill>
              <a:srgbClr val="3E3F58"/>
            </a:solidFill>
            <a:prstDash val="dash"/>
          </a:ln>
        </p:spPr>
      </p:sp>
      <p:sp>
        <p:nvSpPr>
          <p:cNvPr id="54" name="Shape 52"/>
          <p:cNvSpPr/>
          <p:nvPr/>
        </p:nvSpPr>
        <p:spPr>
          <a:xfrm>
            <a:off x="457200" y="4434840"/>
            <a:ext cx="5532120" cy="1600200"/>
          </a:xfrm>
          <a:prstGeom prst="roundRect">
            <a:avLst>
              <a:gd name="adj" fmla="val 4571"/>
            </a:avLst>
          </a:prstGeom>
          <a:solidFill>
            <a:srgbClr val="141522"/>
          </a:solidFill>
          <a:ln w="12700">
            <a:solidFill>
              <a:srgbClr val="3E3F58"/>
            </a:solidFill>
            <a:prstDash val="solid"/>
          </a:ln>
        </p:spPr>
      </p:sp>
      <p:sp>
        <p:nvSpPr>
          <p:cNvPr id="55" name="Text 53"/>
          <p:cNvSpPr/>
          <p:nvPr/>
        </p:nvSpPr>
        <p:spPr>
          <a:xfrm>
            <a:off x="640080" y="4526280"/>
            <a:ext cx="5120640" cy="256032"/>
          </a:xfrm>
          <a:prstGeom prst="rect">
            <a:avLst/>
          </a:prstGeom>
          <a:noFill/>
        </p:spPr>
        <p:txBody>
          <a:bodyPr wrap="square" rtlCol="0" anchor="ctr"/>
          <a:lstStyle/>
          <a:p>
            <a:pPr marL="0" indent="0">
              <a:buNone/>
            </a:pPr>
            <a:r>
              <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rPr>
              <a:t>PRIMITIVE — EXAMPLE</a:t>
            </a:r>
            <a:endParaRPr lang="en-US" sz="1400" b="1" kern="0" spc="100" dirty="0">
              <a:solidFill>
                <a:srgbClr val="4FD6C4"/>
              </a:solidFill>
              <a:latin typeface="Calibri" panose="020F0502020204030204" pitchFamily="34" charset="0"/>
              <a:ea typeface="Calibri" panose="020F0502020204030204" pitchFamily="34" charset="-122"/>
              <a:cs typeface="Calibri" panose="020F0502020204030204" pitchFamily="34" charset="-120"/>
            </a:endParaRPr>
          </a:p>
        </p:txBody>
      </p:sp>
      <p:sp>
        <p:nvSpPr>
          <p:cNvPr id="56" name="Text 54"/>
          <p:cNvSpPr/>
          <p:nvPr/>
        </p:nvSpPr>
        <p:spPr>
          <a:xfrm>
            <a:off x="640080" y="4818888"/>
            <a:ext cx="5120640" cy="1143000"/>
          </a:xfrm>
          <a:prstGeom prst="rect">
            <a:avLst/>
          </a:prstGeom>
          <a:noFill/>
        </p:spPr>
        <p:txBody>
          <a:bodyPr wrap="square" rtlCol="0" anchor="ctr"/>
          <a:lstStyle/>
          <a:p>
            <a:pPr marL="0" indent="0">
              <a:lnSpc>
                <a:spcPct val="125000"/>
              </a:lnSpc>
              <a:buNone/>
            </a:pPr>
            <a:r>
              <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age = 25;
float pi = 3.14;
char grade = 'A';</a:t>
            </a:r>
            <a:endParaRPr lang="en-US" sz="16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57" name="Shape 55"/>
          <p:cNvSpPr/>
          <p:nvPr/>
        </p:nvSpPr>
        <p:spPr>
          <a:xfrm>
            <a:off x="6172200" y="4434840"/>
            <a:ext cx="5532120" cy="1600200"/>
          </a:xfrm>
          <a:prstGeom prst="roundRect">
            <a:avLst>
              <a:gd name="adj" fmla="val 4571"/>
            </a:avLst>
          </a:prstGeom>
          <a:solidFill>
            <a:srgbClr val="141522"/>
          </a:solidFill>
          <a:ln w="12700">
            <a:solidFill>
              <a:srgbClr val="3E3F58"/>
            </a:solidFill>
            <a:prstDash val="solid"/>
          </a:ln>
        </p:spPr>
      </p:sp>
      <p:sp>
        <p:nvSpPr>
          <p:cNvPr id="58" name="Text 56"/>
          <p:cNvSpPr/>
          <p:nvPr/>
        </p:nvSpPr>
        <p:spPr>
          <a:xfrm>
            <a:off x="6355080" y="4526280"/>
            <a:ext cx="5120640" cy="256032"/>
          </a:xfrm>
          <a:prstGeom prst="rect">
            <a:avLst/>
          </a:prstGeom>
          <a:noFill/>
        </p:spPr>
        <p:txBody>
          <a:bodyPr wrap="square" rtlCol="0" anchor="ctr"/>
          <a:lstStyle/>
          <a:p>
            <a:pPr marL="0" indent="0">
              <a:buNone/>
            </a:pPr>
            <a:r>
              <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rPr>
              <a:t>NON-PRIMITIVE — EXAMPLE</a:t>
            </a:r>
            <a:endParaRPr lang="en-US" sz="1400" b="1" kern="0" spc="100" dirty="0">
              <a:solidFill>
                <a:srgbClr val="F9C74F"/>
              </a:solidFill>
              <a:latin typeface="Calibri" panose="020F0502020204030204" pitchFamily="34" charset="0"/>
              <a:ea typeface="Calibri" panose="020F0502020204030204" pitchFamily="34" charset="-122"/>
              <a:cs typeface="Calibri" panose="020F0502020204030204" pitchFamily="34" charset="-120"/>
            </a:endParaRPr>
          </a:p>
        </p:txBody>
      </p:sp>
      <p:sp>
        <p:nvSpPr>
          <p:cNvPr id="59" name="Text 57"/>
          <p:cNvSpPr/>
          <p:nvPr/>
        </p:nvSpPr>
        <p:spPr>
          <a:xfrm>
            <a:off x="6355080" y="4818888"/>
            <a:ext cx="5120640" cy="1143000"/>
          </a:xfrm>
          <a:prstGeom prst="rect">
            <a:avLst/>
          </a:prstGeom>
          <a:noFill/>
        </p:spPr>
        <p:txBody>
          <a:bodyPr wrap="square" rtlCol="0" anchor="ctr"/>
          <a:lstStyle/>
          <a:p>
            <a:pPr marL="0" indent="0">
              <a:lnSpc>
                <a:spcPct val="115000"/>
              </a:lnSpc>
              <a:buNone/>
            </a:pPr>
            <a:r>
              <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rPr>
              <a:t>int marks[5] = {90, 85, 77, 60, 95};
struct Student {
    int id;
    char name[20];
};</a:t>
            </a:r>
            <a:endParaRPr lang="en-US" sz="1400" dirty="0">
              <a:solidFill>
                <a:srgbClr val="F2F2F2"/>
              </a:solidFill>
              <a:latin typeface="Courier New" panose="02070309020205020404" pitchFamily="34" charset="0"/>
              <a:ea typeface="Courier New" panose="02070309020205020404" pitchFamily="34" charset="-122"/>
              <a:cs typeface="Courier New" panose="02070309020205020404" pitchFamily="34" charset="-12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47242" cy="292608"/>
          </a:xfrm>
          <a:prstGeom prst="roundRect">
            <a:avLst>
              <a:gd name="adj" fmla="val 50000"/>
            </a:avLst>
          </a:prstGeom>
          <a:solidFill>
            <a:srgbClr val="00C2A8">
              <a:alpha val="88000"/>
            </a:srgbClr>
          </a:solidFill>
        </p:spPr>
      </p:sp>
      <p:sp>
        <p:nvSpPr>
          <p:cNvPr id="3" name="Text 1"/>
          <p:cNvSpPr/>
          <p:nvPr/>
        </p:nvSpPr>
        <p:spPr>
          <a:xfrm>
            <a:off x="548640" y="365760"/>
            <a:ext cx="1247242"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DATA CONCEPTS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Data Types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60020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What are data types?</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They tell the compiler what kind of value a variable will store, and how much memory to reserve.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7" name="Table 0"/>
          <p:cNvGraphicFramePr>
            <a:graphicFrameLocks noGrp="1"/>
          </p:cNvGraphicFramePr>
          <p:nvPr/>
        </p:nvGraphicFramePr>
        <p:xfrm>
          <a:off x="548640" y="3337560"/>
          <a:ext cx="5623560" cy="1828800"/>
        </p:xfrm>
        <a:graphic>
          <a:graphicData uri="http://schemas.openxmlformats.org/drawingml/2006/table">
            <a:tbl>
              <a:tblPr/>
              <a:tblGrid>
                <a:gridCol w="1874520"/>
                <a:gridCol w="1874520"/>
                <a:gridCol w="1874520"/>
              </a:tblGrid>
              <a:tr h="304800">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Example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Size*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3048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int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25, -7</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4 bytes</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float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3.14</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4 bytes</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char</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1 byte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double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3.14159265</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8 bytes</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304800">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void</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(no value)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11" name="Shape 8"/>
          <p:cNvSpPr/>
          <p:nvPr/>
        </p:nvSpPr>
        <p:spPr>
          <a:xfrm>
            <a:off x="6912864" y="1700784"/>
            <a:ext cx="82296" cy="82296"/>
          </a:xfrm>
          <a:prstGeom prst="ellipse">
            <a:avLst/>
          </a:prstGeom>
          <a:solidFill>
            <a:srgbClr val="98C379"/>
          </a:solidFill>
        </p:spPr>
      </p:sp>
      <p:sp>
        <p:nvSpPr>
          <p:cNvPr id="12"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datatypes.c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 20;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float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price = 99.5;</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char</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grade = </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'A'</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pi = 3.14159265;</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 %.1f %c %lf"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price, grade, pi);</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5" name="Text 12"/>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20 99.5 A 3.141593</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20</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14"/>
          <p:cNvSpPr/>
          <p:nvPr/>
        </p:nvSpPr>
        <p:spPr>
          <a:xfrm>
            <a:off x="548640" y="5989320"/>
            <a:ext cx="5623560" cy="274320"/>
          </a:xfrm>
          <a:prstGeom prst="rect">
            <a:avLst/>
          </a:prstGeom>
          <a:noFill/>
        </p:spPr>
        <p:txBody>
          <a:bodyPr wrap="square" rtlCol="0" anchor="ctr"/>
          <a:lstStyle/>
          <a:p>
            <a:pPr marL="0" indent="0">
              <a:buNone/>
            </a:pPr>
            <a:r>
              <a:rPr lang="en-US" sz="1200" i="1" dirty="0">
                <a:solidFill>
                  <a:srgbClr val="7C93A8"/>
                </a:solidFill>
              </a:rPr>
              <a:t>*Sizes are typical on most systems (may vary by compiler).</a:t>
            </a:r>
            <a:endParaRPr lang="en-US" sz="1200" i="1" dirty="0">
              <a:solidFill>
                <a:srgbClr val="7C93A8"/>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C1D2B"/>
          </a:solidFill>
        </p:spPr>
      </p:sp>
      <p:sp>
        <p:nvSpPr>
          <p:cNvPr id="3" name="Text 1"/>
          <p:cNvSpPr/>
          <p:nvPr/>
        </p:nvSpPr>
        <p:spPr>
          <a:xfrm>
            <a:off x="502920" y="109728"/>
            <a:ext cx="10058400" cy="274320"/>
          </a:xfrm>
          <a:prstGeom prst="rect">
            <a:avLst/>
          </a:prstGeom>
          <a:noFill/>
        </p:spPr>
        <p:txBody>
          <a:bodyPr wrap="square" rtlCol="0" anchor="ctr"/>
          <a:lstStyle/>
          <a:p>
            <a:pPr marL="0" indent="0">
              <a:buNone/>
            </a:pPr>
            <a:endParaRPr lang="en-US" sz="1600" dirty="0"/>
          </a:p>
        </p:txBody>
      </p:sp>
      <p:sp>
        <p:nvSpPr>
          <p:cNvPr id="4" name="Text 2"/>
          <p:cNvSpPr/>
          <p:nvPr/>
        </p:nvSpPr>
        <p:spPr>
          <a:xfrm>
            <a:off x="502920" y="365760"/>
            <a:ext cx="11155680" cy="640080"/>
          </a:xfrm>
          <a:prstGeom prst="rect">
            <a:avLst/>
          </a:prstGeom>
          <a:noFill/>
        </p:spPr>
        <p:txBody>
          <a:bodyPr wrap="square" rtlCol="0" anchor="ctr"/>
          <a:lstStyle/>
          <a:p>
            <a:pPr marL="0" indent="0">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Types in C</a:t>
            </a:r>
            <a:endPar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9" name="Table 0"/>
          <p:cNvGraphicFramePr>
            <a:graphicFrameLocks noGrp="1"/>
          </p:cNvGraphicFramePr>
          <p:nvPr>
            <p:custDataLst>
              <p:tags r:id="rId1"/>
            </p:custDataLst>
          </p:nvPr>
        </p:nvGraphicFramePr>
        <p:xfrm>
          <a:off x="548640" y="2216150"/>
          <a:ext cx="11064240" cy="2806065"/>
        </p:xfrm>
        <a:graphic>
          <a:graphicData uri="http://schemas.openxmlformats.org/drawingml/2006/table">
            <a:tbl>
              <a:tblPr/>
              <a:tblGrid>
                <a:gridCol w="1554480"/>
                <a:gridCol w="3017520"/>
                <a:gridCol w="1828800"/>
                <a:gridCol w="4663440"/>
              </a:tblGrid>
              <a:tr h="311785">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Category</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Size (typical)</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Range / Use</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13293D"/>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Primary</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int</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2 or 4 bytes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-32,768 to 32,767 (16-bit) or larger</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Primary</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float</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4 bytes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 ±3.4E-38 to ±3.4E+38, 6 digit precision</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Primary</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double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8 bytes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Larger range &amp; precision than float</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Primary</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char</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1 byte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-128 to 127 (stores one character)</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Primary</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void</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Represents 'no value' (empty return type)</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Modifiers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short, long, signed, unsigned</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varies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Modify size/range, e.g. unsigned int, long int</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Derived</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array, pointer, function</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varies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Built from primary types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4F6F5"/>
                    </a:solidFill>
                  </a:tcPr>
                </a:tc>
              </a:tr>
              <a:tr h="311785">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User-defined</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struct, union, enum, typedef</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varies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rPr>
                        <a:t>Programmer-defined custom types</a:t>
                      </a:r>
                      <a:endParaRPr lang="en-US" sz="1600" dirty="0">
                        <a:solidFill>
                          <a:srgbClr val="1B1B1F"/>
                        </a:solidFill>
                        <a:latin typeface="Calibri" panose="020F0502020204030204" pitchFamily="34" charset="0"/>
                        <a:ea typeface="Calibri" panose="020F0502020204030204" pitchFamily="34" charset="-122"/>
                        <a:cs typeface="Calibri" panose="020F0502020204030204" pitchFamily="34" charset="-120"/>
                      </a:endParaRPr>
                    </a:p>
                  </a:txBody>
                  <a:tcPr anchor="ctr">
                    <a:lnL w="9525" cap="flat" cmpd="sng" algn="ctr">
                      <a:solidFill>
                        <a:srgbClr val="D9DFE1"/>
                      </a:solidFill>
                      <a:prstDash val="solid"/>
                      <a:round/>
                      <a:headEnd type="none" w="med" len="med"/>
                      <a:tailEnd type="none" w="med" len="med"/>
                    </a:lnL>
                    <a:lnR w="9525" cap="flat" cmpd="sng" algn="ctr">
                      <a:solidFill>
                        <a:srgbClr val="D9DFE1"/>
                      </a:solidFill>
                      <a:prstDash val="solid"/>
                      <a:round/>
                      <a:headEnd type="none" w="med" len="med"/>
                      <a:tailEnd type="none" w="med" len="med"/>
                    </a:lnR>
                    <a:lnT w="9525" cap="flat" cmpd="sng" algn="ctr">
                      <a:solidFill>
                        <a:srgbClr val="D9DFE1"/>
                      </a:solidFill>
                      <a:prstDash val="solid"/>
                      <a:round/>
                      <a:headEnd type="none" w="med" len="med"/>
                      <a:tailEnd type="none" w="med" len="med"/>
                    </a:lnT>
                    <a:lnB w="9525" cap="flat" cmpd="sng" algn="ctr">
                      <a:solidFill>
                        <a:srgbClr val="D9DFE1"/>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394960"/>
            <a:ext cx="11064240" cy="548640"/>
          </a:xfrm>
          <a:prstGeom prst="rect">
            <a:avLst/>
          </a:prstGeom>
          <a:noFill/>
        </p:spPr>
        <p:txBody>
          <a:bodyPr wrap="square" rtlCol="0" anchor="t"/>
          <a:lstStyle/>
          <a:p>
            <a:pPr indent="0">
              <a:lnSpc>
                <a:spcPct val="115000"/>
              </a:lnSpc>
              <a:spcAft>
                <a:spcPts val="1000"/>
              </a:spcAft>
              <a:buSzPct val="100000"/>
              <a:buNone/>
            </a:pPr>
            <a:endParaRPr lang="en-US" dirty="0"/>
          </a:p>
        </p:txBody>
      </p:sp>
      <p:sp>
        <p:nvSpPr>
          <p:cNvPr id="7" name="Text 4"/>
          <p:cNvSpPr/>
          <p:nvPr/>
        </p:nvSpPr>
        <p:spPr>
          <a:xfrm>
            <a:off x="11612880" y="6537960"/>
            <a:ext cx="457200" cy="274320"/>
          </a:xfrm>
          <a:prstGeom prst="rect">
            <a:avLst/>
          </a:prstGeom>
          <a:noFill/>
        </p:spPr>
        <p:txBody>
          <a:bodyPr wrap="square" rtlCol="0" anchor="ctr"/>
          <a:lstStyle/>
          <a:p>
            <a:pPr marL="0" indent="0" algn="r">
              <a:buNone/>
            </a:pPr>
            <a:r>
              <a:rPr lang="en-US" sz="1600" dirty="0">
                <a:solidFill>
                  <a:srgbClr val="9AA6AA"/>
                </a:solidFill>
                <a:latin typeface="Calibri" panose="020F0502020204030204" pitchFamily="34" charset="0"/>
                <a:ea typeface="Calibri" panose="020F0502020204030204" pitchFamily="34" charset="-122"/>
                <a:cs typeface="Calibri" panose="020F0502020204030204" pitchFamily="34" charset="-120"/>
              </a:rPr>
              <a:t>7</a:t>
            </a:r>
            <a:endParaRPr lang="en-US" sz="1600" dirty="0">
              <a:solidFill>
                <a:srgbClr val="9AA6AA"/>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05840" cy="292608"/>
          </a:xfrm>
          <a:prstGeom prst="roundRect">
            <a:avLst>
              <a:gd name="adj" fmla="val 50000"/>
            </a:avLst>
          </a:prstGeom>
          <a:solidFill>
            <a:srgbClr val="00C2A8">
              <a:alpha val="88000"/>
            </a:srgbClr>
          </a:solidFill>
        </p:spPr>
      </p:sp>
      <p:sp>
        <p:nvSpPr>
          <p:cNvPr id="3" name="Text 1"/>
          <p:cNvSpPr/>
          <p:nvPr/>
        </p:nvSpPr>
        <p:spPr>
          <a:xfrm>
            <a:off x="548640" y="365760"/>
            <a:ext cx="1188085" cy="292735"/>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STATEMENTS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Declarations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declaration tells the compiler the name and data type of a variable before it is used.</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Syntax</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data_type variable_name;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Multiple variables</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You can declare several variables of the same type in one line, separated by commas.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Initialization</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Giving a value at the time of declaration, e.g. int x = 5;</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declare.c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x, y, z;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declaration</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 = 0;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declaration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initialization</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x = 2; y = 3; z = 4;</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 = x + y + z;</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"Total = %d"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total);</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Total = 9</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21</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82370" cy="292735"/>
          </a:xfrm>
          <a:prstGeom prst="roundRect">
            <a:avLst>
              <a:gd name="adj" fmla="val 50000"/>
            </a:avLst>
          </a:prstGeom>
          <a:solidFill>
            <a:srgbClr val="00C2A8">
              <a:alpha val="88000"/>
            </a:srgbClr>
          </a:solidFill>
        </p:spPr>
      </p:sp>
      <p:sp>
        <p:nvSpPr>
          <p:cNvPr id="3" name="Text 1"/>
          <p:cNvSpPr/>
          <p:nvPr/>
        </p:nvSpPr>
        <p:spPr>
          <a:xfrm>
            <a:off x="548640" y="365760"/>
            <a:ext cx="1182370" cy="292735"/>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STATEMENTS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Input–Output Statements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printf()</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Used to display (print) output on the screen.</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scanf()</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Used to read (accept) input typed by the user.</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Format specifiers</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%d for int, %f for float, %c for char, %s for string.</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The &amp; symbol</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scanf needs &amp; before a variable name to store the value at its memory address.</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3977640"/>
          </a:xfrm>
          <a:prstGeom prst="roundRect">
            <a:avLst>
              <a:gd name="adj" fmla="val 2759"/>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io.c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46557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"Enter your age: "</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scanf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&amp;age);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input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"You are %d years old"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output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74243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74243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Enter your age: 19 -&gt; You are 19 years old</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22</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05840" cy="292608"/>
          </a:xfrm>
          <a:prstGeom prst="roundRect">
            <a:avLst>
              <a:gd name="adj" fmla="val 50000"/>
            </a:avLst>
          </a:prstGeom>
          <a:solidFill>
            <a:srgbClr val="00C2A8">
              <a:alpha val="88000"/>
            </a:srgbClr>
          </a:solidFill>
        </p:spPr>
      </p:sp>
      <p:sp>
        <p:nvSpPr>
          <p:cNvPr id="3" name="Text 1"/>
          <p:cNvSpPr/>
          <p:nvPr/>
        </p:nvSpPr>
        <p:spPr>
          <a:xfrm>
            <a:off x="548640" y="365760"/>
            <a:ext cx="1160780" cy="292735"/>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STATEMENTS</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9877"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Compound Statements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Also called a block. A group of two or more statements enclosed in curly braces { }.</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Treated as one unit</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 compiler treats the whole block as a single statement, usually after if, else, for, while.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Scope</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Variables declared inside a block exist only inside that block.</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3977640"/>
          </a:xfrm>
          <a:prstGeom prst="roundRect">
            <a:avLst>
              <a:gd name="adj" fmla="val 2759"/>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compound.c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46557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 75;</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&gt;= 40) {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block starts</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"Result: Pass\n"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"Marks: %d"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block ends</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74243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74243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Result: Pass, Marks: 75</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23</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if &amp; if-else Statement</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548640" y="1417320"/>
            <a:ext cx="5623560" cy="457200"/>
          </a:xfrm>
          <a:prstGeom prst="roundRect">
            <a:avLst>
              <a:gd name="adj" fmla="val 16000"/>
            </a:avLst>
          </a:prstGeom>
          <a:solidFill>
            <a:srgbClr val="0B2545"/>
          </a:solidFill>
        </p:spPr>
      </p:sp>
      <p:sp>
        <p:nvSpPr>
          <p:cNvPr id="6" name="Text 4"/>
          <p:cNvSpPr/>
          <p:nvPr/>
        </p:nvSpPr>
        <p:spPr>
          <a:xfrm>
            <a:off x="731520" y="1417320"/>
            <a:ext cx="5257800" cy="457200"/>
          </a:xfrm>
          <a:prstGeom prst="rect">
            <a:avLst/>
          </a:prstGeom>
          <a:noFill/>
        </p:spPr>
        <p:txBody>
          <a:bodyPr wrap="square" rtlCol="0" anchor="ctr"/>
          <a:lstStyle/>
          <a:p>
            <a:pPr marL="0" indent="0">
              <a:buNone/>
            </a:pPr>
            <a:r>
              <a:rPr lang="en-US" sz="1400" b="1" dirty="0">
                <a:solidFill>
                  <a:srgbClr val="5EEAD4"/>
                </a:solidFill>
                <a:latin typeface="Calibri" panose="020F0502020204030204" pitchFamily="34" charset="0"/>
                <a:ea typeface="Calibri" panose="020F0502020204030204" pitchFamily="34" charset="-122"/>
                <a:cs typeface="Calibri" panose="020F0502020204030204" pitchFamily="34" charset="-120"/>
              </a:rPr>
              <a:t>Syntax:  </a:t>
            </a:r>
            <a:r>
              <a:rPr lang="en-US" sz="14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if (condition) { ... } else { ... }</a:t>
            </a:r>
            <a:endParaRPr lang="en-US" sz="14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548640" y="2057400"/>
            <a:ext cx="5623560" cy="402336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if statement</a:t>
            </a:r>
            <a:endParaRPr lang="en-US" sz="1400" dirty="0"/>
          </a:p>
          <a:p>
            <a:pPr marL="0" lvl="1" indent="0">
              <a:spcAft>
                <a:spcPts val="7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Runs its block ONLY when the condition is true. Nothing happens if it is false.</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if-else statement</a:t>
            </a:r>
            <a:endParaRPr lang="en-US" sz="1400" dirty="0"/>
          </a:p>
          <a:p>
            <a:pPr marL="0" lvl="1" indent="0">
              <a:spcAft>
                <a:spcPts val="7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Runs one block if the condition is true, and a different block if it is false.</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else-if ladder</a:t>
            </a:r>
            <a:endParaRPr lang="en-US" sz="1400" dirty="0"/>
          </a:p>
          <a:p>
            <a:pPr marL="0" lvl="1" indent="0">
              <a:spcAft>
                <a:spcPts val="7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Chain several conditions with else if to check them one by one, top to bottom.</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46520" y="1417320"/>
            <a:ext cx="5193792" cy="4434840"/>
          </a:xfrm>
          <a:prstGeom prst="roundRect">
            <a:avLst>
              <a:gd name="adj" fmla="val 2474"/>
            </a:avLst>
          </a:prstGeom>
          <a:solidFill>
            <a:srgbClr val="0B2036"/>
          </a:solidFill>
          <a:effectLst>
            <a:outerShdw blurRad="101600" dist="38100" dir="5400000" algn="bl" rotWithShape="0">
              <a:srgbClr val="0B2036">
                <a:alpha val="35000"/>
              </a:srgbClr>
            </a:outerShdw>
          </a:effectLst>
        </p:spPr>
      </p:sp>
      <p:sp>
        <p:nvSpPr>
          <p:cNvPr id="9" name="Shape 7"/>
          <p:cNvSpPr/>
          <p:nvPr/>
        </p:nvSpPr>
        <p:spPr>
          <a:xfrm>
            <a:off x="6446520" y="1417320"/>
            <a:ext cx="5193792" cy="292608"/>
          </a:xfrm>
          <a:prstGeom prst="roundRect">
            <a:avLst>
              <a:gd name="adj" fmla="val 37500"/>
            </a:avLst>
          </a:prstGeom>
          <a:solidFill>
            <a:srgbClr val="133B5C"/>
          </a:solidFill>
        </p:spPr>
      </p:sp>
      <p:sp>
        <p:nvSpPr>
          <p:cNvPr id="10" name="Shape 8"/>
          <p:cNvSpPr/>
          <p:nvPr/>
        </p:nvSpPr>
        <p:spPr>
          <a:xfrm>
            <a:off x="6583680" y="1517904"/>
            <a:ext cx="82296" cy="82296"/>
          </a:xfrm>
          <a:prstGeom prst="ellipse">
            <a:avLst/>
          </a:prstGeom>
          <a:solidFill>
            <a:srgbClr val="E06C75"/>
          </a:solidFill>
        </p:spPr>
      </p:sp>
      <p:sp>
        <p:nvSpPr>
          <p:cNvPr id="11" name="Shape 9"/>
          <p:cNvSpPr/>
          <p:nvPr/>
        </p:nvSpPr>
        <p:spPr>
          <a:xfrm>
            <a:off x="6748272" y="1517904"/>
            <a:ext cx="82296" cy="82296"/>
          </a:xfrm>
          <a:prstGeom prst="ellipse">
            <a:avLst/>
          </a:prstGeom>
          <a:solidFill>
            <a:srgbClr val="E5C07B"/>
          </a:solidFill>
        </p:spPr>
      </p:sp>
      <p:sp>
        <p:nvSpPr>
          <p:cNvPr id="12" name="Shape 10"/>
          <p:cNvSpPr/>
          <p:nvPr/>
        </p:nvSpPr>
        <p:spPr>
          <a:xfrm>
            <a:off x="6912864" y="1517904"/>
            <a:ext cx="82296" cy="82296"/>
          </a:xfrm>
          <a:prstGeom prst="ellipse">
            <a:avLst/>
          </a:prstGeom>
          <a:solidFill>
            <a:srgbClr val="98C379"/>
          </a:solidFill>
        </p:spPr>
      </p:sp>
      <p:sp>
        <p:nvSpPr>
          <p:cNvPr id="13" name="Text 11"/>
          <p:cNvSpPr/>
          <p:nvPr/>
        </p:nvSpPr>
        <p:spPr>
          <a:xfrm>
            <a:off x="7040880" y="141732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if_else.c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p:nvPr/>
        </p:nvSpPr>
        <p:spPr>
          <a:xfrm>
            <a:off x="6684264" y="1801368"/>
            <a:ext cx="4718304" cy="392277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 82;</a:t>
            </a:r>
            <a:endParaRPr lang="en-US" sz="1400" dirty="0"/>
          </a:p>
          <a:p>
            <a:pPr marL="0" indent="0" algn="l">
              <a:lnSpc>
                <a:spcPct val="115000"/>
              </a:lnSpc>
              <a:buNone/>
            </a:pP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&gt;= 90)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"Grade: A"</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else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&gt;= 75)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"Grade: B"</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else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(marks &gt;= 40)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"Grade: C"</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else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"Grade: Fail"</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Shape 13"/>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6" name="Text 14"/>
          <p:cNvSpPr/>
          <p:nvPr/>
        </p:nvSpPr>
        <p:spPr>
          <a:xfrm>
            <a:off x="6583680" y="601675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Grade: B</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24</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NESTED IF</a:t>
            </a:r>
            <a:endParaRPr lang="en-US" sz="14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7315200" cy="548640"/>
          </a:xfrm>
          <a:prstGeom prst="rect">
            <a:avLst/>
          </a:prstGeom>
          <a:noFill/>
        </p:spPr>
        <p:txBody>
          <a:bodyPr wrap="square" rtlCol="0" anchor="ctr"/>
          <a:lstStyle/>
          <a:p>
            <a:pPr marL="0" indent="0">
              <a:buNone/>
            </a:pPr>
            <a:r>
              <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rPr>
              <a:t>What Is a Nested if?</a:t>
            </a:r>
            <a:endParaRPr lang="en-US" sz="36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640080" y="1508760"/>
            <a:ext cx="5486400" cy="1371600"/>
          </a:xfrm>
          <a:prstGeom prst="rect">
            <a:avLst/>
          </a:prstGeom>
          <a:noFill/>
        </p:spPr>
        <p:txBody>
          <a:bodyPr wrap="square" rtlCol="0" anchor="ctr"/>
          <a:lstStyle/>
          <a:p>
            <a:pPr marL="0" indent="0">
              <a:lnSpc>
                <a:spcPct val="130000"/>
              </a:lnSpc>
              <a:buNone/>
            </a:pPr>
            <a:r>
              <a:rPr lang="en-US" dirty="0">
                <a:solidFill>
                  <a:srgbClr val="3D4A5C"/>
                </a:solidFill>
                <a:latin typeface="Calibri" panose="020F0502020204030204" pitchFamily="34" charset="0"/>
                <a:ea typeface="Calibri" panose="020F0502020204030204" pitchFamily="34" charset="-122"/>
                <a:cs typeface="Calibri" panose="020F0502020204030204" pitchFamily="34" charset="-120"/>
              </a:rPr>
              <a:t>An if statement placed inside the body of another if (or else) statement. It lets a program test a second condition only after the first one has already been satisfied — useful for layered, dependent decisions.</a:t>
            </a:r>
            <a:endParaRPr lang="en-US"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0080" y="3118104"/>
            <a:ext cx="91440" cy="91440"/>
          </a:xfrm>
          <a:prstGeom prst="ellipse">
            <a:avLst/>
          </a:prstGeom>
          <a:solidFill>
            <a:srgbClr val="FFB300"/>
          </a:solidFill>
        </p:spPr>
      </p:sp>
      <p:sp>
        <p:nvSpPr>
          <p:cNvPr id="7" name="Text 5"/>
          <p:cNvSpPr/>
          <p:nvPr/>
        </p:nvSpPr>
        <p:spPr>
          <a:xfrm>
            <a:off x="896112" y="3063240"/>
            <a:ext cx="5212080" cy="365760"/>
          </a:xfrm>
          <a:prstGeom prst="rect">
            <a:avLst/>
          </a:prstGeom>
          <a:noFill/>
        </p:spPr>
        <p:txBody>
          <a:bodyPr wrap="square" lIns="0" tIns="0" rIns="0" bIns="0" rtlCol="0" anchor="ctr"/>
          <a:lstStyle/>
          <a:p>
            <a:pPr marL="0" indent="0">
              <a:buNone/>
            </a:pPr>
            <a:r>
              <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rPr>
              <a:t>Inner if only runs when the outer condition is true</a:t>
            </a:r>
            <a:endPar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0080" y="3621024"/>
            <a:ext cx="91440" cy="91440"/>
          </a:xfrm>
          <a:prstGeom prst="ellipse">
            <a:avLst/>
          </a:prstGeom>
          <a:solidFill>
            <a:srgbClr val="FFB300"/>
          </a:solidFill>
        </p:spPr>
      </p:sp>
      <p:sp>
        <p:nvSpPr>
          <p:cNvPr id="9" name="Text 7"/>
          <p:cNvSpPr/>
          <p:nvPr/>
        </p:nvSpPr>
        <p:spPr>
          <a:xfrm>
            <a:off x="896112" y="3566160"/>
            <a:ext cx="5212080" cy="365760"/>
          </a:xfrm>
          <a:prstGeom prst="rect">
            <a:avLst/>
          </a:prstGeom>
          <a:noFill/>
        </p:spPr>
        <p:txBody>
          <a:bodyPr wrap="square" lIns="0" tIns="0" rIns="0" bIns="0" rtlCol="0" anchor="ctr"/>
          <a:lstStyle/>
          <a:p>
            <a:pPr marL="0" indent="0">
              <a:buNone/>
            </a:pPr>
            <a:r>
              <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rPr>
              <a:t>Each level narrows the decision further</a:t>
            </a:r>
            <a:endPar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640080" y="4123944"/>
            <a:ext cx="91440" cy="91440"/>
          </a:xfrm>
          <a:prstGeom prst="ellipse">
            <a:avLst/>
          </a:prstGeom>
          <a:solidFill>
            <a:srgbClr val="FFB300"/>
          </a:solidFill>
        </p:spPr>
      </p:sp>
      <p:sp>
        <p:nvSpPr>
          <p:cNvPr id="11" name="Text 9"/>
          <p:cNvSpPr/>
          <p:nvPr/>
        </p:nvSpPr>
        <p:spPr>
          <a:xfrm>
            <a:off x="896112" y="4069080"/>
            <a:ext cx="5212080" cy="365760"/>
          </a:xfrm>
          <a:prstGeom prst="rect">
            <a:avLst/>
          </a:prstGeom>
          <a:noFill/>
        </p:spPr>
        <p:txBody>
          <a:bodyPr wrap="square" lIns="0" tIns="0" rIns="0" bIns="0" rtlCol="0" anchor="ctr"/>
          <a:lstStyle/>
          <a:p>
            <a:pPr marL="0" indent="0">
              <a:buNone/>
            </a:pPr>
            <a:r>
              <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rPr>
              <a:t>Can be nested to any depth (keep it readable!)</a:t>
            </a:r>
            <a:endParaRPr lang="en-US" sz="16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6400800" y="1508760"/>
            <a:ext cx="5120640" cy="4206240"/>
          </a:xfrm>
          <a:prstGeom prst="roundRect">
            <a:avLst>
              <a:gd name="adj" fmla="val 1739"/>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13" name="Shape 11"/>
          <p:cNvSpPr/>
          <p:nvPr/>
        </p:nvSpPr>
        <p:spPr>
          <a:xfrm>
            <a:off x="6565392" y="1655064"/>
            <a:ext cx="109728" cy="109728"/>
          </a:xfrm>
          <a:prstGeom prst="ellipse">
            <a:avLst/>
          </a:prstGeom>
          <a:solidFill>
            <a:srgbClr val="FF5F56"/>
          </a:solidFill>
        </p:spPr>
      </p:sp>
      <p:sp>
        <p:nvSpPr>
          <p:cNvPr id="14" name="Shape 12"/>
          <p:cNvSpPr/>
          <p:nvPr/>
        </p:nvSpPr>
        <p:spPr>
          <a:xfrm>
            <a:off x="6766560" y="1655064"/>
            <a:ext cx="109728" cy="109728"/>
          </a:xfrm>
          <a:prstGeom prst="ellipse">
            <a:avLst/>
          </a:prstGeom>
          <a:solidFill>
            <a:srgbClr val="FFBD2E"/>
          </a:solidFill>
        </p:spPr>
      </p:sp>
      <p:sp>
        <p:nvSpPr>
          <p:cNvPr id="15" name="Shape 13"/>
          <p:cNvSpPr/>
          <p:nvPr/>
        </p:nvSpPr>
        <p:spPr>
          <a:xfrm>
            <a:off x="6967728" y="1655064"/>
            <a:ext cx="109728" cy="109728"/>
          </a:xfrm>
          <a:prstGeom prst="ellipse">
            <a:avLst/>
          </a:prstGeom>
          <a:solidFill>
            <a:srgbClr val="27C93F"/>
          </a:solidFill>
        </p:spPr>
      </p:sp>
      <p:sp>
        <p:nvSpPr>
          <p:cNvPr id="16" name="Text 14"/>
          <p:cNvSpPr/>
          <p:nvPr/>
        </p:nvSpPr>
        <p:spPr>
          <a:xfrm>
            <a:off x="7223760" y="1600200"/>
            <a:ext cx="4023360" cy="219456"/>
          </a:xfrm>
          <a:prstGeom prst="rect">
            <a:avLst/>
          </a:prstGeom>
          <a:noFill/>
        </p:spPr>
        <p:txBody>
          <a:bodyPr wrap="square" lIns="0" tIns="0" rIns="0" bIns="0" rtlCol="0" anchor="ctr"/>
          <a:lstStyle/>
          <a:p>
            <a:pPr marL="0" indent="0" algn="l">
              <a:buNone/>
            </a:pPr>
            <a:r>
              <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syntax.c</a:t>
            </a:r>
            <a:endParaRPr lang="en-US" sz="14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6629400" y="1892808"/>
            <a:ext cx="4663440" cy="3703320"/>
          </a:xfrm>
          <a:prstGeom prst="rect">
            <a:avLst/>
          </a:prstGeom>
          <a:noFill/>
        </p:spPr>
        <p:txBody>
          <a:bodyPr wrap="square" lIns="0" tIns="0" rIns="0" bIns="0" rtlCol="0" anchor="t"/>
          <a:lstStyle/>
          <a:p>
            <a:pPr marL="0" indent="0">
              <a:lnSpc>
                <a:spcPct val="125000"/>
              </a:lnSpc>
              <a:buNone/>
            </a:pP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(condition1)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(condition2)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runs when BOTH</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conditions are true</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condition1 true,</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condition2 false</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 condition1 is false</a:t>
            </a:r>
            <a:endParaRPr lang="en-US" sz="1600" dirty="0"/>
          </a:p>
          <a:p>
            <a:pPr marL="0" indent="0">
              <a:lnSpc>
                <a:spcPct val="125000"/>
              </a:lnSpc>
              <a:buNone/>
            </a:pPr>
            <a:r>
              <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8" name="Text 16"/>
          <p:cNvSpPr/>
          <p:nvPr/>
        </p:nvSpPr>
        <p:spPr>
          <a:xfrm>
            <a:off x="457200" y="6510528"/>
            <a:ext cx="5486400" cy="274320"/>
          </a:xfrm>
          <a:prstGeom prst="rect">
            <a:avLst/>
          </a:prstGeom>
          <a:noFill/>
        </p:spPr>
        <p:txBody>
          <a:bodyPr wrap="square" rtlCol="0" anchor="ctr"/>
          <a:lstStyle/>
          <a:p>
            <a:pPr marL="0" indent="0" algn="l">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11247120" y="6510528"/>
            <a:ext cx="457200" cy="274320"/>
          </a:xfrm>
          <a:prstGeom prst="rect">
            <a:avLst/>
          </a:prstGeom>
          <a:noFill/>
        </p:spPr>
        <p:txBody>
          <a:bodyPr wrap="square" rtlCol="0" anchor="ctr"/>
          <a:lstStyle/>
          <a:p>
            <a:pPr marL="0" indent="0" algn="r">
              <a:buNone/>
            </a:pPr>
            <a:r>
              <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rPr>
              <a:t>3</a:t>
            </a:r>
            <a:endParaRPr lang="en-US" sz="14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0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NESTED IF · EXAMPLE 1</a:t>
            </a:r>
            <a:endParaRPr lang="en-US" sz="10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7315200" cy="548640"/>
          </a:xfrm>
          <a:prstGeom prst="rect">
            <a:avLst/>
          </a:prstGeom>
          <a:noFill/>
        </p:spPr>
        <p:txBody>
          <a:bodyPr wrap="square" rtlCol="0" anchor="ctr"/>
          <a:lstStyle/>
          <a:p>
            <a:pPr marL="0" indent="0">
              <a:buNone/>
            </a:pPr>
            <a:r>
              <a:rPr lang="en-US" sz="2800" b="1" dirty="0">
                <a:solidFill>
                  <a:srgbClr val="1B2A4A"/>
                </a:solidFill>
                <a:latin typeface="Cambria" panose="02040503050406030204" pitchFamily="34" charset="0"/>
                <a:ea typeface="Cambria" panose="02040503050406030204" pitchFamily="34" charset="-122"/>
                <a:cs typeface="Cambria" panose="02040503050406030204" pitchFamily="34" charset="-120"/>
              </a:rPr>
              <a:t>Largest of Three Numbers</a:t>
            </a:r>
            <a:endParaRPr lang="en-US" sz="28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640080" y="1508760"/>
            <a:ext cx="6035040" cy="4892040"/>
          </a:xfrm>
          <a:prstGeom prst="roundRect">
            <a:avLst>
              <a:gd name="adj" fmla="val 1495"/>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6" name="Shape 4"/>
          <p:cNvSpPr/>
          <p:nvPr/>
        </p:nvSpPr>
        <p:spPr>
          <a:xfrm>
            <a:off x="804672" y="1655064"/>
            <a:ext cx="109728" cy="109728"/>
          </a:xfrm>
          <a:prstGeom prst="ellipse">
            <a:avLst/>
          </a:prstGeom>
          <a:solidFill>
            <a:srgbClr val="FF5F56"/>
          </a:solidFill>
        </p:spPr>
      </p:sp>
      <p:sp>
        <p:nvSpPr>
          <p:cNvPr id="7" name="Shape 5"/>
          <p:cNvSpPr/>
          <p:nvPr/>
        </p:nvSpPr>
        <p:spPr>
          <a:xfrm>
            <a:off x="1005840" y="1655064"/>
            <a:ext cx="109728" cy="109728"/>
          </a:xfrm>
          <a:prstGeom prst="ellipse">
            <a:avLst/>
          </a:prstGeom>
          <a:solidFill>
            <a:srgbClr val="FFBD2E"/>
          </a:solidFill>
        </p:spPr>
      </p:sp>
      <p:sp>
        <p:nvSpPr>
          <p:cNvPr id="8" name="Shape 6"/>
          <p:cNvSpPr/>
          <p:nvPr/>
        </p:nvSpPr>
        <p:spPr>
          <a:xfrm>
            <a:off x="1207008" y="1655064"/>
            <a:ext cx="109728" cy="109728"/>
          </a:xfrm>
          <a:prstGeom prst="ellipse">
            <a:avLst/>
          </a:prstGeom>
          <a:solidFill>
            <a:srgbClr val="27C93F"/>
          </a:solidFill>
        </p:spPr>
      </p:sp>
      <p:sp>
        <p:nvSpPr>
          <p:cNvPr id="9" name="Text 7"/>
          <p:cNvSpPr/>
          <p:nvPr/>
        </p:nvSpPr>
        <p:spPr>
          <a:xfrm>
            <a:off x="1463040" y="1600200"/>
            <a:ext cx="4937760" cy="219456"/>
          </a:xfrm>
          <a:prstGeom prst="rect">
            <a:avLst/>
          </a:prstGeom>
          <a:noFill/>
        </p:spPr>
        <p:txBody>
          <a:bodyPr wrap="square" lIns="0" tIns="0" rIns="0" bIns="0" rtlCol="0" anchor="ctr"/>
          <a:lstStyle/>
          <a:p>
            <a:pPr marL="0" indent="0" algn="l">
              <a:buNone/>
            </a:pPr>
            <a:r>
              <a:rPr lang="en-US" sz="10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largest.c</a:t>
            </a:r>
            <a:endParaRPr lang="en-US" sz="10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0" name="Text 8"/>
          <p:cNvSpPr/>
          <p:nvPr/>
        </p:nvSpPr>
        <p:spPr>
          <a:xfrm>
            <a:off x="868680" y="1892808"/>
            <a:ext cx="5577840" cy="4389120"/>
          </a:xfrm>
          <a:prstGeom prst="rect">
            <a:avLst/>
          </a:prstGeom>
          <a:noFill/>
        </p:spPr>
        <p:txBody>
          <a:bodyPr wrap="square" lIns="0" tIns="0" rIns="0" bIns="0" rtlCol="0" anchor="t"/>
          <a:lstStyle/>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 = 12, b = 45, c = 7;</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 &gt;= b)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 &gt;= c)</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"%d is largest"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"%d is largest"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c);</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(b &gt;= c)</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"%d is largest"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b);</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"%d is largest"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c);</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949440" y="1508760"/>
            <a:ext cx="4572000" cy="1371600"/>
          </a:xfrm>
          <a:prstGeom prst="roundRect">
            <a:avLst>
              <a:gd name="adj" fmla="val 6667"/>
            </a:avLst>
          </a:prstGeom>
          <a:solidFill>
            <a:srgbClr val="FFFFFF"/>
          </a:solidFill>
          <a:ln w="12700">
            <a:solidFill>
              <a:srgbClr val="E1E7F0"/>
            </a:solidFill>
            <a:prstDash val="solid"/>
          </a:ln>
        </p:spPr>
      </p:sp>
      <p:sp>
        <p:nvSpPr>
          <p:cNvPr id="12" name="Text 10"/>
          <p:cNvSpPr/>
          <p:nvPr/>
        </p:nvSpPr>
        <p:spPr>
          <a:xfrm>
            <a:off x="7223760" y="1645920"/>
            <a:ext cx="2743200" cy="274320"/>
          </a:xfrm>
          <a:prstGeom prst="rect">
            <a:avLst/>
          </a:prstGeom>
          <a:noFill/>
        </p:spPr>
        <p:txBody>
          <a:bodyPr wrap="square" rtlCol="0" anchor="ctr"/>
          <a:lstStyle/>
          <a:p>
            <a:pPr marL="0" indent="0">
              <a:buNone/>
            </a:pPr>
            <a:r>
              <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OUTPUT</a:t>
            </a:r>
            <a:endPar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7223760" y="1920240"/>
            <a:ext cx="3931920" cy="822960"/>
          </a:xfrm>
          <a:prstGeom prst="rect">
            <a:avLst/>
          </a:prstGeom>
          <a:noFill/>
        </p:spPr>
        <p:txBody>
          <a:bodyPr wrap="square" rtlCol="0" anchor="ctr"/>
          <a:lstStyle/>
          <a:p>
            <a:pPr marL="0" indent="0">
              <a:buNone/>
            </a:pPr>
            <a:r>
              <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45 is largest</a:t>
            </a:r>
            <a:endPar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2"/>
          <p:cNvSpPr/>
          <p:nvPr/>
        </p:nvSpPr>
        <p:spPr>
          <a:xfrm>
            <a:off x="6949440" y="3108960"/>
            <a:ext cx="4572000" cy="3291840"/>
          </a:xfrm>
          <a:prstGeom prst="roundRect">
            <a:avLst>
              <a:gd name="adj" fmla="val 2778"/>
            </a:avLst>
          </a:prstGeom>
          <a:solidFill>
            <a:srgbClr val="FFFFFF"/>
          </a:solidFill>
          <a:ln w="12700">
            <a:solidFill>
              <a:srgbClr val="E1E7F0"/>
            </a:solidFill>
            <a:prstDash val="solid"/>
          </a:ln>
        </p:spPr>
      </p:sp>
      <p:sp>
        <p:nvSpPr>
          <p:cNvPr id="15" name="Text 13"/>
          <p:cNvSpPr/>
          <p:nvPr/>
        </p:nvSpPr>
        <p:spPr>
          <a:xfrm>
            <a:off x="7223760" y="3246120"/>
            <a:ext cx="3657600" cy="274320"/>
          </a:xfrm>
          <a:prstGeom prst="rect">
            <a:avLst/>
          </a:prstGeom>
          <a:noFill/>
        </p:spPr>
        <p:txBody>
          <a:bodyPr wrap="square" rtlCol="0" anchor="ctr"/>
          <a:lstStyle/>
          <a:p>
            <a:pPr marL="0" indent="0">
              <a:buNone/>
            </a:pPr>
            <a:r>
              <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HOW IT DECIDES</a:t>
            </a:r>
            <a:endPar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7223760" y="3611880"/>
            <a:ext cx="292608" cy="292608"/>
          </a:xfrm>
          <a:prstGeom prst="ellipse">
            <a:avLst/>
          </a:prstGeom>
          <a:solidFill>
            <a:srgbClr val="1B2A4A"/>
          </a:solidFill>
        </p:spPr>
      </p:sp>
      <p:sp>
        <p:nvSpPr>
          <p:cNvPr id="17" name="Text 15"/>
          <p:cNvSpPr/>
          <p:nvPr/>
        </p:nvSpPr>
        <p:spPr>
          <a:xfrm>
            <a:off x="7223760" y="3611880"/>
            <a:ext cx="292608" cy="292608"/>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7635240" y="3584448"/>
            <a:ext cx="3703320" cy="548640"/>
          </a:xfrm>
          <a:prstGeom prst="rect">
            <a:avLst/>
          </a:prstGeom>
          <a:noFill/>
        </p:spPr>
        <p:txBody>
          <a:bodyPr wrap="square" lIns="0" tIns="0" rIns="0" bIns="0" rtlCol="0" anchor="t"/>
          <a:lstStyle/>
          <a:p>
            <a:pPr marL="0" indent="0">
              <a:buNone/>
            </a:pPr>
            <a:r>
              <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rPr>
              <a:t>Outer if compares a vs b to shrink to a 2-way race</a:t>
            </a:r>
            <a:endPar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7223760" y="4270248"/>
            <a:ext cx="292608" cy="292608"/>
          </a:xfrm>
          <a:prstGeom prst="ellipse">
            <a:avLst/>
          </a:prstGeom>
          <a:solidFill>
            <a:srgbClr val="1B2A4A"/>
          </a:solidFill>
        </p:spPr>
      </p:sp>
      <p:sp>
        <p:nvSpPr>
          <p:cNvPr id="20" name="Text 18"/>
          <p:cNvSpPr/>
          <p:nvPr/>
        </p:nvSpPr>
        <p:spPr>
          <a:xfrm>
            <a:off x="7223760" y="4270248"/>
            <a:ext cx="292608" cy="292608"/>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7635240" y="4242816"/>
            <a:ext cx="3703320" cy="548640"/>
          </a:xfrm>
          <a:prstGeom prst="rect">
            <a:avLst/>
          </a:prstGeom>
          <a:noFill/>
        </p:spPr>
        <p:txBody>
          <a:bodyPr wrap="square" lIns="0" tIns="0" rIns="0" bIns="0" rtlCol="0" anchor="t"/>
          <a:lstStyle/>
          <a:p>
            <a:pPr marL="0" indent="0">
              <a:buNone/>
            </a:pPr>
            <a:r>
              <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rPr>
              <a:t>If a &gt;= b: inner if compares a vs c</a:t>
            </a:r>
            <a:endPar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7223760" y="4928616"/>
            <a:ext cx="292608" cy="292608"/>
          </a:xfrm>
          <a:prstGeom prst="ellipse">
            <a:avLst/>
          </a:prstGeom>
          <a:solidFill>
            <a:srgbClr val="1B2A4A"/>
          </a:solidFill>
        </p:spPr>
      </p:sp>
      <p:sp>
        <p:nvSpPr>
          <p:cNvPr id="23" name="Text 21"/>
          <p:cNvSpPr/>
          <p:nvPr/>
        </p:nvSpPr>
        <p:spPr>
          <a:xfrm>
            <a:off x="7223760" y="4928616"/>
            <a:ext cx="292608" cy="292608"/>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7635240" y="4901184"/>
            <a:ext cx="3703320" cy="548640"/>
          </a:xfrm>
          <a:prstGeom prst="rect">
            <a:avLst/>
          </a:prstGeom>
          <a:noFill/>
        </p:spPr>
        <p:txBody>
          <a:bodyPr wrap="square" lIns="0" tIns="0" rIns="0" bIns="0" rtlCol="0" anchor="t"/>
          <a:lstStyle/>
          <a:p>
            <a:pPr marL="0" indent="0">
              <a:buNone/>
            </a:pPr>
            <a:r>
              <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rPr>
              <a:t>Else: inner if compares b vs c</a:t>
            </a:r>
            <a:endPar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7223760" y="5586984"/>
            <a:ext cx="292608" cy="292608"/>
          </a:xfrm>
          <a:prstGeom prst="ellipse">
            <a:avLst/>
          </a:prstGeom>
          <a:solidFill>
            <a:srgbClr val="1B2A4A"/>
          </a:solidFill>
        </p:spPr>
      </p:sp>
      <p:sp>
        <p:nvSpPr>
          <p:cNvPr id="26" name="Text 24"/>
          <p:cNvSpPr/>
          <p:nvPr/>
        </p:nvSpPr>
        <p:spPr>
          <a:xfrm>
            <a:off x="7223760" y="5586984"/>
            <a:ext cx="292608" cy="292608"/>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7635240" y="5559552"/>
            <a:ext cx="3703320" cy="548640"/>
          </a:xfrm>
          <a:prstGeom prst="rect">
            <a:avLst/>
          </a:prstGeom>
          <a:noFill/>
        </p:spPr>
        <p:txBody>
          <a:bodyPr wrap="square" lIns="0" tIns="0" rIns="0" bIns="0" rtlCol="0" anchor="t"/>
          <a:lstStyle/>
          <a:p>
            <a:pPr marL="0" indent="0">
              <a:buNone/>
            </a:pPr>
            <a:r>
              <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rPr>
              <a:t>Only 2 real comparisons ever run</a:t>
            </a:r>
            <a:endParaRPr lang="en-US" sz="1200"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457200" y="6510528"/>
            <a:ext cx="5486400" cy="274320"/>
          </a:xfrm>
          <a:prstGeom prst="rect">
            <a:avLst/>
          </a:prstGeom>
          <a:noFill/>
        </p:spPr>
        <p:txBody>
          <a:bodyPr wrap="square" rtlCol="0" anchor="ctr"/>
          <a:lstStyle/>
          <a:p>
            <a:pPr marL="0" indent="0" algn="l">
              <a:buNone/>
            </a:pPr>
            <a:r>
              <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11247120" y="6510528"/>
            <a:ext cx="457200" cy="274320"/>
          </a:xfrm>
          <a:prstGeom prst="rect">
            <a:avLst/>
          </a:prstGeom>
          <a:noFill/>
        </p:spPr>
        <p:txBody>
          <a:bodyPr wrap="square" rtlCol="0" anchor="ctr"/>
          <a:lstStyle/>
          <a:p>
            <a:pPr marL="0" indent="0" algn="r">
              <a:buNone/>
            </a:pPr>
            <a:r>
              <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rPr>
              <a:t>5</a:t>
            </a:r>
            <a:endPar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011680" cy="310896"/>
          </a:xfrm>
          <a:prstGeom prst="roundRect">
            <a:avLst>
              <a:gd name="adj" fmla="val 50000"/>
            </a:avLst>
          </a:prstGeom>
          <a:solidFill>
            <a:srgbClr val="CADCFC"/>
          </a:solidFill>
        </p:spPr>
      </p:sp>
      <p:sp>
        <p:nvSpPr>
          <p:cNvPr id="3" name="Text 1"/>
          <p:cNvSpPr/>
          <p:nvPr/>
        </p:nvSpPr>
        <p:spPr>
          <a:xfrm>
            <a:off x="640080" y="457200"/>
            <a:ext cx="2011680" cy="310896"/>
          </a:xfrm>
          <a:prstGeom prst="rect">
            <a:avLst/>
          </a:prstGeom>
          <a:noFill/>
        </p:spPr>
        <p:txBody>
          <a:bodyPr wrap="square" rtlCol="0" anchor="ctr"/>
          <a:lstStyle/>
          <a:p>
            <a:pPr marL="0" indent="0" algn="ctr">
              <a:buNone/>
            </a:pPr>
            <a:r>
              <a:rPr lang="en-US" sz="10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rPr>
              <a:t>NESTED IF · EXAMPLE 2</a:t>
            </a:r>
            <a:endParaRPr lang="en-US" sz="1000" b="1" kern="0" spc="100" dirty="0">
              <a:solidFill>
                <a:srgbClr val="1B2A4A"/>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640080" y="896112"/>
            <a:ext cx="7315200" cy="548640"/>
          </a:xfrm>
          <a:prstGeom prst="rect">
            <a:avLst/>
          </a:prstGeom>
          <a:noFill/>
        </p:spPr>
        <p:txBody>
          <a:bodyPr wrap="square" rtlCol="0" anchor="ctr"/>
          <a:lstStyle/>
          <a:p>
            <a:pPr marL="0" indent="0">
              <a:buNone/>
            </a:pPr>
            <a:r>
              <a:rPr lang="en-US" sz="2800" b="1" dirty="0">
                <a:solidFill>
                  <a:srgbClr val="1B2A4A"/>
                </a:solidFill>
                <a:latin typeface="Cambria" panose="02040503050406030204" pitchFamily="34" charset="0"/>
                <a:ea typeface="Cambria" panose="02040503050406030204" pitchFamily="34" charset="-122"/>
                <a:cs typeface="Cambria" panose="02040503050406030204" pitchFamily="34" charset="-120"/>
              </a:rPr>
              <a:t>Grading System</a:t>
            </a:r>
            <a:endParaRPr lang="en-US" sz="2800" b="1" dirty="0">
              <a:solidFill>
                <a:srgbClr val="1B2A4A"/>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640080" y="1417320"/>
            <a:ext cx="6035040" cy="5074920"/>
          </a:xfrm>
          <a:prstGeom prst="roundRect">
            <a:avLst>
              <a:gd name="adj" fmla="val 1441"/>
            </a:avLst>
          </a:prstGeom>
          <a:solidFill>
            <a:srgbClr val="0F1C30"/>
          </a:solidFill>
          <a:ln w="12700">
            <a:solidFill>
              <a:srgbClr val="24344F"/>
            </a:solidFill>
            <a:prstDash val="solid"/>
          </a:ln>
          <a:effectLst>
            <a:outerShdw blurRad="101600" dist="38100" dir="5400000" algn="bl" rotWithShape="0">
              <a:srgbClr val="000000">
                <a:alpha val="35000"/>
              </a:srgbClr>
            </a:outerShdw>
          </a:effectLst>
        </p:spPr>
      </p:sp>
      <p:sp>
        <p:nvSpPr>
          <p:cNvPr id="6" name="Shape 4"/>
          <p:cNvSpPr/>
          <p:nvPr/>
        </p:nvSpPr>
        <p:spPr>
          <a:xfrm>
            <a:off x="804672" y="1563624"/>
            <a:ext cx="109728" cy="109728"/>
          </a:xfrm>
          <a:prstGeom prst="ellipse">
            <a:avLst/>
          </a:prstGeom>
          <a:solidFill>
            <a:srgbClr val="FF5F56"/>
          </a:solidFill>
        </p:spPr>
      </p:sp>
      <p:sp>
        <p:nvSpPr>
          <p:cNvPr id="7" name="Shape 5"/>
          <p:cNvSpPr/>
          <p:nvPr/>
        </p:nvSpPr>
        <p:spPr>
          <a:xfrm>
            <a:off x="1005840" y="1563624"/>
            <a:ext cx="109728" cy="109728"/>
          </a:xfrm>
          <a:prstGeom prst="ellipse">
            <a:avLst/>
          </a:prstGeom>
          <a:solidFill>
            <a:srgbClr val="FFBD2E"/>
          </a:solidFill>
        </p:spPr>
      </p:sp>
      <p:sp>
        <p:nvSpPr>
          <p:cNvPr id="8" name="Shape 6"/>
          <p:cNvSpPr/>
          <p:nvPr/>
        </p:nvSpPr>
        <p:spPr>
          <a:xfrm>
            <a:off x="1207008" y="1563624"/>
            <a:ext cx="109728" cy="109728"/>
          </a:xfrm>
          <a:prstGeom prst="ellipse">
            <a:avLst/>
          </a:prstGeom>
          <a:solidFill>
            <a:srgbClr val="27C93F"/>
          </a:solidFill>
        </p:spPr>
      </p:sp>
      <p:sp>
        <p:nvSpPr>
          <p:cNvPr id="9" name="Text 7"/>
          <p:cNvSpPr/>
          <p:nvPr/>
        </p:nvSpPr>
        <p:spPr>
          <a:xfrm>
            <a:off x="1463040" y="1508760"/>
            <a:ext cx="4937760" cy="219456"/>
          </a:xfrm>
          <a:prstGeom prst="rect">
            <a:avLst/>
          </a:prstGeom>
          <a:noFill/>
        </p:spPr>
        <p:txBody>
          <a:bodyPr wrap="square" lIns="0" tIns="0" rIns="0" bIns="0" rtlCol="0" anchor="ctr"/>
          <a:lstStyle/>
          <a:p>
            <a:pPr marL="0" indent="0" algn="l">
              <a:buNone/>
            </a:pPr>
            <a:r>
              <a:rPr lang="en-US" sz="10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rPr>
              <a:t>grading.c</a:t>
            </a:r>
            <a:endParaRPr lang="en-US" sz="1000" dirty="0">
              <a:solidFill>
                <a:srgbClr val="6B7A99"/>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0" name="Text 8"/>
          <p:cNvSpPr/>
          <p:nvPr/>
        </p:nvSpPr>
        <p:spPr>
          <a:xfrm>
            <a:off x="868680" y="1801368"/>
            <a:ext cx="5577840" cy="4572000"/>
          </a:xfrm>
          <a:prstGeom prst="rect">
            <a:avLst/>
          </a:prstGeom>
          <a:noFill/>
        </p:spPr>
        <p:txBody>
          <a:bodyPr wrap="square" lIns="0" tIns="0" rIns="0" bIns="0" rtlCol="0" anchor="t"/>
          <a:lstStyle/>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int</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 76;</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&gt;= 90)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"Grade: A+"</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&gt;= 75)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"Grade: A"</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(marks &gt;= 60)</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"Grade: B"</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else</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E"/>
                </a:solidFill>
                <a:latin typeface="Courier New" panose="02070309020205020404" pitchFamily="34" charset="0"/>
                <a:ea typeface="Courier New" panose="02070309020205020404" pitchFamily="34" charset="-122"/>
                <a:cs typeface="Courier New" panose="02070309020205020404" pitchFamily="34" charset="-120"/>
              </a:rPr>
              <a:t>"Grade: C"</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a:t>
            </a:r>
            <a:r>
              <a:rPr lang="en-US" sz="1200" b="1" dirty="0">
                <a:solidFill>
                  <a:srgbClr val="FFB300"/>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200" dirty="0"/>
          </a:p>
          <a:p>
            <a:pPr marL="0" indent="0">
              <a:lnSpc>
                <a:spcPct val="125000"/>
              </a:lnSpc>
              <a:buNone/>
            </a:pPr>
            <a:r>
              <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solidFill>
                <a:srgbClr val="D7E1EE"/>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Shape 9"/>
          <p:cNvSpPr/>
          <p:nvPr/>
        </p:nvSpPr>
        <p:spPr>
          <a:xfrm>
            <a:off x="6949440" y="1508760"/>
            <a:ext cx="4572000" cy="1371600"/>
          </a:xfrm>
          <a:prstGeom prst="roundRect">
            <a:avLst>
              <a:gd name="adj" fmla="val 6667"/>
            </a:avLst>
          </a:prstGeom>
          <a:solidFill>
            <a:srgbClr val="FFFFFF"/>
          </a:solidFill>
          <a:ln w="12700">
            <a:solidFill>
              <a:srgbClr val="E1E7F0"/>
            </a:solidFill>
            <a:prstDash val="solid"/>
          </a:ln>
        </p:spPr>
      </p:sp>
      <p:sp>
        <p:nvSpPr>
          <p:cNvPr id="12" name="Text 10"/>
          <p:cNvSpPr/>
          <p:nvPr/>
        </p:nvSpPr>
        <p:spPr>
          <a:xfrm>
            <a:off x="7223760" y="1645920"/>
            <a:ext cx="2743200" cy="274320"/>
          </a:xfrm>
          <a:prstGeom prst="rect">
            <a:avLst/>
          </a:prstGeom>
          <a:noFill/>
        </p:spPr>
        <p:txBody>
          <a:bodyPr wrap="square" rtlCol="0" anchor="ctr"/>
          <a:lstStyle/>
          <a:p>
            <a:pPr marL="0" indent="0">
              <a:buNone/>
            </a:pPr>
            <a:r>
              <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OUTPUT</a:t>
            </a:r>
            <a:endPar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7223760" y="1920240"/>
            <a:ext cx="3931920" cy="822960"/>
          </a:xfrm>
          <a:prstGeom prst="rect">
            <a:avLst/>
          </a:prstGeom>
          <a:noFill/>
        </p:spPr>
        <p:txBody>
          <a:bodyPr wrap="square" rtlCol="0" anchor="ctr"/>
          <a:lstStyle/>
          <a:p>
            <a:pPr marL="0" indent="0">
              <a:buNone/>
            </a:pPr>
            <a:r>
              <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Grade: A</a:t>
            </a:r>
            <a:endParaRPr lang="en-US"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2"/>
          <p:cNvSpPr/>
          <p:nvPr/>
        </p:nvSpPr>
        <p:spPr>
          <a:xfrm>
            <a:off x="6949440" y="3108960"/>
            <a:ext cx="4572000" cy="3291840"/>
          </a:xfrm>
          <a:prstGeom prst="roundRect">
            <a:avLst>
              <a:gd name="adj" fmla="val 2778"/>
            </a:avLst>
          </a:prstGeom>
          <a:solidFill>
            <a:srgbClr val="FFFFFF"/>
          </a:solidFill>
          <a:ln w="12700">
            <a:solidFill>
              <a:srgbClr val="E1E7F0"/>
            </a:solidFill>
            <a:prstDash val="solid"/>
          </a:ln>
        </p:spPr>
      </p:sp>
      <p:sp>
        <p:nvSpPr>
          <p:cNvPr id="15" name="Text 13"/>
          <p:cNvSpPr/>
          <p:nvPr/>
        </p:nvSpPr>
        <p:spPr>
          <a:xfrm>
            <a:off x="7223760" y="3246120"/>
            <a:ext cx="3657600" cy="274320"/>
          </a:xfrm>
          <a:prstGeom prst="rect">
            <a:avLst/>
          </a:prstGeom>
          <a:noFill/>
        </p:spPr>
        <p:txBody>
          <a:bodyPr wrap="square" rtlCol="0" anchor="ctr"/>
          <a:lstStyle/>
          <a:p>
            <a:pPr marL="0" indent="0">
              <a:buNone/>
            </a:pPr>
            <a:r>
              <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rPr>
              <a:t>WHY THIS SHAPE?</a:t>
            </a:r>
            <a:endParaRPr lang="en-US" sz="1000" b="1" kern="0" spc="100" dirty="0">
              <a:solidFill>
                <a:srgbClr val="8FA0BE"/>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7223760" y="3611880"/>
            <a:ext cx="3931920" cy="2651760"/>
          </a:xfrm>
          <a:prstGeom prst="rect">
            <a:avLst/>
          </a:prstGeom>
          <a:noFill/>
        </p:spPr>
        <p:txBody>
          <a:bodyPr wrap="square" rtlCol="0" anchor="ctr"/>
          <a:lstStyle/>
          <a:p>
            <a:pPr marL="0" indent="0">
              <a:lnSpc>
                <a:spcPct val="135000"/>
              </a:lnSpc>
              <a:buNone/>
            </a:pPr>
            <a:r>
              <a:rPr lang="en-US" sz="1600" dirty="0">
                <a:solidFill>
                  <a:srgbClr val="3D4A5C"/>
                </a:solidFill>
                <a:latin typeface="Calibri" panose="020F0502020204030204" pitchFamily="34" charset="0"/>
                <a:ea typeface="Calibri" panose="020F0502020204030204" pitchFamily="34" charset="-122"/>
                <a:cs typeface="Calibri" panose="020F0502020204030204" pitchFamily="34" charset="-120"/>
              </a:rPr>
              <a:t>Each else branch opens a fresh if, pushing the check one band lower (90, then 75, then 60). This ladder pattern is the most common real-world use of nested if — and is often rewritten as else if for readability.</a:t>
            </a:r>
            <a:endParaRPr lang="en-US" sz="1600" dirty="0">
              <a:solidFill>
                <a:srgbClr val="3D4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457200" y="6510528"/>
            <a:ext cx="5486400" cy="274320"/>
          </a:xfrm>
          <a:prstGeom prst="rect">
            <a:avLst/>
          </a:prstGeom>
          <a:noFill/>
        </p:spPr>
        <p:txBody>
          <a:bodyPr wrap="square" rtlCol="0" anchor="ctr"/>
          <a:lstStyle/>
          <a:p>
            <a:pPr marL="0" indent="0" algn="l">
              <a:buNone/>
            </a:pPr>
            <a:r>
              <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rPr>
              <a:t>Nested if &amp; Ternary Operator in C</a:t>
            </a:r>
            <a:endPar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11247120" y="6510528"/>
            <a:ext cx="457200" cy="274320"/>
          </a:xfrm>
          <a:prstGeom prst="rect">
            <a:avLst/>
          </a:prstGeom>
          <a:noFill/>
        </p:spPr>
        <p:txBody>
          <a:bodyPr wrap="square" rtlCol="0" anchor="ctr"/>
          <a:lstStyle/>
          <a:p>
            <a:pPr marL="0" indent="0" algn="r">
              <a:buNone/>
            </a:pPr>
            <a:r>
              <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rPr>
              <a:t>6</a:t>
            </a:r>
            <a:endParaRPr lang="en-US" sz="1000" dirty="0">
              <a:solidFill>
                <a:srgbClr val="9AA5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switch Statement</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548640" y="1417320"/>
            <a:ext cx="5623560" cy="457200"/>
          </a:xfrm>
          <a:prstGeom prst="roundRect">
            <a:avLst>
              <a:gd name="adj" fmla="val 16000"/>
            </a:avLst>
          </a:prstGeom>
          <a:solidFill>
            <a:srgbClr val="0B2545"/>
          </a:solidFill>
        </p:spPr>
      </p:sp>
      <p:sp>
        <p:nvSpPr>
          <p:cNvPr id="6" name="Text 4"/>
          <p:cNvSpPr/>
          <p:nvPr/>
        </p:nvSpPr>
        <p:spPr>
          <a:xfrm>
            <a:off x="731520" y="1417320"/>
            <a:ext cx="5257800" cy="457200"/>
          </a:xfrm>
          <a:prstGeom prst="rect">
            <a:avLst/>
          </a:prstGeom>
          <a:noFill/>
        </p:spPr>
        <p:txBody>
          <a:bodyPr wrap="square" rtlCol="0" anchor="ctr"/>
          <a:lstStyle/>
          <a:p>
            <a:pPr marL="0" indent="0">
              <a:buNone/>
            </a:pPr>
            <a:r>
              <a:rPr lang="en-US" sz="1400" b="1" dirty="0">
                <a:solidFill>
                  <a:srgbClr val="5EEAD4"/>
                </a:solidFill>
                <a:latin typeface="Calibri" panose="020F0502020204030204" pitchFamily="34" charset="0"/>
                <a:ea typeface="Calibri" panose="020F0502020204030204" pitchFamily="34" charset="-122"/>
                <a:cs typeface="Calibri" panose="020F0502020204030204" pitchFamily="34" charset="-120"/>
              </a:rPr>
              <a:t>Syntax:  </a:t>
            </a:r>
            <a:r>
              <a:rPr lang="en-US" sz="14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switch (var) { case v1: ...break; default: ... }</a:t>
            </a:r>
            <a:endParaRPr lang="en-US" sz="14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548640" y="2057400"/>
            <a:ext cx="5623560" cy="402336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400" dirty="0"/>
          </a:p>
          <a:p>
            <a:pPr marL="0" lvl="1" indent="0">
              <a:spcAft>
                <a:spcPts val="7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Checks one variable against many possible values (cases), and runs the matching block.</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break is important</a:t>
            </a:r>
            <a:endParaRPr lang="en-US" sz="1400" dirty="0"/>
          </a:p>
          <a:p>
            <a:pPr marL="0" lvl="1" indent="0">
              <a:spcAft>
                <a:spcPts val="7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Without break, execution 'falls through' into the next case, running it too.</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default</a:t>
            </a:r>
            <a:endParaRPr lang="en-US" sz="1400" dirty="0"/>
          </a:p>
          <a:p>
            <a:pPr marL="0" lvl="1" indent="0">
              <a:spcAft>
                <a:spcPts val="7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Runs when no case matches. Similar to the final else in an if-else ladder.</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46520" y="1417320"/>
            <a:ext cx="5193792" cy="4434840"/>
          </a:xfrm>
          <a:prstGeom prst="roundRect">
            <a:avLst>
              <a:gd name="adj" fmla="val 2474"/>
            </a:avLst>
          </a:prstGeom>
          <a:solidFill>
            <a:srgbClr val="0B2036"/>
          </a:solidFill>
          <a:effectLst>
            <a:outerShdw blurRad="101600" dist="38100" dir="5400000" algn="bl" rotWithShape="0">
              <a:srgbClr val="0B2036">
                <a:alpha val="35000"/>
              </a:srgbClr>
            </a:outerShdw>
          </a:effectLst>
        </p:spPr>
      </p:sp>
      <p:sp>
        <p:nvSpPr>
          <p:cNvPr id="9" name="Shape 7"/>
          <p:cNvSpPr/>
          <p:nvPr/>
        </p:nvSpPr>
        <p:spPr>
          <a:xfrm>
            <a:off x="6446520" y="1417320"/>
            <a:ext cx="5193792" cy="292608"/>
          </a:xfrm>
          <a:prstGeom prst="roundRect">
            <a:avLst>
              <a:gd name="adj" fmla="val 37500"/>
            </a:avLst>
          </a:prstGeom>
          <a:solidFill>
            <a:srgbClr val="133B5C"/>
          </a:solidFill>
        </p:spPr>
      </p:sp>
      <p:sp>
        <p:nvSpPr>
          <p:cNvPr id="10" name="Shape 8"/>
          <p:cNvSpPr/>
          <p:nvPr/>
        </p:nvSpPr>
        <p:spPr>
          <a:xfrm>
            <a:off x="6583680" y="1517904"/>
            <a:ext cx="82296" cy="82296"/>
          </a:xfrm>
          <a:prstGeom prst="ellipse">
            <a:avLst/>
          </a:prstGeom>
          <a:solidFill>
            <a:srgbClr val="E06C75"/>
          </a:solidFill>
        </p:spPr>
      </p:sp>
      <p:sp>
        <p:nvSpPr>
          <p:cNvPr id="11" name="Shape 9"/>
          <p:cNvSpPr/>
          <p:nvPr/>
        </p:nvSpPr>
        <p:spPr>
          <a:xfrm>
            <a:off x="6748272" y="1517904"/>
            <a:ext cx="82296" cy="82296"/>
          </a:xfrm>
          <a:prstGeom prst="ellipse">
            <a:avLst/>
          </a:prstGeom>
          <a:solidFill>
            <a:srgbClr val="E5C07B"/>
          </a:solidFill>
        </p:spPr>
      </p:sp>
      <p:sp>
        <p:nvSpPr>
          <p:cNvPr id="12" name="Shape 10"/>
          <p:cNvSpPr/>
          <p:nvPr/>
        </p:nvSpPr>
        <p:spPr>
          <a:xfrm>
            <a:off x="6912864" y="1517904"/>
            <a:ext cx="82296" cy="82296"/>
          </a:xfrm>
          <a:prstGeom prst="ellipse">
            <a:avLst/>
          </a:prstGeom>
          <a:solidFill>
            <a:srgbClr val="98C379"/>
          </a:solidFill>
        </p:spPr>
      </p:sp>
      <p:sp>
        <p:nvSpPr>
          <p:cNvPr id="13" name="Text 11"/>
          <p:cNvSpPr/>
          <p:nvPr/>
        </p:nvSpPr>
        <p:spPr>
          <a:xfrm>
            <a:off x="7040880" y="141732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switch.c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p:nvPr/>
        </p:nvSpPr>
        <p:spPr>
          <a:xfrm>
            <a:off x="6684264" y="1801368"/>
            <a:ext cx="4718304" cy="392277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day = 3;</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switch</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(day)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case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1: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"Monday"</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break</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case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2: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"Tuesday"</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break</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case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3: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"Wednesday"</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break</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default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"Invalid day"</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Shape 13"/>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6" name="Text 14"/>
          <p:cNvSpPr/>
          <p:nvPr/>
        </p:nvSpPr>
        <p:spPr>
          <a:xfrm>
            <a:off x="6583680" y="601675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Wednesday</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25</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Conditions</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An expression that is checked to see if it is true (1) or false (0).</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Built using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Relational operators (==, !=, &gt;, &lt;, &gt;=, &lt;=) seen earlier.</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Combined using</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Logical operators (&amp;&amp;, ||, !) to test more than one thing at once.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Used in</a:t>
            </a:r>
            <a:endParaRPr lang="en-US" sz="1600" dirty="0"/>
          </a:p>
          <a:p>
            <a:pPr marL="0" lvl="1" indent="0">
              <a:spcAft>
                <a:spcPts val="8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if, while, for, and do-while statements to control which code runs.</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160520"/>
          </a:xfrm>
          <a:prstGeom prst="roundRect">
            <a:avLst>
              <a:gd name="adj" fmla="val 2637"/>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conditions.c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64845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 20, hasID = 1;</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(age &gt;= 18 &amp;&amp; hasID == 1)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"Entry allowed"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else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"Entry denied"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592531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592531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Entry allowed</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26</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Operators and Its Precedence</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17373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What is precedence?</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 order in which operators are evaluated in an expression, just like BODMAS in maths.</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Same precedence?</a:t>
            </a:r>
            <a:endParaRPr lang="en-US" sz="1600" dirty="0"/>
          </a:p>
          <a:p>
            <a:pPr marL="0" lvl="1" indent="0">
              <a:spcAft>
                <a:spcPts val="6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Then associativity decides direction — most operators go left to right.</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24" name="Table 0"/>
          <p:cNvGraphicFramePr>
            <a:graphicFrameLocks noGrp="1"/>
          </p:cNvGraphicFramePr>
          <p:nvPr/>
        </p:nvGraphicFramePr>
        <p:xfrm>
          <a:off x="548640" y="3474720"/>
          <a:ext cx="5623560" cy="1828800"/>
        </p:xfrm>
        <a:graphic>
          <a:graphicData uri="http://schemas.openxmlformats.org/drawingml/2006/table">
            <a:tbl>
              <a:tblPr/>
              <a:tblGrid>
                <a:gridCol w="2811780"/>
                <a:gridCol w="2811780"/>
              </a:tblGrid>
              <a:tr h="228600">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Order</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Operators</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solidFill>
                      <a:srgbClr val="0B2545"/>
                    </a:solidFill>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1 (highest)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  parentheses</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2</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3</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4</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&lt;  &lt;=  &gt;  &gt;=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5</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  !=</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6</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&amp;&amp;</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r h="228600">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7 (lowest)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c>
                  <a:txBody>
                    <a:bodyPr/>
                    <a:lstStyle/>
                    <a:p>
                      <a:pPr marL="0" indent="0">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a:txBody>
                  <a:tcPr>
                    <a:lnL w="12700" cap="flat" cmpd="sng" algn="ctr">
                      <a:solidFill>
                        <a:srgbClr val="DCE4EA"/>
                      </a:solidFill>
                      <a:prstDash val="solid"/>
                      <a:round/>
                      <a:headEnd type="none" w="med" len="med"/>
                      <a:tailEnd type="none" w="med" len="med"/>
                    </a:lnL>
                    <a:lnR w="12700" cap="flat" cmpd="sng" algn="ctr">
                      <a:solidFill>
                        <a:srgbClr val="DCE4EA"/>
                      </a:solidFill>
                      <a:prstDash val="solid"/>
                      <a:round/>
                      <a:headEnd type="none" w="med" len="med"/>
                      <a:tailEnd type="none" w="med" len="med"/>
                    </a:lnR>
                    <a:lnT w="12700" cap="flat" cmpd="sng" algn="ctr">
                      <a:solidFill>
                        <a:srgbClr val="DCE4EA"/>
                      </a:solidFill>
                      <a:prstDash val="solid"/>
                      <a:round/>
                      <a:headEnd type="none" w="med" len="med"/>
                      <a:tailEnd type="none" w="med" len="med"/>
                    </a:lnT>
                    <a:lnB w="12700" cap="flat" cmpd="sng" algn="ctr">
                      <a:solidFill>
                        <a:srgbClr val="DCE4EA"/>
                      </a:solidFill>
                      <a:prstDash val="solid"/>
                      <a:round/>
                      <a:headEnd type="none" w="med" len="med"/>
                      <a:tailEnd type="none" w="med" len="med"/>
                    </a:lnB>
                  </a:tcPr>
                </a:tc>
              </a:tr>
            </a:tbl>
          </a:graphicData>
        </a:graphic>
      </p:graphicFrame>
      <p:sp>
        <p:nvSpPr>
          <p:cNvPr id="7" name="Shape 4"/>
          <p:cNvSpPr/>
          <p:nvPr/>
        </p:nvSpPr>
        <p:spPr>
          <a:xfrm>
            <a:off x="6446520" y="1600200"/>
            <a:ext cx="5193792" cy="4251960"/>
          </a:xfrm>
          <a:prstGeom prst="roundRect">
            <a:avLst>
              <a:gd name="adj" fmla="val 2581"/>
            </a:avLst>
          </a:prstGeom>
          <a:solidFill>
            <a:srgbClr val="0B2036"/>
          </a:solidFill>
          <a:effectLst>
            <a:outerShdw blurRad="101600" dist="38100" dir="5400000" algn="bl" rotWithShape="0">
              <a:srgbClr val="0B2036">
                <a:alpha val="35000"/>
              </a:srgbClr>
            </a:outerShdw>
          </a:effectLst>
        </p:spPr>
      </p:sp>
      <p:sp>
        <p:nvSpPr>
          <p:cNvPr id="8" name="Shape 5"/>
          <p:cNvSpPr/>
          <p:nvPr/>
        </p:nvSpPr>
        <p:spPr>
          <a:xfrm>
            <a:off x="6446520" y="1600200"/>
            <a:ext cx="5193792" cy="292608"/>
          </a:xfrm>
          <a:prstGeom prst="roundRect">
            <a:avLst>
              <a:gd name="adj" fmla="val 37500"/>
            </a:avLst>
          </a:prstGeom>
          <a:solidFill>
            <a:srgbClr val="133B5C"/>
          </a:solidFill>
        </p:spPr>
      </p:sp>
      <p:sp>
        <p:nvSpPr>
          <p:cNvPr id="9" name="Shape 6"/>
          <p:cNvSpPr/>
          <p:nvPr/>
        </p:nvSpPr>
        <p:spPr>
          <a:xfrm>
            <a:off x="6583680" y="1700784"/>
            <a:ext cx="82296" cy="82296"/>
          </a:xfrm>
          <a:prstGeom prst="ellipse">
            <a:avLst/>
          </a:prstGeom>
          <a:solidFill>
            <a:srgbClr val="E06C75"/>
          </a:solidFill>
        </p:spPr>
      </p:sp>
      <p:sp>
        <p:nvSpPr>
          <p:cNvPr id="10" name="Shape 7"/>
          <p:cNvSpPr/>
          <p:nvPr/>
        </p:nvSpPr>
        <p:spPr>
          <a:xfrm>
            <a:off x="6748272" y="1700784"/>
            <a:ext cx="82296" cy="82296"/>
          </a:xfrm>
          <a:prstGeom prst="ellipse">
            <a:avLst/>
          </a:prstGeom>
          <a:solidFill>
            <a:srgbClr val="E5C07B"/>
          </a:solidFill>
        </p:spPr>
      </p:sp>
      <p:sp>
        <p:nvSpPr>
          <p:cNvPr id="11" name="Shape 8"/>
          <p:cNvSpPr/>
          <p:nvPr/>
        </p:nvSpPr>
        <p:spPr>
          <a:xfrm>
            <a:off x="6912864" y="1700784"/>
            <a:ext cx="82296" cy="82296"/>
          </a:xfrm>
          <a:prstGeom prst="ellipse">
            <a:avLst/>
          </a:prstGeom>
          <a:solidFill>
            <a:srgbClr val="98C379"/>
          </a:solidFill>
        </p:spPr>
      </p:sp>
      <p:sp>
        <p:nvSpPr>
          <p:cNvPr id="12" name="Text 9"/>
          <p:cNvSpPr/>
          <p:nvPr/>
        </p:nvSpPr>
        <p:spPr>
          <a:xfrm>
            <a:off x="7040880" y="160020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precedence.c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Text 10"/>
          <p:cNvSpPr/>
          <p:nvPr/>
        </p:nvSpPr>
        <p:spPr>
          <a:xfrm>
            <a:off x="6684264" y="1984248"/>
            <a:ext cx="4718304" cy="373989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result = 10 + 2 * 5;</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 runs before + (precedence)</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2*5 = 10, then 10+10 = 20</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"Result = %d"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result);</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Shape 11"/>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5" name="Text 12"/>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Result = 20</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3"/>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27</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2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Branching: break &amp; continue</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600200"/>
            <a:ext cx="5623560" cy="4480560"/>
          </a:xfrm>
          <a:prstGeom prst="rect">
            <a:avLst/>
          </a:prstGeom>
          <a:noFill/>
        </p:spPr>
        <p:txBody>
          <a:bodyPr wrap="square" rtlCol="0" anchor="t"/>
          <a:lstStyle/>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Both are jump statements used INSIDE loops to change the normal flow.</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break</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Immediately exits (stops) the nearest loop or switch statement completely.</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continue</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Skips only the rest of the current cycle, then moves on to the next repetition.</a:t>
            </a:r>
            <a:endParaRPr lang="en-US" sz="1400" dirty="0"/>
          </a:p>
          <a:p>
            <a:pPr marL="177800" indent="-177800">
              <a:spcAft>
                <a:spcPts val="200"/>
              </a:spcAft>
              <a:buSzPct val="100000"/>
              <a:buChar char="•"/>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Difference</a:t>
            </a:r>
            <a:endParaRPr lang="en-US" sz="1400" dirty="0"/>
          </a:p>
          <a:p>
            <a:pPr marL="0" lvl="1" indent="0">
              <a:spcAft>
                <a:spcPts val="800"/>
              </a:spcAft>
              <a:buNone/>
            </a:pPr>
            <a:r>
              <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rPr>
              <a:t>break ends the loop early; continue just skips one round and keeps looping.</a:t>
            </a:r>
            <a:endParaRPr lang="en-US" sz="14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6446520" y="1600200"/>
            <a:ext cx="5193792" cy="4343400"/>
          </a:xfrm>
          <a:prstGeom prst="roundRect">
            <a:avLst>
              <a:gd name="adj" fmla="val 2526"/>
            </a:avLst>
          </a:prstGeom>
          <a:solidFill>
            <a:srgbClr val="0B2036"/>
          </a:solidFill>
          <a:effectLst>
            <a:outerShdw blurRad="101600" dist="38100" dir="5400000" algn="bl" rotWithShape="0">
              <a:srgbClr val="0B2036">
                <a:alpha val="35000"/>
              </a:srgbClr>
            </a:outerShdw>
          </a:effectLst>
        </p:spPr>
      </p:sp>
      <p:sp>
        <p:nvSpPr>
          <p:cNvPr id="7" name="Shape 5"/>
          <p:cNvSpPr/>
          <p:nvPr/>
        </p:nvSpPr>
        <p:spPr>
          <a:xfrm>
            <a:off x="6446520" y="1600200"/>
            <a:ext cx="5193792" cy="292608"/>
          </a:xfrm>
          <a:prstGeom prst="roundRect">
            <a:avLst>
              <a:gd name="adj" fmla="val 37500"/>
            </a:avLst>
          </a:prstGeom>
          <a:solidFill>
            <a:srgbClr val="133B5C"/>
          </a:solidFill>
        </p:spPr>
      </p:sp>
      <p:sp>
        <p:nvSpPr>
          <p:cNvPr id="8" name="Shape 6"/>
          <p:cNvSpPr/>
          <p:nvPr/>
        </p:nvSpPr>
        <p:spPr>
          <a:xfrm>
            <a:off x="6583680" y="1700784"/>
            <a:ext cx="82296" cy="82296"/>
          </a:xfrm>
          <a:prstGeom prst="ellipse">
            <a:avLst/>
          </a:prstGeom>
          <a:solidFill>
            <a:srgbClr val="E06C75"/>
          </a:solidFill>
        </p:spPr>
      </p:sp>
      <p:sp>
        <p:nvSpPr>
          <p:cNvPr id="9" name="Shape 7"/>
          <p:cNvSpPr/>
          <p:nvPr/>
        </p:nvSpPr>
        <p:spPr>
          <a:xfrm>
            <a:off x="6748272" y="1700784"/>
            <a:ext cx="82296" cy="82296"/>
          </a:xfrm>
          <a:prstGeom prst="ellipse">
            <a:avLst/>
          </a:prstGeom>
          <a:solidFill>
            <a:srgbClr val="E5C07B"/>
          </a:solidFill>
        </p:spPr>
      </p:sp>
      <p:sp>
        <p:nvSpPr>
          <p:cNvPr id="10" name="Shape 8"/>
          <p:cNvSpPr/>
          <p:nvPr/>
        </p:nvSpPr>
        <p:spPr>
          <a:xfrm>
            <a:off x="6912864" y="1700784"/>
            <a:ext cx="82296" cy="82296"/>
          </a:xfrm>
          <a:prstGeom prst="ellipse">
            <a:avLst/>
          </a:prstGeom>
          <a:solidFill>
            <a:srgbClr val="98C379"/>
          </a:solidFill>
        </p:spPr>
      </p:sp>
      <p:sp>
        <p:nvSpPr>
          <p:cNvPr id="11" name="Text 9"/>
          <p:cNvSpPr/>
          <p:nvPr/>
        </p:nvSpPr>
        <p:spPr>
          <a:xfrm>
            <a:off x="7040880" y="1600200"/>
            <a:ext cx="4370832" cy="292608"/>
          </a:xfrm>
          <a:prstGeom prst="rect">
            <a:avLst/>
          </a:prstGeom>
          <a:noFill/>
        </p:spPr>
        <p:txBody>
          <a:bodyPr wrap="square" rtlCol="0" anchor="ctr"/>
          <a:lstStyle/>
          <a:p>
            <a:pPr marL="0" indent="0">
              <a:buNone/>
            </a:pPr>
            <a:r>
              <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break_continue.c</a:t>
            </a:r>
            <a:endParaRPr lang="en-US" sz="12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p:nvPr/>
        </p:nvSpPr>
        <p:spPr>
          <a:xfrm>
            <a:off x="6684264" y="1984248"/>
            <a:ext cx="4718304" cy="3831336"/>
          </a:xfrm>
          <a:prstGeom prst="rect">
            <a:avLst/>
          </a:prstGeom>
          <a:noFill/>
        </p:spPr>
        <p:txBody>
          <a:bodyPr wrap="square" rtlCol="0" anchor="t"/>
          <a:lstStyle/>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400" dirty="0"/>
          </a:p>
          <a:p>
            <a:pPr marL="0" indent="0" algn="l">
              <a:lnSpc>
                <a:spcPct val="115000"/>
              </a:lnSpc>
              <a:buNone/>
            </a:pP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for</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 = 1; i &lt;= 6; i++)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 == 5)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break</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stop looping</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 % 2 == 0)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continue</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skip even nums</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 "</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4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400" dirty="0"/>
          </a:p>
          <a:p>
            <a:pPr marL="0" indent="0" algn="l">
              <a:lnSpc>
                <a:spcPct val="115000"/>
              </a:lnSpc>
              <a:buNone/>
            </a:pPr>
            <a:r>
              <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3" name="Shape 11"/>
          <p:cNvSpPr/>
          <p:nvPr/>
        </p:nvSpPr>
        <p:spPr>
          <a:xfrm>
            <a:off x="6446520" y="6108192"/>
            <a:ext cx="5193792" cy="420624"/>
          </a:xfrm>
          <a:prstGeom prst="roundRect">
            <a:avLst>
              <a:gd name="adj" fmla="val 17391"/>
            </a:avLst>
          </a:prstGeom>
          <a:solidFill>
            <a:srgbClr val="F4F7FA"/>
          </a:solidFill>
          <a:ln w="12700">
            <a:solidFill>
              <a:srgbClr val="00C2A8"/>
            </a:solidFill>
            <a:prstDash val="solid"/>
          </a:ln>
        </p:spPr>
      </p:sp>
      <p:sp>
        <p:nvSpPr>
          <p:cNvPr id="14" name="Text 12"/>
          <p:cNvSpPr/>
          <p:nvPr/>
        </p:nvSpPr>
        <p:spPr>
          <a:xfrm>
            <a:off x="6583680" y="6108192"/>
            <a:ext cx="4919472" cy="420624"/>
          </a:xfrm>
          <a:prstGeom prst="rect">
            <a:avLst/>
          </a:prstGeom>
          <a:noFill/>
        </p:spPr>
        <p:txBody>
          <a:bodyPr wrap="square" rtlCol="0" anchor="ctr"/>
          <a:lstStyle/>
          <a:p>
            <a:pPr marL="0" indent="0">
              <a:buNone/>
            </a:pPr>
            <a:r>
              <a:rPr lang="en-US" sz="14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1 3</a:t>
            </a:r>
            <a:endParaRPr lang="en-US" sz="14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p:nvPr/>
        </p:nvSpPr>
        <p:spPr>
          <a:xfrm>
            <a:off x="11475720" y="6492240"/>
            <a:ext cx="548640" cy="274320"/>
          </a:xfrm>
          <a:prstGeom prst="rect">
            <a:avLst/>
          </a:prstGeom>
          <a:noFill/>
        </p:spPr>
        <p:txBody>
          <a:bodyPr wrap="square" rtlCol="0" anchor="ctr"/>
          <a:lstStyle/>
          <a:p>
            <a:pPr marL="0" indent="0" algn="r">
              <a:buNone/>
            </a:pPr>
            <a:r>
              <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rPr>
              <a:t>28</a:t>
            </a:r>
            <a:endParaRPr lang="en-US" sz="12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Branching: goto Statement</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548640" y="1417320"/>
            <a:ext cx="5623560" cy="457200"/>
          </a:xfrm>
          <a:prstGeom prst="roundRect">
            <a:avLst>
              <a:gd name="adj" fmla="val 16000"/>
            </a:avLst>
          </a:prstGeom>
          <a:solidFill>
            <a:srgbClr val="0B2545"/>
          </a:solidFill>
        </p:spPr>
      </p:sp>
      <p:sp>
        <p:nvSpPr>
          <p:cNvPr id="6" name="Text 4"/>
          <p:cNvSpPr/>
          <p:nvPr/>
        </p:nvSpPr>
        <p:spPr>
          <a:xfrm>
            <a:off x="731520" y="1417320"/>
            <a:ext cx="5257800" cy="457200"/>
          </a:xfrm>
          <a:prstGeom prst="rect">
            <a:avLst/>
          </a:prstGeom>
          <a:noFill/>
        </p:spPr>
        <p:txBody>
          <a:bodyPr wrap="square" rtlCol="0" anchor="ctr"/>
          <a:lstStyle/>
          <a:p>
            <a:pPr marL="0" indent="0">
              <a:buNone/>
            </a:pPr>
            <a:r>
              <a:rPr lang="en-US" sz="1600" b="1" dirty="0">
                <a:solidFill>
                  <a:srgbClr val="5EEAD4"/>
                </a:solidFill>
                <a:latin typeface="Calibri" panose="020F0502020204030204" pitchFamily="34" charset="0"/>
                <a:ea typeface="Calibri" panose="020F0502020204030204" pitchFamily="34" charset="-122"/>
                <a:cs typeface="Calibri" panose="020F0502020204030204" pitchFamily="34" charset="-120"/>
              </a:rPr>
              <a:t>Syntax:  </a:t>
            </a:r>
            <a:r>
              <a:rPr lang="en-US" sz="16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goto label;   ...   label: statement;</a:t>
            </a:r>
            <a:endParaRPr lang="en-US" sz="16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548640" y="2057400"/>
            <a:ext cx="5623560" cy="40233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Jumps program control directly to a labeled line, skipping normal top-to-bottom flow.</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Label</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A name followed by a colon (:) placed before the target statement.</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Use with caution</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goto can make programs hard to read and debug. Loops and functions are usually a better choice.</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46520" y="1417320"/>
            <a:ext cx="5193792" cy="4206240"/>
          </a:xfrm>
          <a:prstGeom prst="roundRect">
            <a:avLst>
              <a:gd name="adj" fmla="val 2609"/>
            </a:avLst>
          </a:prstGeom>
          <a:solidFill>
            <a:srgbClr val="0B2036"/>
          </a:solidFill>
          <a:effectLst>
            <a:outerShdw blurRad="101600" dist="38100" dir="5400000" algn="bl" rotWithShape="0">
              <a:srgbClr val="0B2036">
                <a:alpha val="35000"/>
              </a:srgbClr>
            </a:outerShdw>
          </a:effectLst>
        </p:spPr>
      </p:sp>
      <p:sp>
        <p:nvSpPr>
          <p:cNvPr id="9" name="Shape 7"/>
          <p:cNvSpPr/>
          <p:nvPr/>
        </p:nvSpPr>
        <p:spPr>
          <a:xfrm>
            <a:off x="6446520" y="1417320"/>
            <a:ext cx="5193792" cy="292608"/>
          </a:xfrm>
          <a:prstGeom prst="roundRect">
            <a:avLst>
              <a:gd name="adj" fmla="val 37500"/>
            </a:avLst>
          </a:prstGeom>
          <a:solidFill>
            <a:srgbClr val="133B5C"/>
          </a:solidFill>
        </p:spPr>
      </p:sp>
      <p:sp>
        <p:nvSpPr>
          <p:cNvPr id="10" name="Shape 8"/>
          <p:cNvSpPr/>
          <p:nvPr/>
        </p:nvSpPr>
        <p:spPr>
          <a:xfrm>
            <a:off x="6583680" y="1517904"/>
            <a:ext cx="82296" cy="82296"/>
          </a:xfrm>
          <a:prstGeom prst="ellipse">
            <a:avLst/>
          </a:prstGeom>
          <a:solidFill>
            <a:srgbClr val="E06C75"/>
          </a:solidFill>
        </p:spPr>
      </p:sp>
      <p:sp>
        <p:nvSpPr>
          <p:cNvPr id="11" name="Shape 9"/>
          <p:cNvSpPr/>
          <p:nvPr/>
        </p:nvSpPr>
        <p:spPr>
          <a:xfrm>
            <a:off x="6748272" y="1517904"/>
            <a:ext cx="82296" cy="82296"/>
          </a:xfrm>
          <a:prstGeom prst="ellipse">
            <a:avLst/>
          </a:prstGeom>
          <a:solidFill>
            <a:srgbClr val="E5C07B"/>
          </a:solidFill>
        </p:spPr>
      </p:sp>
      <p:sp>
        <p:nvSpPr>
          <p:cNvPr id="12" name="Shape 10"/>
          <p:cNvSpPr/>
          <p:nvPr/>
        </p:nvSpPr>
        <p:spPr>
          <a:xfrm>
            <a:off x="6912864" y="1517904"/>
            <a:ext cx="82296" cy="82296"/>
          </a:xfrm>
          <a:prstGeom prst="ellipse">
            <a:avLst/>
          </a:prstGeom>
          <a:solidFill>
            <a:srgbClr val="98C379"/>
          </a:solidFill>
        </p:spPr>
      </p:sp>
      <p:sp>
        <p:nvSpPr>
          <p:cNvPr id="13" name="Text 11"/>
          <p:cNvSpPr/>
          <p:nvPr/>
        </p:nvSpPr>
        <p:spPr>
          <a:xfrm>
            <a:off x="7040880" y="141732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goto.c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p:nvPr/>
        </p:nvSpPr>
        <p:spPr>
          <a:xfrm>
            <a:off x="6684264" y="1801368"/>
            <a:ext cx="4718304" cy="369417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 = 1;</a:t>
            </a:r>
            <a:endParaRPr lang="en-US" sz="1600" dirty="0"/>
          </a:p>
          <a:p>
            <a:pPr marL="0" indent="0" algn="l">
              <a:lnSpc>
                <a:spcPct val="115000"/>
              </a:lnSpc>
              <a:buNone/>
            </a:pP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start: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label</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 "</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 &lt;= 5)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goto</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start;  </a:t>
            </a:r>
            <a:r>
              <a:rPr lang="en-US" sz="1600" i="1"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 jump back up</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Shape 13"/>
          <p:cNvSpPr/>
          <p:nvPr/>
        </p:nvSpPr>
        <p:spPr>
          <a:xfrm>
            <a:off x="6446520" y="5788152"/>
            <a:ext cx="5193792" cy="420624"/>
          </a:xfrm>
          <a:prstGeom prst="roundRect">
            <a:avLst>
              <a:gd name="adj" fmla="val 17391"/>
            </a:avLst>
          </a:prstGeom>
          <a:solidFill>
            <a:srgbClr val="F4F7FA"/>
          </a:solidFill>
          <a:ln w="12700">
            <a:solidFill>
              <a:srgbClr val="00C2A8"/>
            </a:solidFill>
            <a:prstDash val="solid"/>
          </a:ln>
        </p:spPr>
      </p:sp>
      <p:sp>
        <p:nvSpPr>
          <p:cNvPr id="16" name="Text 14"/>
          <p:cNvSpPr/>
          <p:nvPr/>
        </p:nvSpPr>
        <p:spPr>
          <a:xfrm>
            <a:off x="6583680" y="57881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1 2 3 4 5</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29</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Looping: for Statement</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548640" y="1417320"/>
            <a:ext cx="5623560" cy="457200"/>
          </a:xfrm>
          <a:prstGeom prst="roundRect">
            <a:avLst>
              <a:gd name="adj" fmla="val 16000"/>
            </a:avLst>
          </a:prstGeom>
          <a:solidFill>
            <a:srgbClr val="0B2545"/>
          </a:solidFill>
        </p:spPr>
      </p:sp>
      <p:sp>
        <p:nvSpPr>
          <p:cNvPr id="6" name="Text 4"/>
          <p:cNvSpPr/>
          <p:nvPr/>
        </p:nvSpPr>
        <p:spPr>
          <a:xfrm>
            <a:off x="731520" y="1417320"/>
            <a:ext cx="5257800" cy="457200"/>
          </a:xfrm>
          <a:prstGeom prst="rect">
            <a:avLst/>
          </a:prstGeom>
          <a:noFill/>
        </p:spPr>
        <p:txBody>
          <a:bodyPr wrap="square" rtlCol="0" anchor="ctr"/>
          <a:lstStyle/>
          <a:p>
            <a:pPr marL="0" indent="0">
              <a:buNone/>
            </a:pPr>
            <a:r>
              <a:rPr lang="en-US" sz="1600" b="1" dirty="0">
                <a:solidFill>
                  <a:srgbClr val="5EEAD4"/>
                </a:solidFill>
                <a:latin typeface="Calibri" panose="020F0502020204030204" pitchFamily="34" charset="0"/>
                <a:ea typeface="Calibri" panose="020F0502020204030204" pitchFamily="34" charset="-122"/>
                <a:cs typeface="Calibri" panose="020F0502020204030204" pitchFamily="34" charset="-120"/>
              </a:rPr>
              <a:t>Syntax:  </a:t>
            </a:r>
            <a:r>
              <a:rPr lang="en-US" sz="16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for (init; condition; update) { ... }</a:t>
            </a:r>
            <a:endParaRPr lang="en-US" sz="16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548640" y="2057400"/>
            <a:ext cx="5623560" cy="40233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Repeats a block a fixed, known number of times. Entry-controlled — the condition is checked before every run.</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Step-by-step flow</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1) init runs once  2) condition is checked  3) if true, body runs  4) update runs  5) repeat from step 2.</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Best used when</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You already know how many times to repeat, e.g. looping from 1 to 10.</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46520" y="1417320"/>
            <a:ext cx="5193792" cy="4434840"/>
          </a:xfrm>
          <a:prstGeom prst="roundRect">
            <a:avLst>
              <a:gd name="adj" fmla="val 2474"/>
            </a:avLst>
          </a:prstGeom>
          <a:solidFill>
            <a:srgbClr val="0B2036"/>
          </a:solidFill>
          <a:effectLst>
            <a:outerShdw blurRad="101600" dist="38100" dir="5400000" algn="bl" rotWithShape="0">
              <a:srgbClr val="0B2036">
                <a:alpha val="35000"/>
              </a:srgbClr>
            </a:outerShdw>
          </a:effectLst>
        </p:spPr>
      </p:sp>
      <p:sp>
        <p:nvSpPr>
          <p:cNvPr id="9" name="Shape 7"/>
          <p:cNvSpPr/>
          <p:nvPr/>
        </p:nvSpPr>
        <p:spPr>
          <a:xfrm>
            <a:off x="6446520" y="1417320"/>
            <a:ext cx="5193792" cy="292608"/>
          </a:xfrm>
          <a:prstGeom prst="roundRect">
            <a:avLst>
              <a:gd name="adj" fmla="val 37500"/>
            </a:avLst>
          </a:prstGeom>
          <a:solidFill>
            <a:srgbClr val="133B5C"/>
          </a:solidFill>
        </p:spPr>
      </p:sp>
      <p:sp>
        <p:nvSpPr>
          <p:cNvPr id="10" name="Shape 8"/>
          <p:cNvSpPr/>
          <p:nvPr/>
        </p:nvSpPr>
        <p:spPr>
          <a:xfrm>
            <a:off x="6583680" y="1517904"/>
            <a:ext cx="82296" cy="82296"/>
          </a:xfrm>
          <a:prstGeom prst="ellipse">
            <a:avLst/>
          </a:prstGeom>
          <a:solidFill>
            <a:srgbClr val="E06C75"/>
          </a:solidFill>
        </p:spPr>
      </p:sp>
      <p:sp>
        <p:nvSpPr>
          <p:cNvPr id="11" name="Shape 9"/>
          <p:cNvSpPr/>
          <p:nvPr/>
        </p:nvSpPr>
        <p:spPr>
          <a:xfrm>
            <a:off x="6748272" y="1517904"/>
            <a:ext cx="82296" cy="82296"/>
          </a:xfrm>
          <a:prstGeom prst="ellipse">
            <a:avLst/>
          </a:prstGeom>
          <a:solidFill>
            <a:srgbClr val="E5C07B"/>
          </a:solidFill>
        </p:spPr>
      </p:sp>
      <p:sp>
        <p:nvSpPr>
          <p:cNvPr id="12" name="Shape 10"/>
          <p:cNvSpPr/>
          <p:nvPr/>
        </p:nvSpPr>
        <p:spPr>
          <a:xfrm>
            <a:off x="6912864" y="1517904"/>
            <a:ext cx="82296" cy="82296"/>
          </a:xfrm>
          <a:prstGeom prst="ellipse">
            <a:avLst/>
          </a:prstGeom>
          <a:solidFill>
            <a:srgbClr val="98C379"/>
          </a:solidFill>
        </p:spPr>
      </p:sp>
      <p:sp>
        <p:nvSpPr>
          <p:cNvPr id="13" name="Text 11"/>
          <p:cNvSpPr/>
          <p:nvPr/>
        </p:nvSpPr>
        <p:spPr>
          <a:xfrm>
            <a:off x="7040880" y="141732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for_loop.c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p:nvPr/>
        </p:nvSpPr>
        <p:spPr>
          <a:xfrm>
            <a:off x="6684264" y="1801368"/>
            <a:ext cx="4718304" cy="392277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sum =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for</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i = 1; i &lt;= 10; i++)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sum = sum + i;</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"Sum = %d"</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sum);</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Shape 13"/>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6" name="Text 14"/>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Sum = 55</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30</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4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rPr>
              <a:t>Looping: while Statement</a:t>
            </a:r>
            <a:endParaRPr lang="en-US" sz="32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548640" y="1417320"/>
            <a:ext cx="5623560" cy="457200"/>
          </a:xfrm>
          <a:prstGeom prst="roundRect">
            <a:avLst>
              <a:gd name="adj" fmla="val 16000"/>
            </a:avLst>
          </a:prstGeom>
          <a:solidFill>
            <a:srgbClr val="0B2545"/>
          </a:solidFill>
        </p:spPr>
      </p:sp>
      <p:sp>
        <p:nvSpPr>
          <p:cNvPr id="6" name="Text 4"/>
          <p:cNvSpPr/>
          <p:nvPr/>
        </p:nvSpPr>
        <p:spPr>
          <a:xfrm>
            <a:off x="731520" y="1417320"/>
            <a:ext cx="5257800" cy="457200"/>
          </a:xfrm>
          <a:prstGeom prst="rect">
            <a:avLst/>
          </a:prstGeom>
          <a:noFill/>
        </p:spPr>
        <p:txBody>
          <a:bodyPr wrap="square" rtlCol="0" anchor="ctr"/>
          <a:lstStyle/>
          <a:p>
            <a:pPr marL="0" indent="0">
              <a:buNone/>
            </a:pPr>
            <a:r>
              <a:rPr lang="en-US" sz="1600" b="1" dirty="0">
                <a:solidFill>
                  <a:srgbClr val="5EEAD4"/>
                </a:solidFill>
                <a:latin typeface="Calibri" panose="020F0502020204030204" pitchFamily="34" charset="0"/>
                <a:ea typeface="Calibri" panose="020F0502020204030204" pitchFamily="34" charset="-122"/>
                <a:cs typeface="Calibri" panose="020F0502020204030204" pitchFamily="34" charset="-120"/>
              </a:rPr>
              <a:t>Syntax:  </a:t>
            </a:r>
            <a:r>
              <a:rPr lang="en-US" sz="16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while (condition) { ... }</a:t>
            </a:r>
            <a:endParaRPr lang="en-US" sz="160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548640" y="2057400"/>
            <a:ext cx="5623560" cy="4023360"/>
          </a:xfrm>
          <a:prstGeom prst="rect">
            <a:avLst/>
          </a:prstGeom>
          <a:noFill/>
        </p:spPr>
        <p:txBody>
          <a:bodyPr wrap="square" rtlCol="0" anchor="t"/>
          <a:lstStyle/>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Repeats a block WHILE the condition stays true. Entry-controlled — checked before each run, just like for.</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Flow</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Check condition → if true, run body → check again → stops the moment it becomes false.</a:t>
            </a:r>
            <a:endParaRPr lang="en-US" sz="1600" dirty="0"/>
          </a:p>
          <a:p>
            <a:pPr marL="177800" indent="-177800">
              <a:spcAft>
                <a:spcPts val="200"/>
              </a:spcAft>
              <a:buSzPct val="100000"/>
              <a:buChar char="•"/>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Best used when</a:t>
            </a:r>
            <a:endParaRPr lang="en-US" sz="1600" dirty="0"/>
          </a:p>
          <a:p>
            <a:pPr marL="0" lvl="1" indent="0">
              <a:spcAft>
                <a:spcPts val="700"/>
              </a:spcAft>
              <a:buNone/>
            </a:pPr>
            <a:r>
              <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rPr>
              <a:t>You don't know exactly how many repeats are needed, only the condition to stop on.</a:t>
            </a:r>
            <a:endParaRPr lang="en-US" sz="1600"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46520" y="1417320"/>
            <a:ext cx="5193792" cy="4434840"/>
          </a:xfrm>
          <a:prstGeom prst="roundRect">
            <a:avLst>
              <a:gd name="adj" fmla="val 2474"/>
            </a:avLst>
          </a:prstGeom>
          <a:solidFill>
            <a:srgbClr val="0B2036"/>
          </a:solidFill>
          <a:effectLst>
            <a:outerShdw blurRad="101600" dist="38100" dir="5400000" algn="bl" rotWithShape="0">
              <a:srgbClr val="0B2036">
                <a:alpha val="35000"/>
              </a:srgbClr>
            </a:outerShdw>
          </a:effectLst>
        </p:spPr>
      </p:sp>
      <p:sp>
        <p:nvSpPr>
          <p:cNvPr id="9" name="Shape 7"/>
          <p:cNvSpPr/>
          <p:nvPr/>
        </p:nvSpPr>
        <p:spPr>
          <a:xfrm>
            <a:off x="6446520" y="1417320"/>
            <a:ext cx="5193792" cy="292608"/>
          </a:xfrm>
          <a:prstGeom prst="roundRect">
            <a:avLst>
              <a:gd name="adj" fmla="val 37500"/>
            </a:avLst>
          </a:prstGeom>
          <a:solidFill>
            <a:srgbClr val="133B5C"/>
          </a:solidFill>
        </p:spPr>
      </p:sp>
      <p:sp>
        <p:nvSpPr>
          <p:cNvPr id="10" name="Shape 8"/>
          <p:cNvSpPr/>
          <p:nvPr/>
        </p:nvSpPr>
        <p:spPr>
          <a:xfrm>
            <a:off x="6583680" y="1517904"/>
            <a:ext cx="82296" cy="82296"/>
          </a:xfrm>
          <a:prstGeom prst="ellipse">
            <a:avLst/>
          </a:prstGeom>
          <a:solidFill>
            <a:srgbClr val="E06C75"/>
          </a:solidFill>
        </p:spPr>
      </p:sp>
      <p:sp>
        <p:nvSpPr>
          <p:cNvPr id="11" name="Shape 9"/>
          <p:cNvSpPr/>
          <p:nvPr/>
        </p:nvSpPr>
        <p:spPr>
          <a:xfrm>
            <a:off x="6748272" y="1517904"/>
            <a:ext cx="82296" cy="82296"/>
          </a:xfrm>
          <a:prstGeom prst="ellipse">
            <a:avLst/>
          </a:prstGeom>
          <a:solidFill>
            <a:srgbClr val="E5C07B"/>
          </a:solidFill>
        </p:spPr>
      </p:sp>
      <p:sp>
        <p:nvSpPr>
          <p:cNvPr id="12" name="Shape 10"/>
          <p:cNvSpPr/>
          <p:nvPr/>
        </p:nvSpPr>
        <p:spPr>
          <a:xfrm>
            <a:off x="6912864" y="1517904"/>
            <a:ext cx="82296" cy="82296"/>
          </a:xfrm>
          <a:prstGeom prst="ellipse">
            <a:avLst/>
          </a:prstGeom>
          <a:solidFill>
            <a:srgbClr val="98C379"/>
          </a:solidFill>
        </p:spPr>
      </p:sp>
      <p:sp>
        <p:nvSpPr>
          <p:cNvPr id="13" name="Text 11"/>
          <p:cNvSpPr/>
          <p:nvPr/>
        </p:nvSpPr>
        <p:spPr>
          <a:xfrm>
            <a:off x="7040880" y="1417320"/>
            <a:ext cx="4370832" cy="292608"/>
          </a:xfrm>
          <a:prstGeom prst="rect">
            <a:avLst/>
          </a:prstGeom>
          <a:noFill/>
        </p:spPr>
        <p:txBody>
          <a:bodyPr wrap="square" rtlCol="0" anchor="ctr"/>
          <a:lstStyle/>
          <a:p>
            <a:pPr marL="0" indent="0">
              <a:buNone/>
            </a:pPr>
            <a:r>
              <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while_loop.c</a:t>
            </a:r>
            <a:endParaRPr lang="en-US" sz="14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p:nvPr/>
        </p:nvSpPr>
        <p:spPr>
          <a:xfrm>
            <a:off x="6684264" y="1801368"/>
            <a:ext cx="4718304" cy="3922776"/>
          </a:xfrm>
          <a:prstGeom prst="rect">
            <a:avLst/>
          </a:prstGeom>
          <a:noFill/>
        </p:spPr>
        <p:txBody>
          <a:bodyPr wrap="square" rtlCol="0" anchor="t"/>
          <a:lstStyle/>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sz="1600" dirty="0"/>
          </a:p>
          <a:p>
            <a:pPr marL="0" indent="0" algn="l">
              <a:lnSpc>
                <a:spcPct val="115000"/>
              </a:lnSpc>
              <a:buNone/>
            </a:pP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 = 5;</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while</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 &gt; 0)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 "</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sz="1600"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sz="1600" dirty="0"/>
          </a:p>
          <a:p>
            <a:pPr marL="0" indent="0" algn="l">
              <a:lnSpc>
                <a:spcPct val="115000"/>
              </a:lnSpc>
              <a:buNone/>
            </a:pPr>
            <a:r>
              <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Shape 13"/>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6" name="Text 14"/>
          <p:cNvSpPr/>
          <p:nvPr/>
        </p:nvSpPr>
        <p:spPr>
          <a:xfrm>
            <a:off x="6583680" y="6016752"/>
            <a:ext cx="4919472" cy="420624"/>
          </a:xfrm>
          <a:prstGeom prst="rect">
            <a:avLst/>
          </a:prstGeom>
          <a:noFill/>
        </p:spPr>
        <p:txBody>
          <a:bodyPr wrap="square" rtlCol="0" anchor="ctr"/>
          <a:lstStyle/>
          <a:p>
            <a:pPr marL="0" indent="0">
              <a:buNone/>
            </a:pPr>
            <a:r>
              <a:rPr lang="en-US" sz="160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5 4 3 2 1</a:t>
            </a:r>
            <a:endParaRPr lang="en-US" sz="1600"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11475720" y="6492240"/>
            <a:ext cx="548640" cy="274320"/>
          </a:xfrm>
          <a:prstGeom prst="rect">
            <a:avLst/>
          </a:prstGeom>
          <a:noFill/>
        </p:spPr>
        <p:txBody>
          <a:bodyPr wrap="square" rtlCol="0" anchor="ctr"/>
          <a:lstStyle/>
          <a:p>
            <a:pPr marL="0" indent="0" algn="r">
              <a:buNone/>
            </a:pPr>
            <a:r>
              <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rPr>
              <a:t>31</a:t>
            </a:r>
            <a:endParaRPr lang="en-US" sz="14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166774" cy="292608"/>
          </a:xfrm>
          <a:prstGeom prst="roundRect">
            <a:avLst>
              <a:gd name="adj" fmla="val 50000"/>
            </a:avLst>
          </a:prstGeom>
          <a:solidFill>
            <a:srgbClr val="00C2A8">
              <a:alpha val="88000"/>
            </a:srgbClr>
          </a:solidFill>
        </p:spPr>
      </p:sp>
      <p:sp>
        <p:nvSpPr>
          <p:cNvPr id="3" name="Text 1"/>
          <p:cNvSpPr/>
          <p:nvPr/>
        </p:nvSpPr>
        <p:spPr>
          <a:xfrm>
            <a:off x="548640" y="365760"/>
            <a:ext cx="1166774" cy="292608"/>
          </a:xfrm>
          <a:prstGeom prst="rect">
            <a:avLst/>
          </a:prstGeom>
          <a:noFill/>
        </p:spPr>
        <p:txBody>
          <a:bodyPr wrap="square" rtlCol="0" anchor="ctr"/>
          <a:lstStyle/>
          <a:p>
            <a:pPr marL="0" indent="0" algn="ctr">
              <a:buNone/>
            </a:pPr>
            <a:r>
              <a:rPr lang="en-US" sz="16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CONTROL FLOW</a:t>
            </a:r>
            <a:endParaRPr lang="en-US" sz="16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694944"/>
            <a:ext cx="9692640" cy="621792"/>
          </a:xfrm>
          <a:prstGeom prst="rect">
            <a:avLst/>
          </a:prstGeom>
          <a:noFill/>
        </p:spPr>
        <p:txBody>
          <a:bodyPr wrap="square" rtlCol="0" anchor="t"/>
          <a:lstStyle/>
          <a:p>
            <a:pPr marL="0" indent="0" algn="l">
              <a:buNone/>
            </a:pPr>
            <a:r>
              <a:rPr lang="en-US" sz="3600" b="1" dirty="0">
                <a:solidFill>
                  <a:srgbClr val="0B2545"/>
                </a:solidFill>
                <a:latin typeface="Cambria" panose="02040503050406030204" pitchFamily="34" charset="0"/>
                <a:ea typeface="Cambria" panose="02040503050406030204" pitchFamily="34" charset="-122"/>
                <a:cs typeface="Cambria" panose="02040503050406030204" pitchFamily="34" charset="-120"/>
              </a:rPr>
              <a:t>Looping: do-while Statement</a:t>
            </a:r>
            <a:endParaRPr lang="en-US" sz="36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Shape 3"/>
          <p:cNvSpPr/>
          <p:nvPr/>
        </p:nvSpPr>
        <p:spPr>
          <a:xfrm>
            <a:off x="548640" y="1417320"/>
            <a:ext cx="5623560" cy="457200"/>
          </a:xfrm>
          <a:prstGeom prst="roundRect">
            <a:avLst>
              <a:gd name="adj" fmla="val 16000"/>
            </a:avLst>
          </a:prstGeom>
          <a:solidFill>
            <a:srgbClr val="0B2545"/>
          </a:solidFill>
        </p:spPr>
      </p:sp>
      <p:sp>
        <p:nvSpPr>
          <p:cNvPr id="6" name="Text 4"/>
          <p:cNvSpPr/>
          <p:nvPr/>
        </p:nvSpPr>
        <p:spPr>
          <a:xfrm>
            <a:off x="731520" y="1417320"/>
            <a:ext cx="5257800" cy="457200"/>
          </a:xfrm>
          <a:prstGeom prst="rect">
            <a:avLst/>
          </a:prstGeom>
          <a:noFill/>
        </p:spPr>
        <p:txBody>
          <a:bodyPr wrap="square" rtlCol="0" anchor="ctr"/>
          <a:lstStyle/>
          <a:p>
            <a:pPr marL="0" indent="0">
              <a:buNone/>
            </a:pPr>
            <a:r>
              <a:rPr lang="en-US" b="1" dirty="0">
                <a:solidFill>
                  <a:srgbClr val="5EEAD4"/>
                </a:solidFill>
                <a:latin typeface="Calibri" panose="020F0502020204030204" pitchFamily="34" charset="0"/>
                <a:ea typeface="Calibri" panose="020F0502020204030204" pitchFamily="34" charset="-122"/>
                <a:cs typeface="Calibri" panose="020F0502020204030204" pitchFamily="34" charset="-120"/>
              </a:rPr>
              <a:t>Syntax:  </a:t>
            </a:r>
            <a:r>
              <a:rPr lang="en-US"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do { ... } while (condition);</a:t>
            </a:r>
            <a:endParaRPr lang="en-US" dirty="0">
              <a:solidFill>
                <a:srgbClr val="FFFFFF"/>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p:nvPr/>
        </p:nvSpPr>
        <p:spPr>
          <a:xfrm>
            <a:off x="548640" y="2057400"/>
            <a:ext cx="5623560" cy="4023360"/>
          </a:xfrm>
          <a:prstGeom prst="rect">
            <a:avLst/>
          </a:prstGeom>
          <a:noFill/>
        </p:spPr>
        <p:txBody>
          <a:bodyPr wrap="square" rtlCol="0" anchor="t"/>
          <a:lstStyle/>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Meaning</a:t>
            </a:r>
            <a:endParaRPr lang="en-US" dirty="0"/>
          </a:p>
          <a:p>
            <a:pPr marL="0" lvl="1" indent="0">
              <a:spcAft>
                <a:spcPts val="7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Similar to while, but exit-controlled — the body runs FIRST, and the condition is checked AFTER.</a:t>
            </a:r>
            <a:endParaRPr lang="en-US" dirty="0"/>
          </a:p>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Key difference</a:t>
            </a:r>
            <a:endParaRPr lang="en-US" dirty="0"/>
          </a:p>
          <a:p>
            <a:pPr marL="0" lvl="1" indent="0">
              <a:spcAft>
                <a:spcPts val="7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A do-while loop always runs at least once, even if the condition is false right from the start.</a:t>
            </a:r>
            <a:endParaRPr lang="en-US" dirty="0"/>
          </a:p>
          <a:p>
            <a:pPr marL="177800" indent="-177800">
              <a:spcAft>
                <a:spcPts val="200"/>
              </a:spcAft>
              <a:buSzPct val="100000"/>
              <a:buChar char="•"/>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Best used when</a:t>
            </a:r>
            <a:endParaRPr lang="en-US" dirty="0"/>
          </a:p>
          <a:p>
            <a:pPr marL="0" lvl="1" indent="0">
              <a:spcAft>
                <a:spcPts val="700"/>
              </a:spcAft>
              <a:buNone/>
            </a:pPr>
            <a:r>
              <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rPr>
              <a:t>The loop body must execute at least one time, e.g. showing a menu before asking to repeat.</a:t>
            </a:r>
            <a:endParaRPr lang="en-US" dirty="0">
              <a:solidFill>
                <a:srgbClr val="13293D"/>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46520" y="1417320"/>
            <a:ext cx="5193792" cy="4434840"/>
          </a:xfrm>
          <a:prstGeom prst="roundRect">
            <a:avLst>
              <a:gd name="adj" fmla="val 2474"/>
            </a:avLst>
          </a:prstGeom>
          <a:solidFill>
            <a:srgbClr val="0B2036"/>
          </a:solidFill>
          <a:effectLst>
            <a:outerShdw blurRad="101600" dist="38100" dir="5400000" algn="bl" rotWithShape="0">
              <a:srgbClr val="0B2036">
                <a:alpha val="35000"/>
              </a:srgbClr>
            </a:outerShdw>
          </a:effectLst>
        </p:spPr>
      </p:sp>
      <p:sp>
        <p:nvSpPr>
          <p:cNvPr id="9" name="Shape 7"/>
          <p:cNvSpPr/>
          <p:nvPr/>
        </p:nvSpPr>
        <p:spPr>
          <a:xfrm>
            <a:off x="6446520" y="1417320"/>
            <a:ext cx="5193792" cy="292608"/>
          </a:xfrm>
          <a:prstGeom prst="roundRect">
            <a:avLst>
              <a:gd name="adj" fmla="val 37500"/>
            </a:avLst>
          </a:prstGeom>
          <a:solidFill>
            <a:srgbClr val="133B5C"/>
          </a:solidFill>
        </p:spPr>
      </p:sp>
      <p:sp>
        <p:nvSpPr>
          <p:cNvPr id="10" name="Shape 8"/>
          <p:cNvSpPr/>
          <p:nvPr/>
        </p:nvSpPr>
        <p:spPr>
          <a:xfrm>
            <a:off x="6583680" y="1517904"/>
            <a:ext cx="82296" cy="82296"/>
          </a:xfrm>
          <a:prstGeom prst="ellipse">
            <a:avLst/>
          </a:prstGeom>
          <a:solidFill>
            <a:srgbClr val="E06C75"/>
          </a:solidFill>
        </p:spPr>
      </p:sp>
      <p:sp>
        <p:nvSpPr>
          <p:cNvPr id="11" name="Shape 9"/>
          <p:cNvSpPr/>
          <p:nvPr/>
        </p:nvSpPr>
        <p:spPr>
          <a:xfrm>
            <a:off x="6748272" y="1517904"/>
            <a:ext cx="82296" cy="82296"/>
          </a:xfrm>
          <a:prstGeom prst="ellipse">
            <a:avLst/>
          </a:prstGeom>
          <a:solidFill>
            <a:srgbClr val="E5C07B"/>
          </a:solidFill>
        </p:spPr>
      </p:sp>
      <p:sp>
        <p:nvSpPr>
          <p:cNvPr id="12" name="Shape 10"/>
          <p:cNvSpPr/>
          <p:nvPr/>
        </p:nvSpPr>
        <p:spPr>
          <a:xfrm>
            <a:off x="6912864" y="1517904"/>
            <a:ext cx="82296" cy="82296"/>
          </a:xfrm>
          <a:prstGeom prst="ellipse">
            <a:avLst/>
          </a:prstGeom>
          <a:solidFill>
            <a:srgbClr val="98C379"/>
          </a:solidFill>
        </p:spPr>
      </p:sp>
      <p:sp>
        <p:nvSpPr>
          <p:cNvPr id="13" name="Text 11"/>
          <p:cNvSpPr/>
          <p:nvPr/>
        </p:nvSpPr>
        <p:spPr>
          <a:xfrm>
            <a:off x="7040880" y="1417320"/>
            <a:ext cx="4370832" cy="292608"/>
          </a:xfrm>
          <a:prstGeom prst="rect">
            <a:avLst/>
          </a:prstGeom>
          <a:noFill/>
        </p:spPr>
        <p:txBody>
          <a:bodyPr wrap="square" rtlCol="0" anchor="ctr"/>
          <a:lstStyle/>
          <a:p>
            <a:pPr marL="0" indent="0">
              <a:buNone/>
            </a:pPr>
            <a:r>
              <a:rPr lang="en-US" sz="16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rPr>
              <a:t>do_while.c</a:t>
            </a:r>
            <a:endParaRPr lang="en-US" sz="1600" dirty="0">
              <a:solidFill>
                <a:srgbClr val="7C93A8"/>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p:nvPr/>
        </p:nvSpPr>
        <p:spPr>
          <a:xfrm>
            <a:off x="6684264" y="1801368"/>
            <a:ext cx="4718304" cy="3922776"/>
          </a:xfrm>
          <a:prstGeom prst="rect">
            <a:avLst/>
          </a:prstGeom>
          <a:noFill/>
        </p:spPr>
        <p:txBody>
          <a:bodyPr wrap="square" rtlCol="0" anchor="t"/>
          <a:lstStyle/>
          <a:p>
            <a:pPr marL="0" indent="0" algn="l">
              <a:lnSpc>
                <a:spcPct val="115000"/>
              </a:lnSpc>
              <a:buNone/>
            </a:pP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#include</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&lt;stdio.h&gt;</a:t>
            </a:r>
            <a:endParaRPr lang="en-US" dirty="0"/>
          </a:p>
          <a:p>
            <a:pPr marL="0" indent="0" algn="l">
              <a:lnSpc>
                <a:spcPct val="115000"/>
              </a:lnSpc>
              <a:buNone/>
            </a:pP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main</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int</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 = 1;</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do</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printf</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r>
              <a:rPr lang="en-US" dirty="0">
                <a:solidFill>
                  <a:srgbClr val="FFC857"/>
                </a:solidFill>
                <a:latin typeface="Courier New" panose="02070309020205020404" pitchFamily="34" charset="0"/>
                <a:ea typeface="Courier New" panose="02070309020205020404" pitchFamily="34" charset="-122"/>
                <a:cs typeface="Courier New" panose="02070309020205020404" pitchFamily="34" charset="-120"/>
              </a:rPr>
              <a:t>"%d "</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while</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(n &lt;= 3);</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a:t>
            </a:r>
            <a:r>
              <a:rPr lang="en-US" b="1" dirty="0">
                <a:solidFill>
                  <a:srgbClr val="5EEAD4"/>
                </a:solidFill>
                <a:latin typeface="Courier New" panose="02070309020205020404" pitchFamily="34" charset="0"/>
                <a:ea typeface="Courier New" panose="02070309020205020404" pitchFamily="34" charset="-122"/>
                <a:cs typeface="Courier New" panose="02070309020205020404" pitchFamily="34" charset="-120"/>
              </a:rPr>
              <a:t>return</a:t>
            </a: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 0;</a:t>
            </a:r>
            <a:endParaRPr lang="en-US" dirty="0"/>
          </a:p>
          <a:p>
            <a:pPr marL="0" indent="0" algn="l">
              <a:lnSpc>
                <a:spcPct val="115000"/>
              </a:lnSpc>
              <a:buNone/>
            </a:pPr>
            <a:r>
              <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rPr>
              <a:t>}</a:t>
            </a:r>
            <a:endParaRPr lang="en-US" dirty="0">
              <a:solidFill>
                <a:srgbClr val="E7FBF6"/>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Shape 13"/>
          <p:cNvSpPr/>
          <p:nvPr/>
        </p:nvSpPr>
        <p:spPr>
          <a:xfrm>
            <a:off x="6446520" y="6016752"/>
            <a:ext cx="5193792" cy="420624"/>
          </a:xfrm>
          <a:prstGeom prst="roundRect">
            <a:avLst>
              <a:gd name="adj" fmla="val 17391"/>
            </a:avLst>
          </a:prstGeom>
          <a:solidFill>
            <a:srgbClr val="F4F7FA"/>
          </a:solidFill>
          <a:ln w="12700">
            <a:solidFill>
              <a:srgbClr val="00C2A8"/>
            </a:solidFill>
            <a:prstDash val="solid"/>
          </a:ln>
        </p:spPr>
      </p:sp>
      <p:sp>
        <p:nvSpPr>
          <p:cNvPr id="16" name="Text 14"/>
          <p:cNvSpPr/>
          <p:nvPr/>
        </p:nvSpPr>
        <p:spPr>
          <a:xfrm>
            <a:off x="6583680" y="6016752"/>
            <a:ext cx="4919472" cy="420624"/>
          </a:xfrm>
          <a:prstGeom prst="rect">
            <a:avLst/>
          </a:prstGeom>
          <a:noFill/>
        </p:spPr>
        <p:txBody>
          <a:bodyPr wrap="square" rtlCol="0" anchor="ctr"/>
          <a:lstStyle/>
          <a:p>
            <a:pPr marL="0" indent="0">
              <a:buNone/>
            </a:pPr>
            <a:r>
              <a:rPr lang="en-US" b="1" dirty="0">
                <a:solidFill>
                  <a:srgbClr val="0B2545"/>
                </a:solidFill>
                <a:latin typeface="Calibri" panose="020F0502020204030204" pitchFamily="34" charset="0"/>
                <a:ea typeface="Calibri" panose="020F0502020204030204" pitchFamily="34" charset="-122"/>
                <a:cs typeface="Calibri" panose="020F0502020204030204" pitchFamily="34" charset="-120"/>
              </a:rPr>
              <a:t>Output:  </a:t>
            </a:r>
            <a:r>
              <a:rPr lang="en-US" dirty="0">
                <a:solidFill>
                  <a:srgbClr val="13293D"/>
                </a:solidFill>
                <a:latin typeface="Courier New" panose="02070309020205020404" pitchFamily="34" charset="0"/>
                <a:ea typeface="Courier New" panose="02070309020205020404" pitchFamily="34" charset="-122"/>
                <a:cs typeface="Courier New" panose="02070309020205020404" pitchFamily="34" charset="-120"/>
              </a:rPr>
              <a:t>1 2 3</a:t>
            </a:r>
            <a:endParaRPr lang="en-US" dirty="0">
              <a:solidFill>
                <a:srgbClr val="13293D"/>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7" name="Text 15"/>
          <p:cNvSpPr/>
          <p:nvPr/>
        </p:nvSpPr>
        <p:spPr>
          <a:xfrm>
            <a:off x="11475720" y="6492240"/>
            <a:ext cx="548640" cy="274320"/>
          </a:xfrm>
          <a:prstGeom prst="rect">
            <a:avLst/>
          </a:prstGeom>
          <a:noFill/>
        </p:spPr>
        <p:txBody>
          <a:bodyPr wrap="square" rtlCol="0" anchor="ctr"/>
          <a:lstStyle/>
          <a:p>
            <a:pPr marL="0" indent="0" algn="r">
              <a:buNone/>
            </a:pPr>
            <a:r>
              <a:rPr lang="en-US" sz="1600" dirty="0">
                <a:solidFill>
                  <a:srgbClr val="7C93A8"/>
                </a:solidFill>
                <a:latin typeface="Calibri" panose="020F0502020204030204" pitchFamily="34" charset="0"/>
                <a:ea typeface="Calibri" panose="020F0502020204030204" pitchFamily="34" charset="-122"/>
                <a:cs typeface="Calibri" panose="020F0502020204030204" pitchFamily="34" charset="-120"/>
              </a:rPr>
              <a:t>32</a:t>
            </a:r>
            <a:endParaRPr lang="en-US" sz="16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548640" y="457200"/>
            <a:ext cx="844906" cy="292608"/>
          </a:xfrm>
          <a:prstGeom prst="roundRect">
            <a:avLst>
              <a:gd name="adj" fmla="val 50000"/>
            </a:avLst>
          </a:prstGeom>
          <a:solidFill>
            <a:srgbClr val="00C2A8">
              <a:alpha val="88000"/>
            </a:srgbClr>
          </a:solidFill>
        </p:spPr>
      </p:sp>
      <p:sp>
        <p:nvSpPr>
          <p:cNvPr id="3" name="Text 1"/>
          <p:cNvSpPr/>
          <p:nvPr/>
        </p:nvSpPr>
        <p:spPr>
          <a:xfrm>
            <a:off x="548640" y="457200"/>
            <a:ext cx="844906" cy="292608"/>
          </a:xfrm>
          <a:prstGeom prst="rect">
            <a:avLst/>
          </a:prstGeom>
          <a:noFill/>
        </p:spPr>
        <p:txBody>
          <a:bodyPr wrap="square" rtlCol="0" anchor="ctr"/>
          <a:lstStyle/>
          <a:p>
            <a:pPr marL="0" indent="0" algn="ctr">
              <a:buNone/>
            </a:pPr>
            <a:r>
              <a:rPr lang="en-US" sz="16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rPr>
              <a:t>PRACTICE</a:t>
            </a:r>
            <a:endParaRPr lang="en-US" sz="1600" b="1" kern="0" spc="100" dirty="0">
              <a:solidFill>
                <a:srgbClr val="0B2545"/>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30352" y="822960"/>
            <a:ext cx="8229600" cy="640080"/>
          </a:xfrm>
          <a:prstGeom prst="rect">
            <a:avLst/>
          </a:prstGeom>
          <a:noFill/>
        </p:spPr>
        <p:txBody>
          <a:bodyPr wrap="square"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Practice Questions</a:t>
            </a:r>
            <a:endPar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5" name="Text 3"/>
          <p:cNvSpPr/>
          <p:nvPr/>
        </p:nvSpPr>
        <p:spPr>
          <a:xfrm>
            <a:off x="548640" y="1417320"/>
            <a:ext cx="8229600" cy="365760"/>
          </a:xfrm>
          <a:prstGeom prst="rect">
            <a:avLst/>
          </a:prstGeom>
          <a:noFill/>
        </p:spPr>
        <p:txBody>
          <a:bodyPr wrap="square" rtlCol="0" anchor="ctr"/>
          <a:lstStyle/>
          <a:p>
            <a:pPr marL="0" indent="0">
              <a:buNone/>
            </a:pPr>
            <a:r>
              <a:rPr lang="en-US" sz="2000" i="1" dirty="0">
                <a:solidFill>
                  <a:srgbClr val="7C93A8"/>
                </a:solidFill>
                <a:latin typeface="Calibri" panose="020F0502020204030204" pitchFamily="34" charset="0"/>
                <a:ea typeface="Calibri" panose="020F0502020204030204" pitchFamily="34" charset="-122"/>
                <a:cs typeface="Calibri" panose="020F0502020204030204" pitchFamily="34" charset="-120"/>
              </a:rPr>
              <a:t>Try writing C programs for each of these on your own.</a:t>
            </a:r>
            <a:endParaRPr lang="en-US" sz="2000" i="1"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1965960"/>
            <a:ext cx="457200" cy="457200"/>
          </a:xfrm>
          <a:prstGeom prst="roundRect">
            <a:avLst>
              <a:gd name="adj" fmla="val 20000"/>
            </a:avLst>
          </a:prstGeom>
          <a:solidFill>
            <a:srgbClr val="00C2A8"/>
          </a:solidFill>
        </p:spPr>
      </p:sp>
      <p:sp>
        <p:nvSpPr>
          <p:cNvPr id="7" name="Text 5"/>
          <p:cNvSpPr/>
          <p:nvPr/>
        </p:nvSpPr>
        <p:spPr>
          <a:xfrm>
            <a:off x="548640" y="1965960"/>
            <a:ext cx="457200" cy="457200"/>
          </a:xfrm>
          <a:prstGeom prst="rect">
            <a:avLst/>
          </a:prstGeom>
          <a:noFill/>
        </p:spPr>
        <p:txBody>
          <a:bodyPr wrap="square" rtlCol="0" anchor="ctr"/>
          <a:lstStyle/>
          <a:p>
            <a:pPr marL="0" indent="0" algn="ctr">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1</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8" name="Shape 6"/>
          <p:cNvSpPr/>
          <p:nvPr/>
        </p:nvSpPr>
        <p:spPr>
          <a:xfrm>
            <a:off x="1170432" y="1938528"/>
            <a:ext cx="10469880" cy="566928"/>
          </a:xfrm>
          <a:prstGeom prst="roundRect">
            <a:avLst>
              <a:gd name="adj" fmla="val 12903"/>
            </a:avLst>
          </a:prstGeom>
          <a:solidFill>
            <a:srgbClr val="133B5C"/>
          </a:solidFill>
        </p:spPr>
      </p:sp>
      <p:sp>
        <p:nvSpPr>
          <p:cNvPr id="9" name="Text 7"/>
          <p:cNvSpPr/>
          <p:nvPr/>
        </p:nvSpPr>
        <p:spPr>
          <a:xfrm>
            <a:off x="1371600" y="1938528"/>
            <a:ext cx="10104120" cy="566928"/>
          </a:xfrm>
          <a:prstGeom prst="rect">
            <a:avLst/>
          </a:prstGeom>
          <a:noFill/>
        </p:spPr>
        <p:txBody>
          <a:bodyPr wrap="square" rtlCol="0" anchor="ctr"/>
          <a:lstStyle/>
          <a:p>
            <a:pPr marL="0" indent="0">
              <a:buNone/>
            </a:pPr>
            <a:r>
              <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rPr>
              <a:t>Write a C program to declare two integer variables, take their values from the user, and print their sum using printf() and scanf().</a:t>
            </a:r>
            <a:endPar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48640" y="2743200"/>
            <a:ext cx="457200" cy="457200"/>
          </a:xfrm>
          <a:prstGeom prst="roundRect">
            <a:avLst>
              <a:gd name="adj" fmla="val 20000"/>
            </a:avLst>
          </a:prstGeom>
          <a:solidFill>
            <a:srgbClr val="00C2A8"/>
          </a:solidFill>
        </p:spPr>
      </p:sp>
      <p:sp>
        <p:nvSpPr>
          <p:cNvPr id="11" name="Text 9"/>
          <p:cNvSpPr/>
          <p:nvPr/>
        </p:nvSpPr>
        <p:spPr>
          <a:xfrm>
            <a:off x="548640" y="2743200"/>
            <a:ext cx="457200" cy="457200"/>
          </a:xfrm>
          <a:prstGeom prst="rect">
            <a:avLst/>
          </a:prstGeom>
          <a:noFill/>
        </p:spPr>
        <p:txBody>
          <a:bodyPr wrap="square" rtlCol="0" anchor="ctr"/>
          <a:lstStyle/>
          <a:p>
            <a:pPr marL="0" indent="0" algn="ctr">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2</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12" name="Shape 10"/>
          <p:cNvSpPr/>
          <p:nvPr/>
        </p:nvSpPr>
        <p:spPr>
          <a:xfrm>
            <a:off x="1170432" y="2715768"/>
            <a:ext cx="10469880" cy="566928"/>
          </a:xfrm>
          <a:prstGeom prst="roundRect">
            <a:avLst>
              <a:gd name="adj" fmla="val 12903"/>
            </a:avLst>
          </a:prstGeom>
          <a:solidFill>
            <a:srgbClr val="133B5C"/>
          </a:solidFill>
        </p:spPr>
      </p:sp>
      <p:sp>
        <p:nvSpPr>
          <p:cNvPr id="13" name="Text 11"/>
          <p:cNvSpPr/>
          <p:nvPr/>
        </p:nvSpPr>
        <p:spPr>
          <a:xfrm>
            <a:off x="1371600" y="2715768"/>
            <a:ext cx="10104120" cy="566928"/>
          </a:xfrm>
          <a:prstGeom prst="rect">
            <a:avLst/>
          </a:prstGeom>
          <a:noFill/>
        </p:spPr>
        <p:txBody>
          <a:bodyPr wrap="square" rtlCol="0" anchor="ctr"/>
          <a:lstStyle/>
          <a:p>
            <a:pPr marL="0" indent="0">
              <a:buNone/>
            </a:pPr>
            <a:r>
              <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rPr>
              <a:t>Write a C program using an if-else statement to check whether a given number is positive, negative, or zero.</a:t>
            </a:r>
            <a:endPar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548640" y="3520440"/>
            <a:ext cx="457200" cy="457200"/>
          </a:xfrm>
          <a:prstGeom prst="roundRect">
            <a:avLst>
              <a:gd name="adj" fmla="val 20000"/>
            </a:avLst>
          </a:prstGeom>
          <a:solidFill>
            <a:srgbClr val="00C2A8"/>
          </a:solidFill>
        </p:spPr>
      </p:sp>
      <p:sp>
        <p:nvSpPr>
          <p:cNvPr id="15" name="Text 13"/>
          <p:cNvSpPr/>
          <p:nvPr/>
        </p:nvSpPr>
        <p:spPr>
          <a:xfrm>
            <a:off x="548640" y="3520440"/>
            <a:ext cx="457200" cy="457200"/>
          </a:xfrm>
          <a:prstGeom prst="rect">
            <a:avLst/>
          </a:prstGeom>
          <a:noFill/>
        </p:spPr>
        <p:txBody>
          <a:bodyPr wrap="square" rtlCol="0" anchor="ctr"/>
          <a:lstStyle/>
          <a:p>
            <a:pPr marL="0" indent="0" algn="ctr">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3</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16" name="Shape 14"/>
          <p:cNvSpPr/>
          <p:nvPr/>
        </p:nvSpPr>
        <p:spPr>
          <a:xfrm>
            <a:off x="1170432" y="3493008"/>
            <a:ext cx="10469880" cy="566928"/>
          </a:xfrm>
          <a:prstGeom prst="roundRect">
            <a:avLst>
              <a:gd name="adj" fmla="val 12903"/>
            </a:avLst>
          </a:prstGeom>
          <a:solidFill>
            <a:srgbClr val="133B5C"/>
          </a:solidFill>
        </p:spPr>
      </p:sp>
      <p:sp>
        <p:nvSpPr>
          <p:cNvPr id="17" name="Text 15"/>
          <p:cNvSpPr/>
          <p:nvPr/>
        </p:nvSpPr>
        <p:spPr>
          <a:xfrm>
            <a:off x="1371600" y="3493008"/>
            <a:ext cx="10104120" cy="566928"/>
          </a:xfrm>
          <a:prstGeom prst="rect">
            <a:avLst/>
          </a:prstGeom>
          <a:noFill/>
        </p:spPr>
        <p:txBody>
          <a:bodyPr wrap="square" rtlCol="0" anchor="ctr"/>
          <a:lstStyle/>
          <a:p>
            <a:pPr marL="0" indent="0">
              <a:buNone/>
            </a:pPr>
            <a:r>
              <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rPr>
              <a:t>Write a C program that uses a for loop to print the multiplication table of a number entered by the user.</a:t>
            </a:r>
            <a:endPar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548640" y="4297680"/>
            <a:ext cx="457200" cy="457200"/>
          </a:xfrm>
          <a:prstGeom prst="roundRect">
            <a:avLst>
              <a:gd name="adj" fmla="val 20000"/>
            </a:avLst>
          </a:prstGeom>
          <a:solidFill>
            <a:srgbClr val="00C2A8"/>
          </a:solidFill>
        </p:spPr>
      </p:sp>
      <p:sp>
        <p:nvSpPr>
          <p:cNvPr id="19" name="Text 17"/>
          <p:cNvSpPr/>
          <p:nvPr/>
        </p:nvSpPr>
        <p:spPr>
          <a:xfrm>
            <a:off x="548640" y="4297680"/>
            <a:ext cx="457200" cy="457200"/>
          </a:xfrm>
          <a:prstGeom prst="rect">
            <a:avLst/>
          </a:prstGeom>
          <a:noFill/>
        </p:spPr>
        <p:txBody>
          <a:bodyPr wrap="square" rtlCol="0" anchor="ctr"/>
          <a:lstStyle/>
          <a:p>
            <a:pPr marL="0" indent="0" algn="ctr">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4</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20" name="Shape 18"/>
          <p:cNvSpPr/>
          <p:nvPr/>
        </p:nvSpPr>
        <p:spPr>
          <a:xfrm>
            <a:off x="1170432" y="4270248"/>
            <a:ext cx="10469880" cy="566928"/>
          </a:xfrm>
          <a:prstGeom prst="roundRect">
            <a:avLst>
              <a:gd name="adj" fmla="val 12903"/>
            </a:avLst>
          </a:prstGeom>
          <a:solidFill>
            <a:srgbClr val="133B5C"/>
          </a:solidFill>
        </p:spPr>
      </p:sp>
      <p:sp>
        <p:nvSpPr>
          <p:cNvPr id="21" name="Text 19"/>
          <p:cNvSpPr/>
          <p:nvPr/>
        </p:nvSpPr>
        <p:spPr>
          <a:xfrm>
            <a:off x="1371600" y="4270248"/>
            <a:ext cx="10104120" cy="566928"/>
          </a:xfrm>
          <a:prstGeom prst="rect">
            <a:avLst/>
          </a:prstGeom>
          <a:noFill/>
        </p:spPr>
        <p:txBody>
          <a:bodyPr wrap="square" rtlCol="0" anchor="ctr"/>
          <a:lstStyle/>
          <a:p>
            <a:pPr marL="0" indent="0">
              <a:buNone/>
            </a:pPr>
            <a:r>
              <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rPr>
              <a:t>Write a C program to swap the values of two variables using a third (temporary) variable, and explain each step.</a:t>
            </a:r>
            <a:endPar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548640" y="5074920"/>
            <a:ext cx="457200" cy="457200"/>
          </a:xfrm>
          <a:prstGeom prst="roundRect">
            <a:avLst>
              <a:gd name="adj" fmla="val 20000"/>
            </a:avLst>
          </a:prstGeom>
          <a:solidFill>
            <a:srgbClr val="00C2A8"/>
          </a:solidFill>
        </p:spPr>
      </p:sp>
      <p:sp>
        <p:nvSpPr>
          <p:cNvPr id="23" name="Text 21"/>
          <p:cNvSpPr/>
          <p:nvPr/>
        </p:nvSpPr>
        <p:spPr>
          <a:xfrm>
            <a:off x="548640" y="5074920"/>
            <a:ext cx="457200" cy="457200"/>
          </a:xfrm>
          <a:prstGeom prst="rect">
            <a:avLst/>
          </a:prstGeom>
          <a:noFill/>
        </p:spPr>
        <p:txBody>
          <a:bodyPr wrap="square" rtlCol="0" anchor="ctr"/>
          <a:lstStyle/>
          <a:p>
            <a:pPr marL="0" indent="0" algn="ctr">
              <a:buNone/>
            </a:pPr>
            <a:r>
              <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rPr>
              <a:t>5</a:t>
            </a:r>
            <a:endParaRPr lang="en-US" sz="2800" b="1" dirty="0">
              <a:solidFill>
                <a:srgbClr val="0B2545"/>
              </a:solidFill>
              <a:latin typeface="Cambria" panose="02040503050406030204" pitchFamily="34" charset="0"/>
              <a:ea typeface="Cambria" panose="02040503050406030204" pitchFamily="34" charset="-122"/>
              <a:cs typeface="Cambria" panose="02040503050406030204" pitchFamily="34" charset="-120"/>
            </a:endParaRPr>
          </a:p>
        </p:txBody>
      </p:sp>
      <p:sp>
        <p:nvSpPr>
          <p:cNvPr id="24" name="Shape 22"/>
          <p:cNvSpPr/>
          <p:nvPr/>
        </p:nvSpPr>
        <p:spPr>
          <a:xfrm>
            <a:off x="1170432" y="5047488"/>
            <a:ext cx="10469880" cy="566928"/>
          </a:xfrm>
          <a:prstGeom prst="roundRect">
            <a:avLst>
              <a:gd name="adj" fmla="val 12903"/>
            </a:avLst>
          </a:prstGeom>
          <a:solidFill>
            <a:srgbClr val="133B5C"/>
          </a:solidFill>
        </p:spPr>
      </p:sp>
      <p:sp>
        <p:nvSpPr>
          <p:cNvPr id="25" name="Text 23"/>
          <p:cNvSpPr/>
          <p:nvPr/>
        </p:nvSpPr>
        <p:spPr>
          <a:xfrm>
            <a:off x="1371600" y="5047488"/>
            <a:ext cx="10104120" cy="566928"/>
          </a:xfrm>
          <a:prstGeom prst="rect">
            <a:avLst/>
          </a:prstGeom>
          <a:noFill/>
        </p:spPr>
        <p:txBody>
          <a:bodyPr wrap="square" rtlCol="0" anchor="ctr"/>
          <a:lstStyle/>
          <a:p>
            <a:pPr marL="0" indent="0">
              <a:buNone/>
            </a:pPr>
            <a:r>
              <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rPr>
              <a:t>Write a C program using a switch statement to print the name of the day of the week for a number entered (1 = Monday, ... 7 = Sunday).</a:t>
            </a:r>
            <a:endParaRPr lang="en-US" dirty="0">
              <a:solidFill>
                <a:srgbClr val="F4F7FA"/>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11475720" y="6492240"/>
            <a:ext cx="548640" cy="274320"/>
          </a:xfrm>
          <a:prstGeom prst="rect">
            <a:avLst/>
          </a:prstGeom>
          <a:noFill/>
        </p:spPr>
        <p:txBody>
          <a:bodyPr wrap="square" rtlCol="0" anchor="ctr"/>
          <a:lstStyle/>
          <a:p>
            <a:pPr marL="0" indent="0" algn="r">
              <a:buNone/>
            </a:pPr>
            <a:r>
              <a:rPr lang="en-US" sz="1600" dirty="0">
                <a:solidFill>
                  <a:srgbClr val="7C93A8"/>
                </a:solidFill>
                <a:latin typeface="Calibri" panose="020F0502020204030204" pitchFamily="34" charset="0"/>
                <a:ea typeface="Calibri" panose="020F0502020204030204" pitchFamily="34" charset="-122"/>
                <a:cs typeface="Calibri" panose="020F0502020204030204" pitchFamily="34" charset="-120"/>
              </a:rPr>
              <a:t>33</a:t>
            </a:r>
            <a:endParaRPr lang="en-US" sz="1600" dirty="0">
              <a:solidFill>
                <a:srgbClr val="7C93A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tags/tag1.xml><?xml version="1.0" encoding="utf-8"?>
<p:tagLst xmlns:p="http://schemas.openxmlformats.org/presentationml/2006/main">
  <p:tag name="TABLE_ENDDRAG_ORIGIN_RECT" val="659*311"/>
  <p:tag name="TABLE_ENDDRAG_RECT" val="116*105*659*311"/>
</p:tagLst>
</file>

<file path=ppt/tags/tag2.xml><?xml version="1.0" encoding="utf-8"?>
<p:tagLst xmlns:p="http://schemas.openxmlformats.org/presentationml/2006/main">
  <p:tag name="KSO_WM_DIAGRAM_VIRTUALLY_FRAME" val="{&quot;height&quot;:266.4,&quot;left&quot;:54,&quot;top&quot;:174.55,&quot;width&quot;:892.8}"/>
</p:tagLst>
</file>

<file path=ppt/tags/tag3.xml><?xml version="1.0" encoding="utf-8"?>
<p:tagLst xmlns:p="http://schemas.openxmlformats.org/presentationml/2006/main">
  <p:tag name="KSO_WM_DIAGRAM_VIRTUALLY_FRAME" val="{&quot;height&quot;:266.4,&quot;left&quot;:54,&quot;top&quot;:174.55,&quot;width&quot;:892.8}"/>
</p:tagLst>
</file>

<file path=ppt/tags/tag4.xml><?xml version="1.0" encoding="utf-8"?>
<p:tagLst xmlns:p="http://schemas.openxmlformats.org/presentationml/2006/main">
  <p:tag name="KSO_WM_DIAGRAM_VIRTUALLY_FRAME" val="{&quot;height&quot;:266.4,&quot;left&quot;:54,&quot;top&quot;:174.55,&quot;width&quot;:892.8}"/>
</p:tagLst>
</file>

<file path=ppt/tags/tag5.xml><?xml version="1.0" encoding="utf-8"?>
<p:tagLst xmlns:p="http://schemas.openxmlformats.org/presentationml/2006/main">
  <p:tag name="KSO_WM_DIAGRAM_VIRTUALLY_FRAME" val="{&quot;height&quot;:266.4,&quot;left&quot;:54,&quot;top&quot;:174.55,&quot;width&quot;:892.8}"/>
</p:tagLst>
</file>

<file path=ppt/tags/tag6.xml><?xml version="1.0" encoding="utf-8"?>
<p:tagLst xmlns:p="http://schemas.openxmlformats.org/presentationml/2006/main">
  <p:tag name="KSO_WM_DIAGRAM_VIRTUALLY_FRAME" val="{&quot;height&quot;:266.4,&quot;left&quot;:54,&quot;top&quot;:174.55,&quot;width&quot;:892.8}"/>
</p:tagLst>
</file>

<file path=ppt/tags/tag7.xml><?xml version="1.0" encoding="utf-8"?>
<p:tagLst xmlns:p="http://schemas.openxmlformats.org/presentationml/2006/main">
  <p:tag name="KSO_WM_DIAGRAM_VIRTUALLY_FRAME" val="{&quot;height&quot;:266.4,&quot;left&quot;:54,&quot;top&quot;:174.55,&quot;width&quot;:892.8}"/>
</p:tagLst>
</file>

<file path=ppt/tags/tag8.xml><?xml version="1.0" encoding="utf-8"?>
<p:tagLst xmlns:p="http://schemas.openxmlformats.org/presentationml/2006/main">
  <p:tag name="KSO_WM_DIAGRAM_VIRTUALLY_FRAME" val="{&quot;height&quot;:266.4,&quot;left&quot;:54,&quot;top&quot;:174.55,&quot;width&quot;:892.8}"/>
</p:tagLst>
</file>

<file path=ppt/tags/tag9.xml><?xml version="1.0" encoding="utf-8"?>
<p:tagLst xmlns:p="http://schemas.openxmlformats.org/presentationml/2006/main">
  <p:tag name="KSO_WM_DIAGRAM_VIRTUALLY_FRAME" val="{&quot;height&quot;:266.4,&quot;left&quot;:54,&quot;top&quot;:174.55,&quot;width&quot;:892.8}"/>
</p:tagLst>
</file>

<file path=ppt/tags/tag10.xml><?xml version="1.0" encoding="utf-8"?>
<p:tagLst xmlns:p="http://schemas.openxmlformats.org/presentationml/2006/main">
  <p:tag name="KSO_WM_DIAGRAM_VIRTUALLY_FRAME" val="{&quot;height&quot;:266.4,&quot;left&quot;:54,&quot;top&quot;:174.55,&quot;width&quot;:892.8}"/>
</p:tagLst>
</file>

<file path=ppt/tags/tag11.xml><?xml version="1.0" encoding="utf-8"?>
<p:tagLst xmlns:p="http://schemas.openxmlformats.org/presentationml/2006/main">
  <p:tag name="KSO_WM_DIAGRAM_VIRTUALLY_FRAME" val="{&quot;height&quot;:266.4,&quot;left&quot;:54,&quot;top&quot;:174.55,&quot;width&quot;:892.8}"/>
</p:tagLst>
</file>

<file path=ppt/tags/tag12.xml><?xml version="1.0" encoding="utf-8"?>
<p:tagLst xmlns:p="http://schemas.openxmlformats.org/presentationml/2006/main">
  <p:tag name="KSO_WM_DIAGRAM_VIRTUALLY_FRAME" val="{&quot;height&quot;:266.4,&quot;left&quot;:54,&quot;top&quot;:174.55,&quot;width&quot;:892.8}"/>
</p:tagLst>
</file>

<file path=ppt/tags/tag13.xml><?xml version="1.0" encoding="utf-8"?>
<p:tagLst xmlns:p="http://schemas.openxmlformats.org/presentationml/2006/main">
  <p:tag name="KSO_WM_DIAGRAM_VIRTUALLY_FRAME" val="{&quot;height&quot;:266.4,&quot;left&quot;:54,&quot;top&quot;:174.55,&quot;width&quot;:892.8}"/>
</p:tagLst>
</file>

<file path=ppt/tags/tag14.xml><?xml version="1.0" encoding="utf-8"?>
<p:tagLst xmlns:p="http://schemas.openxmlformats.org/presentationml/2006/main">
  <p:tag name="KSO_WM_DIAGRAM_VIRTUALLY_FRAME" val="{&quot;height&quot;:266.4,&quot;left&quot;:54,&quot;top&quot;:174.55,&quot;width&quot;:892.8}"/>
</p:tagLst>
</file>

<file path=ppt/tags/tag15.xml><?xml version="1.0" encoding="utf-8"?>
<p:tagLst xmlns:p="http://schemas.openxmlformats.org/presentationml/2006/main">
  <p:tag name="KSO_WM_DIAGRAM_VIRTUALLY_FRAME" val="{&quot;height&quot;:266.4,&quot;left&quot;:54,&quot;top&quot;:174.55,&quot;width&quot;:892.8}"/>
</p:tagLst>
</file>

<file path=ppt/tags/tag16.xml><?xml version="1.0" encoding="utf-8"?>
<p:tagLst xmlns:p="http://schemas.openxmlformats.org/presentationml/2006/main">
  <p:tag name="KSO_WM_DIAGRAM_VIRTUALLY_FRAME" val="{&quot;height&quot;:266.4,&quot;left&quot;:54,&quot;top&quot;:174.55,&quot;width&quot;:892.8}"/>
</p:tagLst>
</file>

<file path=ppt/tags/tag17.xml><?xml version="1.0" encoding="utf-8"?>
<p:tagLst xmlns:p="http://schemas.openxmlformats.org/presentationml/2006/main">
  <p:tag name="KSO_WM_DIAGRAM_VIRTUALLY_FRAME" val="{&quot;height&quot;:266.4,&quot;left&quot;:54,&quot;top&quot;:174.55,&quot;width&quot;:892.8}"/>
</p:tagLst>
</file>

<file path=ppt/tags/tag18.xml><?xml version="1.0" encoding="utf-8"?>
<p:tagLst xmlns:p="http://schemas.openxmlformats.org/presentationml/2006/main">
  <p:tag name="KSO_WM_DIAGRAM_VIRTUALLY_FRAME" val="{&quot;height&quot;:266.4,&quot;left&quot;:54,&quot;top&quot;:174.55,&quot;width&quot;:892.8}"/>
</p:tagLst>
</file>

<file path=ppt/tags/tag19.xml><?xml version="1.0" encoding="utf-8"?>
<p:tagLst xmlns:p="http://schemas.openxmlformats.org/presentationml/2006/main">
  <p:tag name="KSO_WM_DIAGRAM_VIRTUALLY_FRAME" val="{&quot;height&quot;:266.4,&quot;left&quot;:54,&quot;top&quot;:174.55,&quot;width&quot;:892.8}"/>
</p:tagLst>
</file>

<file path=ppt/tags/tag20.xml><?xml version="1.0" encoding="utf-8"?>
<p:tagLst xmlns:p="http://schemas.openxmlformats.org/presentationml/2006/main">
  <p:tag name="KSO_WM_DIAGRAM_VIRTUALLY_FRAME" val="{&quot;height&quot;:266.4,&quot;left&quot;:54,&quot;top&quot;:174.55,&quot;width&quot;:892.8}"/>
</p:tagLst>
</file>

<file path=ppt/tags/tag21.xml><?xml version="1.0" encoding="utf-8"?>
<p:tagLst xmlns:p="http://schemas.openxmlformats.org/presentationml/2006/main">
  <p:tag name="KSO_WM_DIAGRAM_VIRTUALLY_FRAME" val="{&quot;height&quot;:266.4,&quot;left&quot;:54,&quot;top&quot;:174.55,&quot;width&quot;:892.8}"/>
</p:tagLst>
</file>

<file path=ppt/tags/tag22.xml><?xml version="1.0" encoding="utf-8"?>
<p:tagLst xmlns:p="http://schemas.openxmlformats.org/presentationml/2006/main">
  <p:tag name="KSO_WM_DIAGRAM_VIRTUALLY_FRAME" val="{&quot;height&quot;:266.4,&quot;left&quot;:54,&quot;top&quot;:174.55,&quot;width&quot;:892.8}"/>
</p:tagLst>
</file>

<file path=ppt/tags/tag23.xml><?xml version="1.0" encoding="utf-8"?>
<p:tagLst xmlns:p="http://schemas.openxmlformats.org/presentationml/2006/main">
  <p:tag name="KSO_WM_DIAGRAM_VIRTUALLY_FRAME" val="{&quot;height&quot;:266.4,&quot;left&quot;:54,&quot;top&quot;:174.55,&quot;width&quot;:892.8}"/>
</p:tagLst>
</file>

<file path=ppt/tags/tag24.xml><?xml version="1.0" encoding="utf-8"?>
<p:tagLst xmlns:p="http://schemas.openxmlformats.org/presentationml/2006/main">
  <p:tag name="KSO_WM_DIAGRAM_VIRTUALLY_FRAME" val="{&quot;height&quot;:266.4,&quot;left&quot;:54,&quot;top&quot;:174.55,&quot;width&quot;:892.8}"/>
</p:tagLst>
</file>

<file path=ppt/tags/tag25.xml><?xml version="1.0" encoding="utf-8"?>
<p:tagLst xmlns:p="http://schemas.openxmlformats.org/presentationml/2006/main">
  <p:tag name="KSO_WM_DIAGRAM_VIRTUALLY_FRAME" val="{&quot;height&quot;:266.4,&quot;left&quot;:54,&quot;top&quot;:174.55,&quot;width&quot;:892.8}"/>
</p:tagLst>
</file>

<file path=ppt/tags/tag26.xml><?xml version="1.0" encoding="utf-8"?>
<p:tagLst xmlns:p="http://schemas.openxmlformats.org/presentationml/2006/main">
  <p:tag name="KSO_WM_DIAGRAM_VIRTUALLY_FRAME" val="{&quot;height&quot;:266.4,&quot;left&quot;:54,&quot;top&quot;:174.55,&quot;width&quot;:892.8}"/>
</p:tagLst>
</file>

<file path=ppt/tags/tag27.xml><?xml version="1.0" encoding="utf-8"?>
<p:tagLst xmlns:p="http://schemas.openxmlformats.org/presentationml/2006/main">
  <p:tag name="KSO_WM_DIAGRAM_VIRTUALLY_FRAME" val="{&quot;height&quot;:266.4,&quot;left&quot;:54,&quot;top&quot;:174.55,&quot;width&quot;:892.8}"/>
</p:tagLst>
</file>

<file path=ppt/tags/tag28.xml><?xml version="1.0" encoding="utf-8"?>
<p:tagLst xmlns:p="http://schemas.openxmlformats.org/presentationml/2006/main">
  <p:tag name="KSO_WM_DIAGRAM_VIRTUALLY_FRAME" val="{&quot;height&quot;:266.4,&quot;left&quot;:54,&quot;top&quot;:174.55,&quot;width&quot;:892.8}"/>
</p:tagLst>
</file>

<file path=ppt/tags/tag29.xml><?xml version="1.0" encoding="utf-8"?>
<p:tagLst xmlns:p="http://schemas.openxmlformats.org/presentationml/2006/main">
  <p:tag name="KSO_WM_DIAGRAM_VIRTUALLY_FRAME" val="{&quot;height&quot;:266.4,&quot;left&quot;:54,&quot;top&quot;:174.55,&quot;width&quot;:892.8}"/>
</p:tagLst>
</file>

<file path=ppt/tags/tag30.xml><?xml version="1.0" encoding="utf-8"?>
<p:tagLst xmlns:p="http://schemas.openxmlformats.org/presentationml/2006/main">
  <p:tag name="KSO_WM_DIAGRAM_VIRTUALLY_FRAME" val="{&quot;height&quot;:266.4,&quot;left&quot;:54,&quot;top&quot;:174.55,&quot;width&quot;:892.8}"/>
</p:tagLst>
</file>

<file path=ppt/tags/tag31.xml><?xml version="1.0" encoding="utf-8"?>
<p:tagLst xmlns:p="http://schemas.openxmlformats.org/presentationml/2006/main">
  <p:tag name="KSO_WM_DIAGRAM_VIRTUALLY_FRAME" val="{&quot;height&quot;:266.4,&quot;left&quot;:54,&quot;top&quot;:174.55,&quot;width&quot;:892.8}"/>
</p:tagLst>
</file>

<file path=ppt/tags/tag32.xml><?xml version="1.0" encoding="utf-8"?>
<p:tagLst xmlns:p="http://schemas.openxmlformats.org/presentationml/2006/main">
  <p:tag name="KSO_WM_DIAGRAM_VIRTUALLY_FRAME" val="{&quot;height&quot;:266.4,&quot;left&quot;:54,&quot;top&quot;:174.55,&quot;width&quot;:892.8}"/>
</p:tagLst>
</file>

<file path=ppt/tags/tag33.xml><?xml version="1.0" encoding="utf-8"?>
<p:tagLst xmlns:p="http://schemas.openxmlformats.org/presentationml/2006/main">
  <p:tag name="TABLE_ENDDRAG_ORIGIN_RECT" val="871*252"/>
  <p:tag name="TABLE_ENDDRAG_RECT" val="39*165*871*252"/>
</p:tagLst>
</file>

<file path=ppt/tags/tag34.xml><?xml version="1.0" encoding="utf-8"?>
<p:tagLst xmlns:p="http://schemas.openxmlformats.org/presentationml/2006/main">
  <p:tag name="TABLE_ENDDRAG_ORIGIN_RECT" val="871*220"/>
  <p:tag name="TABLE_ENDDRAG_RECT" val="43*100*871*2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45997</Words>
  <Application>WPS Presentation</Application>
  <PresentationFormat>On-screen Show (16:9)</PresentationFormat>
  <Paragraphs>2729</Paragraphs>
  <Slides>91</Slides>
  <Notes>29</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91</vt:i4>
      </vt:variant>
    </vt:vector>
  </HeadingPairs>
  <TitlesOfParts>
    <vt:vector size="113" baseType="lpstr">
      <vt:lpstr>Arial</vt:lpstr>
      <vt:lpstr>SimSun</vt:lpstr>
      <vt:lpstr>Wingdings</vt:lpstr>
      <vt:lpstr>Calibri</vt:lpstr>
      <vt:lpstr>Calibri</vt:lpstr>
      <vt:lpstr>Calibri</vt:lpstr>
      <vt:lpstr>Cambria</vt:lpstr>
      <vt:lpstr>Cambria</vt:lpstr>
      <vt:lpstr>Cambria</vt:lpstr>
      <vt:lpstr>Arial</vt:lpstr>
      <vt:lpstr>Times New Roman</vt:lpstr>
      <vt:lpstr>Calibri</vt:lpstr>
      <vt:lpstr>Microsoft YaHei</vt:lpstr>
      <vt:lpstr>Arial Unicode MS</vt:lpstr>
      <vt:lpstr>Consolas</vt:lpstr>
      <vt:lpstr>Consolas</vt:lpstr>
      <vt:lpstr>Consolas</vt:lpstr>
      <vt:lpstr>Courier New</vt:lpstr>
      <vt:lpstr>Courier New</vt:lpstr>
      <vt:lpstr>Courier New</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Jasmine Savathallapalli</cp:lastModifiedBy>
  <cp:revision>4</cp:revision>
  <dcterms:created xsi:type="dcterms:W3CDTF">2026-07-31T04:08:00Z</dcterms:created>
  <dcterms:modified xsi:type="dcterms:W3CDTF">2026-08-13T05:47:01Z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0F960A58035F42F4BA787F21175D76AC_13</vt:lpwstr>
  </property>
  <property fmtid="{D5CDD505-2E9C-101B-9397-08002B2CF9AE}" pid="3" name="KSOProductBuildVer">
    <vt:lpwstr>2057-12.2.0.23206</vt:lpwstr>
  </property>
</Properties>
</file>