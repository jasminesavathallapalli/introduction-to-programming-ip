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2"/>
  </p:notesMasterIdLst>
  <p:sldIdLst>
    <p:sldId id="256" r:id="rId2"/>
    <p:sldId id="259" r:id="rId3"/>
    <p:sldId id="260" r:id="rId4"/>
    <p:sldId id="261" r:id="rId5"/>
    <p:sldId id="285" r:id="rId6"/>
    <p:sldId id="262" r:id="rId7"/>
    <p:sldId id="292" r:id="rId8"/>
    <p:sldId id="293" r:id="rId9"/>
    <p:sldId id="294" r:id="rId10"/>
    <p:sldId id="295" r:id="rId11"/>
    <p:sldId id="296" r:id="rId12"/>
    <p:sldId id="297" r:id="rId13"/>
    <p:sldId id="284" r:id="rId14"/>
    <p:sldId id="265" r:id="rId15"/>
    <p:sldId id="263" r:id="rId16"/>
    <p:sldId id="264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290" r:id="rId34"/>
    <p:sldId id="314" r:id="rId35"/>
    <p:sldId id="267" r:id="rId36"/>
    <p:sldId id="319" r:id="rId37"/>
    <p:sldId id="320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315" r:id="rId46"/>
    <p:sldId id="316" r:id="rId47"/>
    <p:sldId id="317" r:id="rId48"/>
    <p:sldId id="318" r:id="rId49"/>
    <p:sldId id="275" r:id="rId50"/>
    <p:sldId id="282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mine Savathallapalli" userId="995141c47b43e651" providerId="LiveId" clId="{6AE3B1C7-E938-48A0-B709-DB8378A2F030}"/>
    <pc:docChg chg="custSel modSld">
      <pc:chgData name="Jasmine Savathallapalli" userId="995141c47b43e651" providerId="LiveId" clId="{6AE3B1C7-E938-48A0-B709-DB8378A2F030}" dt="2026-08-21T06:00:21.053" v="41" actId="20577"/>
      <pc:docMkLst>
        <pc:docMk/>
      </pc:docMkLst>
      <pc:sldChg chg="modSp mod">
        <pc:chgData name="Jasmine Savathallapalli" userId="995141c47b43e651" providerId="LiveId" clId="{6AE3B1C7-E938-48A0-B709-DB8378A2F030}" dt="2026-08-21T05:38:03.732" v="7" actId="403"/>
        <pc:sldMkLst>
          <pc:docMk/>
          <pc:sldMk cId="0" sldId="267"/>
        </pc:sldMkLst>
        <pc:spChg chg="mod">
          <ac:chgData name="Jasmine Savathallapalli" userId="995141c47b43e651" providerId="LiveId" clId="{6AE3B1C7-E938-48A0-B709-DB8378A2F030}" dt="2026-08-21T05:37:55.070" v="1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Jasmine Savathallapalli" userId="995141c47b43e651" providerId="LiveId" clId="{6AE3B1C7-E938-48A0-B709-DB8378A2F030}" dt="2026-08-21T05:37:58.381" v="3" actId="403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asmine Savathallapalli" userId="995141c47b43e651" providerId="LiveId" clId="{6AE3B1C7-E938-48A0-B709-DB8378A2F030}" dt="2026-08-21T05:38:01.163" v="5" actId="403"/>
          <ac:spMkLst>
            <pc:docMk/>
            <pc:sldMk cId="0" sldId="267"/>
            <ac:spMk id="18" creationId="{00000000-0000-0000-0000-000000000000}"/>
          </ac:spMkLst>
        </pc:spChg>
        <pc:spChg chg="mod">
          <ac:chgData name="Jasmine Savathallapalli" userId="995141c47b43e651" providerId="LiveId" clId="{6AE3B1C7-E938-48A0-B709-DB8378A2F030}" dt="2026-08-21T05:38:03.732" v="7" actId="403"/>
          <ac:spMkLst>
            <pc:docMk/>
            <pc:sldMk cId="0" sldId="267"/>
            <ac:spMk id="23" creationId="{00000000-0000-0000-0000-000000000000}"/>
          </ac:spMkLst>
        </pc:spChg>
      </pc:sldChg>
      <pc:sldChg chg="modSp mod">
        <pc:chgData name="Jasmine Savathallapalli" userId="995141c47b43e651" providerId="LiveId" clId="{6AE3B1C7-E938-48A0-B709-DB8378A2F030}" dt="2026-08-21T06:00:21.053" v="41" actId="20577"/>
        <pc:sldMkLst>
          <pc:docMk/>
          <pc:sldMk cId="0" sldId="304"/>
        </pc:sldMkLst>
        <pc:spChg chg="mod">
          <ac:chgData name="Jasmine Savathallapalli" userId="995141c47b43e651" providerId="LiveId" clId="{6AE3B1C7-E938-48A0-B709-DB8378A2F030}" dt="2026-08-21T06:00:21.053" v="41" actId="20577"/>
          <ac:spMkLst>
            <pc:docMk/>
            <pc:sldMk cId="0" sldId="304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2A"/>
          </a:solidFill>
        </p:spPr>
      </p:sp>
      <p:sp>
        <p:nvSpPr>
          <p:cNvPr id="3" name="Shape 1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23C4D"/>
          </a:solidFill>
        </p:spPr>
      </p:sp>
      <p:sp>
        <p:nvSpPr>
          <p:cNvPr id="4" name="Shape 2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73B48"/>
          </a:solidFill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PROGRAMMING ( CSE1001 ) </a:t>
            </a:r>
          </a:p>
          <a:p>
            <a:pPr marL="0" indent="0">
              <a:buNone/>
            </a:pPr>
            <a:r>
              <a:rPr lang="en-US" sz="1600" b="1" kern="0" spc="300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MODULE 2</a:t>
            </a:r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877824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Arrays and Functions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9601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en-GB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Arrays: declaration, initialization, accessing elements- Array manipulation. Functions: The prototype declaration, Function definition, Function call: Passing arguments to a function, by value, by reference. Scope of variable names. Recursive function calls.</a:t>
            </a:r>
          </a:p>
        </p:txBody>
      </p:sp>
      <p:sp>
        <p:nvSpPr>
          <p:cNvPr id="8" name="Shape 6"/>
          <p:cNvSpPr/>
          <p:nvPr/>
        </p:nvSpPr>
        <p:spPr>
          <a:xfrm>
            <a:off x="822960" y="5440680"/>
            <a:ext cx="2011680" cy="0"/>
          </a:xfrm>
          <a:prstGeom prst="line">
            <a:avLst/>
          </a:prstGeom>
          <a:noFill/>
          <a:ln w="25400">
            <a:solidFill>
              <a:srgbClr val="2EE6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196455" y="5354955"/>
            <a:ext cx="388747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en-GB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By Ms Savathallapalli Jasmine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· CONCEPT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Declaring an array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486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array is a collection of elements of the </a:t>
            </a: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data type</a:t>
            </a: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stored in </a:t>
            </a: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contiguous memory</a:t>
            </a: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accessed using an index starting at 0.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3317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Syntax:  datatype  arrayName [ size ] 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834640"/>
            <a:ext cx="54864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 must be a positive integer constant (or a constant expression)</a:t>
            </a:r>
            <a:endParaRPr lang="en-US" sz="140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elements are indexed from 0 to size-1</a:t>
            </a:r>
            <a:endParaRPr lang="en-US" sz="140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elements occupy one contiguous block of memory</a:t>
            </a:r>
            <a:endParaRPr lang="en-US" sz="140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uninitialized local array holds garbage values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65392" y="1563624"/>
            <a:ext cx="4882896" cy="2816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Declaring arrays
</a:t>
            </a: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marks[5];       // 5 integers
float price[10];    // 10 floats
char name[20];      // 20 characters
</a:t>
            </a: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Memory layout of marks[5]
// index:  0    1    2    3    4
// value: [--] [--] [--] [--] [--]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i="1" dirty="0">
                <a:solidFill>
                  <a:srgbClr val="8B93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// 2-D array declaration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7FB3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int</a:t>
            </a:r>
            <a:r>
              <a:rPr lang="en-US" sz="14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matrix[3][3];  // 3 rows, 3 columns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· INITIALIZATION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Ways to initialize an array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400800" cy="4480560"/>
          </a:xfrm>
          <a:prstGeom prst="roundRect">
            <a:avLst>
              <a:gd name="adj" fmla="val 1224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453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8952" y="1563624"/>
            <a:ext cx="5888736" cy="4187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1. Full initialization
</a:t>
            </a:r>
            <a:r>
              <a:rPr lang="en-US" sz="16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arr[5] = {10, 20, 30, 40, 50};
</a:t>
            </a:r>
            <a:r>
              <a:rPr lang="en-US" sz="16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2. Size inferred from values -&gt; size 3
</a:t>
            </a:r>
            <a:r>
              <a:rPr lang="en-US" sz="16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arr2[] = {1, 2, 3};
</a:t>
            </a:r>
            <a:r>
              <a:rPr lang="en-US" sz="16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3. Partial init -&gt; remaining elements = 0
</a:t>
            </a:r>
            <a:r>
              <a:rPr lang="en-US" sz="16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arr3[5] = {1, 2};        // {1,2,0,0,0}
</a:t>
            </a:r>
            <a:r>
              <a:rPr lang="en-US" sz="16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4. All elements set to 0
</a:t>
            </a:r>
            <a:r>
              <a:rPr lang="en-US" sz="16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arr4[5] = {0};
</a:t>
            </a:r>
            <a:r>
              <a:rPr lang="en-US" sz="16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5. 2-D array initialization
</a:t>
            </a:r>
            <a:r>
              <a:rPr lang="en-US" sz="16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matrix[2][3] = {{1,2,3}, {4,5,6}};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8040" y="146304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Rules 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78040" y="1965960"/>
            <a:ext cx="44805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 algn="just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cannot exceed the declared size with more initializers — that's a compile error.</a:t>
            </a:r>
            <a:endParaRPr lang="en-US" dirty="0"/>
          </a:p>
          <a:p>
            <a:pPr marL="342900" indent="-342900" algn="just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size is omitted, the compiler counts the initializers.</a:t>
            </a:r>
            <a:endParaRPr lang="en-US" dirty="0"/>
          </a:p>
          <a:p>
            <a:pPr marL="342900" indent="-342900" algn="just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Leftover elements in a partial initialization are auto-set to 0.</a:t>
            </a:r>
            <a:endParaRPr lang="en-US" dirty="0"/>
          </a:p>
          <a:p>
            <a:pPr marL="342900" indent="-342900" algn="just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global/static array with no initializer is zero-filled automatically; a local one is not.</a:t>
            </a:r>
          </a:p>
        </p:txBody>
      </p:sp>
      <p:sp>
        <p:nvSpPr>
          <p:cNvPr id="9" name="Text 7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· ACCESS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Accessing array elements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5778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element is reached with </a:t>
            </a: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arrayName[index]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Valid indices run from 0 to n-1; going outside that range is </a:t>
            </a:r>
            <a:r>
              <a:rPr lang="en-US" sz="16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undefined behaviour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 C — the compiler will not stop you.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5577840" cy="1737360"/>
          </a:xfrm>
          <a:prstGeom prst="roundRect">
            <a:avLst>
              <a:gd name="adj" fmla="val 4211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7180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arr[2] = 30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50292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    0     1     2     3     4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   10    20    30    40    50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   ^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arr[2] = 30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470916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Common patterns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50749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Reading:  int x = arr[i];      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Writing:  arr[i] = 99;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94960" cy="4937760"/>
          </a:xfrm>
          <a:prstGeom prst="roundRect">
            <a:avLst>
              <a:gd name="adj" fmla="val 1111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65392" y="1563624"/>
            <a:ext cx="4882896" cy="4645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int main() {
    int arr[5] = {10, 20, 30, 40, 50};
    for (int i = 0; i &lt; 5; i++) {
        printf("arr[%d] = %d\n", i, arr[i]);
    }
    return 0;
}
/* Output:
   arr[0] = 10
   arr[1] = 20 ...  arr[4] = 50 */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38530" y="540068"/>
            <a:ext cx="64111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Finding the Address of Array Elements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955165" y="1206380"/>
            <a:ext cx="799211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/>
              <a:buChar char="•"/>
            </a:pPr>
            <a:r>
              <a:rPr lang="en-US" altLang="zh-CN" sz="2000" b="1" dirty="0">
                <a:latin typeface="Times New Roman" panose="02020603050405020304" charset="0"/>
                <a:cs typeface="Times New Roman" panose="02020603050405020304" charset="0"/>
              </a:rPr>
              <a:t>Formula: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Address of </a:t>
            </a:r>
            <a:r>
              <a:rPr lang="en-US" altLang="zh-CN" sz="2000" b="1" dirty="0" err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arr</a:t>
            </a:r>
            <a:r>
              <a:rPr lang="en-US" altLang="zh-CN" sz="2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2000" b="1" dirty="0" err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] = Base Address + (</a:t>
            </a:r>
            <a:r>
              <a:rPr lang="en-US" altLang="zh-CN" sz="2000" b="1" dirty="0" err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altLang="zh-CN" sz="2000" b="1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× Size of one element)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 Example: 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int </a:t>
            </a: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arr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[5] = {10, 20, 30, 40, 50};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 Base Address = 1000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sizeof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(int) = 4 bytes 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 Address calculation for </a:t>
            </a: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arr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[3]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Address of </a:t>
            </a: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arr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[3] = 1000 + (3 * 4) = 1012</a:t>
            </a:r>
          </a:p>
          <a:p>
            <a:pPr lvl="1" indent="0">
              <a:buFont typeface="Arial" panose="020B0604020202020204"/>
              <a:buNone/>
            </a:pP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 b="1" dirty="0">
                <a:latin typeface="Times New Roman" panose="02020603050405020304" charset="0"/>
                <a:cs typeface="Times New Roman" panose="02020603050405020304" charset="0"/>
              </a:rPr>
              <a:t>Memory Representation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 Visual representation of contiguous memory locations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 Addresses: 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arr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[0] = 1000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arr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[1] = 1004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arr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[2] = 1008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arr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[3] = 1012</a:t>
            </a:r>
          </a:p>
          <a:p>
            <a:pPr lvl="1">
              <a:buFont typeface="Arial" panose="020B0604020202020204"/>
              <a:buChar char="◦"/>
            </a:pP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arr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[4] = 1016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· TYPES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arrays: 1-D, 2-D &amp; 3-D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can have more than one "dimension" — think of it as a list, a grid, or a stack of grids.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3154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1-D Array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59152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row of values — like one shelf of boxes.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3154680" cy="1861580"/>
          </a:xfrm>
          <a:prstGeom prst="roundRect">
            <a:avLst>
              <a:gd name="adj" fmla="val 3529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27832" y="303580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3072384"/>
            <a:ext cx="2642616" cy="1261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marks[5];
int marks[5] =
  {90, 85, 70, 60, 95};
</a:t>
            </a: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access:
</a:t>
            </a: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marks[2]   // -&gt; 70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6280" y="4958981"/>
            <a:ext cx="3154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index:  0   1   2   3   4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value: 90  85  70  60  95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3154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a list of marks, roll numbers, temperatures, etc.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11680"/>
            <a:ext cx="3154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2-D Array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359152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and columns — like a table or a chess board.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26280" y="2926079"/>
            <a:ext cx="3154680" cy="2198011"/>
          </a:xfrm>
          <a:prstGeom prst="roundRect">
            <a:avLst>
              <a:gd name="adj" fmla="val 2927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22592" y="303580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82312" y="3072384"/>
            <a:ext cx="2642616" cy="1581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a[2][3];
</a:t>
            </a:r>
            <a:r>
              <a:rPr lang="en-US" sz="12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2 rows, 3 columns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int a[2][3] = {
  {1, 2, 3},
  {4, 5, 6}
};
</a:t>
            </a:r>
            <a:r>
              <a:rPr lang="en-US" sz="12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access: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a[1][2]   // -&gt; 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5189220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[row][col]  row 0: 1 2 3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row 1: 4 5 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5623560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matrices, tables, seating charts, tic-tac-toe boards.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1828800"/>
            <a:ext cx="3611880" cy="4343400"/>
          </a:xfrm>
          <a:prstGeom prst="roundRect">
            <a:avLst>
              <a:gd name="adj" fmla="val 2025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2011680"/>
            <a:ext cx="3154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 Dimensional Array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2359152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stack of 2-D grids — like several tables piled up.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21040" y="2926080"/>
            <a:ext cx="3154680" cy="2198010"/>
          </a:xfrm>
          <a:prstGeom prst="roundRect">
            <a:avLst>
              <a:gd name="adj" fmla="val 2927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817352" y="303580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77072" y="3072384"/>
            <a:ext cx="2642616" cy="1581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b[2][2][2];
</a:t>
            </a:r>
            <a:r>
              <a:rPr lang="en-US" sz="12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2 blocks of 2x2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int b[2][2][2] = {
  {{1,2},{3,4}},
  {{5,6},{7,8}}
};
</a:t>
            </a:r>
            <a:r>
              <a:rPr lang="en-US" sz="12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access: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b[1][0][1]  // -&gt;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05800" y="5266944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Think: [block][row][col]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5623560"/>
            <a:ext cx="3154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for: a small cube of data, e.g. RGB image blocks or 3-D grids.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Sum of All Elements in a 1D Array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up every element of the array using a loop.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arr[5] = {10, 20, 30, 40, 50};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sum =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5; i++)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sum = sum + arr[i];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printf("Sum = %d", sum);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 = 150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Largest Element in a 1D Array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Assume the first element is the largest, then compare it with the rest.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arr[5] = {12, 45, 3, 67, 21};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large = arr[0];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1; i &lt; 5; i++)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(arr[i] &gt; large)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large = arr[i];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printf("Largest = %d", large);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Largest = 67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Reverse a 1D Array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 elements from the two ends of the array, moving toward the centre.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arr[5] = {1, 2, 3, 4, 5};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temp;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5 / 2; i++) {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temp = arr[i];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arr[i] = arr[4 - i];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arr[4 - i] = temp;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5; i++)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printf("%d ", arr[i]);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5 4 3 2 1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Sum of All Elements in a 2D Array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two nested loops — one for rows, one for columns.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arr[2][3] = {{1, 2, 3}, {4, 5, 6}};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sum =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for (int i = 0; i &lt; 2; i++)</a:t>
            </a:r>
            <a:r>
              <a:rPr lang="en-IN" alt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(int j = 0; j &lt; 3; j++)</a:t>
            </a:r>
            <a:r>
              <a:rPr lang="en-IN" alt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sum += arr[i][j];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r>
              <a:rPr lang="en-IN" alt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}}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printf("Sum = %d", sum);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 = 21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1752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Transpose of a 2D Array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transpose turns rows into columns: element [i][j] becomes [j][i].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2436"/>
            <a:ext cx="11064240" cy="4536028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804672" y="1719072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19072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19072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75104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a[2][3] = {{1, 2, 3}, {4, 5, 6}};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t[3][2];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for (int i = 0; i &lt; 2; i++)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(int j = 0; j &lt; 3; j++)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t[j][i] = a[i][j];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3; i++) {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(int j = 0; j &lt; 2; j++)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printf("%d ", t[i][j]);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printf("\n");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998464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98464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 4    2 5    3 6   (printed on 3 lines)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Multiply Two 2D Matrices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each cell [i][j] in the result, multiply a row of A by a column of B and add the products.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79120" y="1307591"/>
            <a:ext cx="11064240" cy="4489359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1645057" y="1536192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a[2][2] = {{1, 2}, {3, 4}};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b[2][2] = {{5, 6}, {7, 8}};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c[2][2];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2; i++)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(int j = 0; j &lt; 2; j++) {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c[i][j] = 0;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for (int k = 0; k &lt; 2; k++)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c[i][j] += a[i][k] * b[k][j];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2; i++) {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for (int j = 0; j &lt; 2; j++)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printf("%d ", c[i][j]);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printf("\n");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35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 22    43 50   (printed on 2 lines)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97280" y="29260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Array Manipulation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786384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operations: traversal, insertion, deletion, searching, sorting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E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Traversal — visiting each element (sum, average, max/min)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E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Insertion — shifting elements to make room for a new value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E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Deletion — shifting elements left to close a gap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E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— linear or binary search for a target value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A2E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Sorting — arranging elements (e.g., bubble sort) in order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1B1F2E"/>
          </a:solidFill>
          <a:ln w="12700">
            <a:solidFill>
              <a:srgbClr val="1B1F2E"/>
            </a:solidFill>
            <a:prstDash val="solid"/>
          </a:ln>
          <a:effectLst>
            <a:outerShdw blurRad="101600" dist="38100" dir="5400000" algn="bl" rotWithShape="0">
              <a:srgbClr val="0A0C14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73952" y="1728216"/>
            <a:ext cx="100584" cy="100584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1728216"/>
            <a:ext cx="100584" cy="100584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76288" y="1728216"/>
            <a:ext cx="100584" cy="100584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984248"/>
            <a:ext cx="4745736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8B93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Sum of all elements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FB3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</a:t>
            </a: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sum =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</a:t>
            </a: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</a:t>
            </a:r>
            <a:r>
              <a:rPr lang="en-US" sz="1600" b="1" dirty="0">
                <a:solidFill>
                  <a:srgbClr val="7FB3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</a:t>
            </a: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 = 0; i &lt; 5; i++)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sum += marks[i];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8B93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Simple linear search for value 92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</a:t>
            </a: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</a:t>
            </a:r>
            <a:r>
              <a:rPr lang="en-US" sz="1600" b="1" dirty="0">
                <a:solidFill>
                  <a:srgbClr val="7FB3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</a:t>
            </a: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i = 0; i &lt; 5; i++)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</a:t>
            </a:r>
            <a:r>
              <a:rPr lang="en-US" sz="1600" b="1" dirty="0">
                <a:solidFill>
                  <a:srgbClr val="5EEA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</a:t>
            </a: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(marks[i] == 92)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printf("Found at %d", i);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EAF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Example: find the max and min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0B1F2A"/>
          </a:solidFill>
        </p:spPr>
      </p:sp>
      <p:sp>
        <p:nvSpPr>
          <p:cNvPr id="5" name="Text 3"/>
          <p:cNvSpPr/>
          <p:nvPr/>
        </p:nvSpPr>
        <p:spPr>
          <a:xfrm>
            <a:off x="777240" y="141732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Given an array of 6 integers, print the largest and smallest values using a single pass.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6309360" cy="3977640"/>
          </a:xfrm>
          <a:prstGeom prst="roundRect">
            <a:avLst>
              <a:gd name="adj" fmla="val 1379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53912" y="23957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5797296" cy="3685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int main() {
    int arr[6] = {12, 45, 3, 67, 22, 9};
    int max = arr[0], min = arr[0];
    for (int i = 1; i &lt; 6; i++) {
        </a:t>
            </a: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(arr[i] &gt; max) {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	max = arr[i];</a:t>
            </a:r>
          </a:p>
          <a:p>
            <a:pPr marL="457200" lvl="1" indent="45720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</a:p>
          <a:p>
            <a:pPr marL="457200" lvl="1" indent="45720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(arr[i] &lt; min) {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	min = arr[i];</a:t>
            </a:r>
          </a:p>
          <a:p>
            <a:pPr marL="457200" lvl="1" indent="45720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    }
    printf("Max = %d, Min = %d\n", max, min);
    return 0;
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86600" y="23317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Walkthrough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086600" y="278892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1" name="Text 9"/>
          <p:cNvSpPr/>
          <p:nvPr/>
        </p:nvSpPr>
        <p:spPr>
          <a:xfrm>
            <a:off x="7086600" y="2788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276148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by assuming the first element is both the max and the min.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86600" y="356616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4" name="Text 12"/>
          <p:cNvSpPr/>
          <p:nvPr/>
        </p:nvSpPr>
        <p:spPr>
          <a:xfrm>
            <a:off x="7086600" y="35661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43800" y="353872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the remaining elements once (i = 1 to 5).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86600" y="434340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7" name="Text 15"/>
          <p:cNvSpPr/>
          <p:nvPr/>
        </p:nvSpPr>
        <p:spPr>
          <a:xfrm>
            <a:off x="7086600" y="43434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431596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max whenever a bigger value appears; update min whenever a smaller value appears.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86600" y="512064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20" name="Text 18"/>
          <p:cNvSpPr/>
          <p:nvPr/>
        </p:nvSpPr>
        <p:spPr>
          <a:xfrm>
            <a:off x="7086600" y="51206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43800" y="509320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the loop, max and min hold the correct answers.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58978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Output:  Max = 67, Min = 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· MANIPULATION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Inserting &amp; deleting elements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have a fixed size, so "inserting" means shifting elements right to make room, and "deleting" means shifting elements left to close the gap.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Insert 25 at position 2 (a simple, complete program)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30952" y="248716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2523744"/>
            <a:ext cx="4974336" cy="354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int main() {
    int arr[6] = {10, 20, 30, 40, 50};
    int n = 5, pos = 2, val = 25;
    for (int i = n; i &gt; pos; i--)
        arr[i] = arr[i - 1];  // shift right
    arr[pos] = val;
    n++;
    for (int i = 0; i &lt; n; i++)
        printf("%d ", arr[i]);
    return 0;
}
</a:t>
            </a:r>
            <a:r>
              <a:rPr lang="en-US" sz="12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Output: 10 20 25 30 40 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0116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Delete the element at position 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2377440"/>
            <a:ext cx="5440680" cy="3840480"/>
          </a:xfrm>
          <a:prstGeom prst="roundRect">
            <a:avLst>
              <a:gd name="adj" fmla="val 1429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045952" y="248716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19672" y="2523744"/>
            <a:ext cx="4928616" cy="354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int main() {
    int arr[5] = {10, 20, 30, 40, 50};
    int n = 5, pos = 2;
    for (int i = pos; i &lt; n - 1; i++)
        arr[i] = arr[i + 1];  // shift left
    n--;
    for (int i = 0; i &lt; n; i++)
        printf("%d ", arr[i]);
    return 0;
}
</a:t>
            </a:r>
            <a:r>
              <a:rPr lang="en-US" sz="12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Output: 10 20 40 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· MANIPULATION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Searching &amp; sorting an array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Linear search — O(n)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30952" y="19842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2020824"/>
            <a:ext cx="4974336" cy="16733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search(int arr[], int n, int key) {
    for (int i = 0; i &lt; n; i++)
        if (arr[i] == key)
            return i;   // found: return index
    return -1;          // not found
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14630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Bubble sort — O(n²)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440680" cy="2651760"/>
          </a:xfrm>
          <a:prstGeom prst="roundRect">
            <a:avLst>
              <a:gd name="adj" fmla="val 2069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045952" y="19842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19672" y="2020824"/>
            <a:ext cx="4928616" cy="2359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bubbleSort(int arr[], int n) {
    for (int i = 0; i &lt; n - 1; i++)
        for (int j = 0; j &lt; n-i-1; j++)
            if (arr[j] &gt; arr[j + 1]) {
                int t = arr[j];
                arr[j] = arr[j + 1];
                arr[j + 1] = t;
            }
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977640"/>
            <a:ext cx="5486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pass of bubble sort "bubbles" the largest remaining value to the end — after n-1 passes the whole array is sorted in ascending order.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37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String?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4846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✦"/>
            </a:pPr>
            <a:r>
              <a:rPr lang="en-US" sz="20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string is simply a group (array) of characters.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✦"/>
            </a:pPr>
            <a:r>
              <a:rPr lang="en-US" sz="20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C, a string is stored as an array of type char.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✦"/>
            </a:pPr>
            <a:r>
              <a:rPr lang="en-US" sz="20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string ends with a special hidden character called the null character '\0'.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✦"/>
            </a:pPr>
            <a:r>
              <a:rPr lang="en-US" sz="20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'\0' tells the compiler "the string ends here".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✦"/>
            </a:pPr>
            <a:r>
              <a:rPr lang="en-US" sz="2000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the word "Hello" needs 6 boxes in memory, not 5 — the last one is '\0'.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23774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42632" y="23774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42632" y="23774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193024" y="23774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3024" y="23774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043416" y="23774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43416" y="23774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893808" y="23774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 w="19050">
            <a:solidFill>
              <a:srgbClr val="C7D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93808" y="23774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744200" y="23774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5A62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44200" y="23774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\0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333756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layout of char name[6] = "Hello";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0" y="3703320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48272" y="390448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20" name="Shape 18"/>
          <p:cNvSpPr/>
          <p:nvPr/>
        </p:nvSpPr>
        <p:spPr>
          <a:xfrm>
            <a:off x="7004304" y="390448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21" name="Shape 19"/>
          <p:cNvSpPr/>
          <p:nvPr/>
        </p:nvSpPr>
        <p:spPr>
          <a:xfrm>
            <a:off x="7260336" y="390448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22" name="Text 20"/>
          <p:cNvSpPr/>
          <p:nvPr/>
        </p:nvSpPr>
        <p:spPr>
          <a:xfrm>
            <a:off x="6812280" y="4160520"/>
            <a:ext cx="44805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name[6] = "Hello";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printf("%s", name);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Declaring and Initializing Strings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are three common ways to create a string in C.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212080" cy="502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 1 — Give a size and a value: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 str[20] = "Hello";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 2 — Let the compiler count the size: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 str[] = "Hello";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 3 — Character by character: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 str[6] = {'H','e','l','l','o','\0'};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Tip: Always leave room for one extra box for '\0'.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89320" y="1508760"/>
            <a:ext cx="5623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Program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89320" y="1874520"/>
            <a:ext cx="5623560" cy="3977640"/>
          </a:xfrm>
          <a:prstGeom prst="roundRect">
            <a:avLst>
              <a:gd name="adj" fmla="val 2759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45352" y="207568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8" name="Shape 6"/>
          <p:cNvSpPr/>
          <p:nvPr/>
        </p:nvSpPr>
        <p:spPr>
          <a:xfrm>
            <a:off x="6501384" y="207568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9" name="Shape 7"/>
          <p:cNvSpPr/>
          <p:nvPr/>
        </p:nvSpPr>
        <p:spPr>
          <a:xfrm>
            <a:off x="6757416" y="207568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10" name="Text 8"/>
          <p:cNvSpPr/>
          <p:nvPr/>
        </p:nvSpPr>
        <p:spPr>
          <a:xfrm>
            <a:off x="6309360" y="2331720"/>
            <a:ext cx="498348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str1[20] = "Hello";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str2[] = "World";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str3[6] = {'H','e','l','l','o','\0'};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printf("%s %s\n", str1, str2);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printf("%s", str3);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266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a String (Input)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7266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common ways to take string input from the user.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7266" y="1508760"/>
            <a:ext cx="5212080" cy="502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scanf("%s", str);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to use, but stops reading at the first space.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gets(str);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a full line including spaces, but it is unsafe and outdated — avoid using it.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fgets(str, size, stdin);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and recommended — reads a full line including spaces.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97946" y="1508760"/>
            <a:ext cx="5623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Program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97946" y="1874520"/>
            <a:ext cx="5623560" cy="3977640"/>
          </a:xfrm>
          <a:prstGeom prst="roundRect">
            <a:avLst>
              <a:gd name="adj" fmla="val 2759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53978" y="207568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8" name="Shape 6"/>
          <p:cNvSpPr/>
          <p:nvPr/>
        </p:nvSpPr>
        <p:spPr>
          <a:xfrm>
            <a:off x="6510010" y="207568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9" name="Shape 7"/>
          <p:cNvSpPr/>
          <p:nvPr/>
        </p:nvSpPr>
        <p:spPr>
          <a:xfrm>
            <a:off x="6766042" y="207568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10" name="Text 8"/>
          <p:cNvSpPr/>
          <p:nvPr/>
        </p:nvSpPr>
        <p:spPr>
          <a:xfrm>
            <a:off x="6317986" y="2331720"/>
            <a:ext cx="498348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name[30];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printf("Enter your name: ");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fgets(name, 30, stdin);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printf("Hello, %s", name);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Printing a String (Output)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simple ways to display a string on the screen.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212080" cy="5029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printf("%s", str);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common way. The %s format specifier is used for strings.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puts(str);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Simpler function made only for printing strings. It also adds a new line automatically.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89320" y="1508760"/>
            <a:ext cx="5623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Program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89320" y="1874520"/>
            <a:ext cx="5623560" cy="3977640"/>
          </a:xfrm>
          <a:prstGeom prst="roundRect">
            <a:avLst>
              <a:gd name="adj" fmla="val 2759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45352" y="207568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8" name="Shape 6"/>
          <p:cNvSpPr/>
          <p:nvPr/>
        </p:nvSpPr>
        <p:spPr>
          <a:xfrm>
            <a:off x="6501384" y="207568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9" name="Shape 7"/>
          <p:cNvSpPr/>
          <p:nvPr/>
        </p:nvSpPr>
        <p:spPr>
          <a:xfrm>
            <a:off x="6757416" y="207568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10" name="Text 8"/>
          <p:cNvSpPr/>
          <p:nvPr/>
        </p:nvSpPr>
        <p:spPr>
          <a:xfrm>
            <a:off x="6309360" y="2331720"/>
            <a:ext cx="4983480" cy="333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str[] = "Welcome to C!";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printf("%s\n", str);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puts(str);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&lt;string.h&gt; Library — All Common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provides many ready-made string functions — just include &lt;string.h&gt;.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strlen(str)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the length of a string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8658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86584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strcpy(dest, src)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79192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Copies one string into another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18688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strncpy(dest, src, 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511296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Copies only the first n characters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50792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50792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strcat(str1, str2)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Joins (concatenates) two strings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82896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strncat(str1, str2, 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175504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Joins only the first n characters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155448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554480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strcmp(str1, str2)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184708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two strings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238658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386584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strncmp(str1, str2, n)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2679192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only the first n characters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321868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218688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strchr(str, ch)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3511296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the first occurrence of a character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4050792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050792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strstr(str1, str2)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5080" y="4343400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a substring inside a string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488289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882896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strtok(str, delim)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5080" y="5175504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Splits a string into tokens (pieces)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Note: tolower() and toupper() change character case but come from &lt;ctype.h&gt;, not &lt;string.h&gt;.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strlen() — Find the Length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the number of characters in a string, not including the '\0'.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str[] = "Hello";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len = strlen(str);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printf("Length = %d", len);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Length = 5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strcpy() — Copy a String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Copies the contents of one string into another string.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src[] = "Hello";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</a:t>
            </a:r>
            <a:r>
              <a:rPr lang="en-US" dirty="0" err="1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dest</a:t>
            </a:r>
            <a:r>
              <a:rPr lang="en-US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</a:t>
            </a: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r>
              <a:rPr lang="en-US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</a:t>
            </a: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strcpy(dest, src);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printf("Copied string = %s", dest);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Copied string = Hello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strcat() — Join Two Strings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(concatenates) the second string to the end of the first string.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str1[20] = "Hello ";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str2[] = "World";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strcat(str1, str2);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printf("Result = %s", str1);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 = Hello World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strcmp() — Compare Two Strings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Compares two strings and returns 0 if equal, negative if str1 &lt; str2, positive if str1 &gt; str2.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a[] = "cat";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b[] = "dog";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result = strcmp(a, b);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printf("Result = %d", result);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Result = -1  (since 'c' comes before 'd')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strncpy(), strncat(), strncmp() — Safer 'n' Versions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work like strcpy/strcat/strcmp but only touch the first n characters — safer against overflow.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dest[20] = "";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strncpy(dest, "Hello World", 5);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dest[5] = '\0';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printf("strncpy  = %s\n", dest);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strncat(dest, "!!!", 2);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printf("strncat  = %s\n", dest);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r = strncmp("Hello", "Help", 3);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printf("strncmp  = %d\n", r);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strncpy = Hello   strncat = Hello!!   strncmp = 0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strchr() — Find a Character in a String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Searches for the first occurrence of a character and returns a pointer to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str[] = "Hello World";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*pos = strchr(str, 'W');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(pos != NULL)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printf("Found at position %d", (int)(pos - str));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printf("Not found");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Found at position 6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strstr() — Find a Substring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Searches for a whole substring inside a string and returns a pointer to where it starts.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str[] = "Learning C Programming";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*pos = strstr(str, "C Prog");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(pos != NULL)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printf("Substring found: %s", pos);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printf("Not found");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Substring found: C Programming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strtok() — Split a String into Tokens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Breaks a string into smaller pieces (tokens) wherever a delimiter character appears.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str[] = "Name,Age,City";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*token = strtok(str, ",");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while (token != NULL)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printf("%s\n", token);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token = strtok(NULL, ",");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Name   Age   City   (printed on 3 lines)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a String to Lowercase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use tolower() from &lt;ctype.h&gt; on every character, since strlwr() is not a standard function.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&lt;ctype.h&gt;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str[] = "HELLO WORLD";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str[i] != '\0'; i++)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str[i] = tolower(str[i]);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printf("Lowercase = %s", str);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Lowercase = hello world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a String to Uppercase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idea as before, but using toupper() from &lt;ctype.h&gt; instead.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&lt;ctype.h&gt;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str[] = "hello world";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str[i] != '\0'; i++)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str[i] = toupper(str[i]);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printf("Uppercase = %s", str);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Uppercase = HELLO WORLD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Reverse a String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 characters from both ends of the string, moving toward the middle.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str[] = "Hello";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len = strlen(str);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temp;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len / 2; i++) {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temp = str[i];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str[i] = str[len - 1 - i];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str[len - 1 - i] = temp;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printf("Reversed = %s", str);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40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Reversed = olleH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count vowels</a:t>
            </a:r>
            <a:endParaRPr lang="en-US" sz="3600" dirty="0"/>
          </a:p>
        </p:txBody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-263398" y="189280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9290" y="1367155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Counting vowels</a:t>
            </a:r>
            <a:endParaRPr lang="en-US" dirty="0"/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669290" y="1783080"/>
            <a:ext cx="5440680" cy="3163824"/>
          </a:xfrm>
          <a:prstGeom prst="roundRect">
            <a:avLst>
              <a:gd name="adj" fmla="val 1905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451602" y="189280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925322" y="1929384"/>
            <a:ext cx="4928616" cy="2587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countVowels(char str[]) {
    int count = 0;
    for (int i = 0; str[i] != '\0'; i++) {
        char c = str[i];
        if (c=='a'||c=='e'||c=='i'||
            c=='o'||c=='u')
            count++;
    }
    return count;
}
</a:t>
            </a: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"hello" -&gt;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11950" y="2259965"/>
            <a:ext cx="5083810" cy="2403475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6115" y="2926080"/>
            <a:ext cx="4476115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Tip: both reversing a string and counting vowels patterns walk the string with an index until they hit '\0' (or two indices closing in from each end). Almost every string problem — case conversion, removing spaces, finding duplicates — reuses this same scan pattern.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Bonus: Check if a String is a Palindrome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palindrome reads the same forwards and backwards, e.g. "madam". Compare characters from both ends.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48056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&lt;string.h&gt;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char str[] = "madam";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len = strlen(str);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isPalin = 1;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(int i = 0; i &lt; len / 2; i++)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(str[i] != str[len - 1 - i])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isPalin = 0;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break;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(isPalin)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printf("%s is a Palindrome", str);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else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printf("%s is NOT a Palindrome", str);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2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madam is a Palindrome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· 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use functions?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B1F2A"/>
          </a:solidFill>
        </p:spPr>
      </p:sp>
      <p:sp>
        <p:nvSpPr>
          <p:cNvPr id="6" name="Text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Reusability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70048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the logic once and call it from anywhere in the program.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6916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B1F2A"/>
          </a:solidFill>
        </p:spPr>
      </p:sp>
      <p:sp>
        <p:nvSpPr>
          <p:cNvPr id="11" name="Text 9"/>
          <p:cNvSpPr/>
          <p:nvPr/>
        </p:nvSpPr>
        <p:spPr>
          <a:xfrm>
            <a:off x="3657600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0" y="2331720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Modularity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670048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a large problem into small, manageable, testable pieces.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14630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916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B1F2A"/>
          </a:solidFill>
        </p:spPr>
      </p:sp>
      <p:sp>
        <p:nvSpPr>
          <p:cNvPr id="16" name="Text 14"/>
          <p:cNvSpPr/>
          <p:nvPr/>
        </p:nvSpPr>
        <p:spPr>
          <a:xfrm>
            <a:off x="6583680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83680" y="2331720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670048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Well-named functions make the program's intent obvious.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81160" y="146304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16916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B1F2A"/>
          </a:solidFill>
        </p:spPr>
      </p:sp>
      <p:sp>
        <p:nvSpPr>
          <p:cNvPr id="21" name="Text 19"/>
          <p:cNvSpPr/>
          <p:nvPr/>
        </p:nvSpPr>
        <p:spPr>
          <a:xfrm>
            <a:off x="9509760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509760" y="2331720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2670048"/>
            <a:ext cx="2240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or improve logic in one place instead of many.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7033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Anatomy of a function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920" y="4114800"/>
            <a:ext cx="11201400" cy="2340864"/>
          </a:xfrm>
          <a:prstGeom prst="roundRect">
            <a:avLst>
              <a:gd name="adj" fmla="val 2500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11045952" y="42245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8952" y="4261104"/>
            <a:ext cx="10689336" cy="19019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returnType functionName(parameterList) {
</a:t>
            </a: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// function body
</a:t>
            </a: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value;   // optional, matches returnType
}
int  add   (int a, int b) {  return a + b;  }
^ return    ^name  ^parameters      ^return
  type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Library Functions vs User-Defined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function in C belongs to one of these two kinds.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Library Functions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304288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BF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printf(), scanf(), strlen(), sqrt()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7091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Already written and tested — part of C's standard library.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simply call them by name to use them.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must include the correct header file, e.g. &lt;stdio.h&gt;, &lt;string.h&gt;, &lt;math.h&gt;.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cannot see or edit their internal code.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80760" y="15544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User-Defined Functions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304288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BF9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sum(), factorial(), square(), swap()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834640"/>
            <a:ext cx="47091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Written by the programmer to do a specific task.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Must be declared and defined before they are used.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can read, change, and reuse this code anywhere.</a:t>
            </a:r>
            <a:endParaRPr lang="en-US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dirty="0">
                <a:solidFill>
                  <a:srgbClr val="1F29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 break a big problem into smaller, manageable parts.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functions avoids repeating code, makes programs easier to read, and makes debugging simpler.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Types of User-Defined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Based on whether a function takes arguments and whether it returns a value.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20624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No arguments, no return value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257800" y="1691640"/>
            <a:ext cx="617220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greet()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printf("Hello!");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70632"/>
            <a:ext cx="420624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No arguments, with return value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800" y="2770632"/>
            <a:ext cx="617220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getNum()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5;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49624"/>
            <a:ext cx="420624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With arguments, no return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3849624"/>
            <a:ext cx="617220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greet(char n[])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printf("Hi %s", n);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928616"/>
            <a:ext cx="420624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With arguments, with return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4928616"/>
            <a:ext cx="617220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add(int a, int b)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a + b;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· PROTOTYPE &amp; DEFINITION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Prototype declaration vs. definition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Prototype (declaration)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Tells the compiler the function's name, return type and parameter types before it is used — so the function body can appear later, even in another file.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5176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30952" y="276148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2798064"/>
            <a:ext cx="4974336" cy="1536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Prototype: ends with a semicolon,
// no body. Usually placed above main()
// or in a header (.h) file.
</a:t>
            </a: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add(int a, int b);
float average(float x, float y);
void printMessage(void);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3640" y="1783080"/>
            <a:ext cx="5486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actual body of the function: the real code that executes when the function is called. Written once, anywhere in the file.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65176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045952" y="276148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19672" y="2798064"/>
            <a:ext cx="4928616" cy="1536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Definition: has a body in { }
</a:t>
            </a: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add(int a, int b) {
    return a + b;
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11201400" cy="1508760"/>
          </a:xfrm>
          <a:prstGeom prst="roundRect">
            <a:avLst>
              <a:gd name="adj" fmla="val 4848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846320"/>
            <a:ext cx="10835640" cy="1234440"/>
          </a:xfrm>
          <a:prstGeom prst="roundRect">
            <a:avLst>
              <a:gd name="adj" fmla="val 4444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863072" y="4956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41832" y="4992624"/>
            <a:ext cx="10323576" cy="9418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int add(int a, int b);            // 1. prototype
int main() { printf("%d", add(5, 3)); return 0; }  // 2. call
int add(int a, int b) { return a + b; }             // 3. definition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· CALLING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Calling a function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function call transfers control to the function's code, executes its body, and (if it returns a value) sends a result back to the point of the call.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B1F2A"/>
          </a:solidFill>
        </p:spPr>
      </p:sp>
      <p:sp>
        <p:nvSpPr>
          <p:cNvPr id="6" name="Text 4"/>
          <p:cNvSpPr/>
          <p:nvPr/>
        </p:nvSpPr>
        <p:spPr>
          <a:xfrm>
            <a:off x="640080" y="246888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main() runs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F3E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r = add(5, 3);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98648" y="2651760"/>
            <a:ext cx="237744" cy="228600"/>
          </a:xfrm>
          <a:prstGeom prst="rightArrow">
            <a:avLst/>
          </a:prstGeom>
          <a:solidFill>
            <a:srgbClr val="5A6B72"/>
          </a:solidFill>
        </p:spPr>
      </p:sp>
      <p:sp>
        <p:nvSpPr>
          <p:cNvPr id="9" name="Shape 7"/>
          <p:cNvSpPr/>
          <p:nvPr/>
        </p:nvSpPr>
        <p:spPr>
          <a:xfrm>
            <a:off x="3520440" y="2377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23C4D"/>
          </a:solidFill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jumps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7889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F3E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into add(a, b)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16168" y="2651760"/>
            <a:ext cx="237744" cy="228600"/>
          </a:xfrm>
          <a:prstGeom prst="rightArrow">
            <a:avLst/>
          </a:prstGeom>
          <a:solidFill>
            <a:srgbClr val="5A6B72"/>
          </a:solidFill>
        </p:spPr>
      </p:sp>
      <p:sp>
        <p:nvSpPr>
          <p:cNvPr id="13" name="Shape 11"/>
          <p:cNvSpPr/>
          <p:nvPr/>
        </p:nvSpPr>
        <p:spPr>
          <a:xfrm>
            <a:off x="6537960" y="23774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B1F2A"/>
          </a:solidFill>
        </p:spPr>
      </p:sp>
      <p:sp>
        <p:nvSpPr>
          <p:cNvPr id="14" name="Text 12"/>
          <p:cNvSpPr/>
          <p:nvPr/>
        </p:nvSpPr>
        <p:spPr>
          <a:xfrm>
            <a:off x="6675120" y="246888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add() executes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7889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F3E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 a + b;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33688" y="2651760"/>
            <a:ext cx="237744" cy="228600"/>
          </a:xfrm>
          <a:prstGeom prst="rightArrow">
            <a:avLst/>
          </a:prstGeom>
          <a:solidFill>
            <a:srgbClr val="5A6B72"/>
          </a:solidFill>
        </p:spPr>
      </p:sp>
      <p:sp>
        <p:nvSpPr>
          <p:cNvPr id="17" name="Shape 15"/>
          <p:cNvSpPr/>
          <p:nvPr/>
        </p:nvSpPr>
        <p:spPr>
          <a:xfrm>
            <a:off x="9555480" y="23774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23C4D"/>
          </a:solidFill>
        </p:spPr>
      </p:sp>
      <p:sp>
        <p:nvSpPr>
          <p:cNvPr id="18" name="Text 16"/>
          <p:cNvSpPr/>
          <p:nvPr/>
        </p:nvSpPr>
        <p:spPr>
          <a:xfrm>
            <a:off x="9692640" y="246888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returns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92640" y="2788920"/>
            <a:ext cx="18745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F3E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 = 8 in main()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5204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Arguments vs. parameters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5669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Arguments — 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actual values sent in the call:  add(5, 3)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4389120"/>
            <a:ext cx="5669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Parameters — 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placeholder names in the definition:  add(int a, int b)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5080" y="3520440"/>
            <a:ext cx="5349240" cy="2880360"/>
          </a:xfrm>
          <a:prstGeom prst="roundRect">
            <a:avLst>
              <a:gd name="adj" fmla="val 1905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045952" y="363016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11112" y="3666744"/>
            <a:ext cx="4837176" cy="2587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int add(int a, int b);
int main() {
    int result = add(5, 3);  // function call
    printf("Sum = %d", result);
    return 0;
}
int add(int a, int b) { return a + b; }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· PASSING ARGUMENTS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Passing arguments: by value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577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call-by-value, the function receives a copy of the argument. Changes made inside the function affect only that copy — the caller's original variable is untouched.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55778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default way arguments are passed in C.</a:t>
            </a:r>
            <a:endParaRPr lang="en-US" sz="16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Safe: the function can never accidentally modify the caller's data.</a:t>
            </a:r>
            <a:endParaRPr lang="en-US" sz="16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Slightly costlier for large data (a copy is made) — fine for simple types.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4251960"/>
            <a:ext cx="5577840" cy="1600200"/>
          </a:xfrm>
          <a:prstGeom prst="roundRect">
            <a:avLst>
              <a:gd name="adj" fmla="val 4211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51960"/>
            <a:ext cx="5120640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main's a = 5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|  copies value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v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modify's x = 5 -&gt; x = 15 (local only)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back in main(): a is STILL 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41732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11112" y="1563624"/>
            <a:ext cx="4837176" cy="4142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void modify(int x) {
    x = x + 10;     // only the local copy
}                   // changes
int main() {
    int a = 5;
    modify(a);
    printf("%d", a);   // prints 5 (unchanged)
    return 0;
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· PASSING ARGUMENTS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Passing arguments: by reference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577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has no native reference type, so "by reference" is simulated with pointers: the function receives the address of the variable and can modify the original directly.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55778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the address with &amp; ; receive it into a pointer parameter.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Dereference with * inside the function to read/write the original value.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whenever a function must return more than one value, or must modify the caller's data (e.g. swap, array-size updates).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2062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Classic use case: swap()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572000"/>
            <a:ext cx="5577840" cy="1554480"/>
          </a:xfrm>
          <a:prstGeom prst="roundRect">
            <a:avLst>
              <a:gd name="adj" fmla="val 3529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22392" y="46817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" y="4718304"/>
            <a:ext cx="5065776" cy="1261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swap(int *a, int *b) {
    int temp = *a;
    *a = *b;
    *b = temp;
}
</a:t>
            </a:r>
            <a:r>
              <a:rPr lang="en-US" sz="12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call as: swap(&amp;x, &amp;y);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349240" cy="4709160"/>
          </a:xfrm>
          <a:prstGeom prst="roundRect">
            <a:avLst>
              <a:gd name="adj" fmla="val 1165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11112" y="1563624"/>
            <a:ext cx="4837176" cy="4416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void modify(int *x) {
    *x = *x + 10;   // changes the value
}                   // AT the original address
int main() {
    int a = 5;
    modify(&amp;a);        // pass address of a
    printf("%d", a);   // prints 15 (changed)
    return 0;
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· COMPARISON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Call by value vs. call by reference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338560" cy="502920"/>
          </a:xfrm>
          <a:prstGeom prst="roundRect">
            <a:avLst>
              <a:gd name="adj" fmla="val 10909"/>
            </a:avLst>
          </a:prstGeom>
          <a:solidFill>
            <a:srgbClr val="0B1F2A"/>
          </a:solidFill>
        </p:spPr>
      </p:sp>
      <p:sp>
        <p:nvSpPr>
          <p:cNvPr id="5" name="Text 3"/>
          <p:cNvSpPr/>
          <p:nvPr/>
        </p:nvSpPr>
        <p:spPr>
          <a:xfrm>
            <a:off x="640080" y="1463040"/>
            <a:ext cx="3383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0" y="1463040"/>
            <a:ext cx="3703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by Value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75320" y="1463040"/>
            <a:ext cx="3520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by Reference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11338560" cy="658368"/>
          </a:xfrm>
          <a:prstGeom prst="rect">
            <a:avLst/>
          </a:prstGeom>
          <a:solidFill>
            <a:srgbClr val="F5F8F9"/>
          </a:solidFill>
        </p:spPr>
      </p:sp>
      <p:sp>
        <p:nvSpPr>
          <p:cNvPr id="9" name="Text 7"/>
          <p:cNvSpPr/>
          <p:nvPr/>
        </p:nvSpPr>
        <p:spPr>
          <a:xfrm>
            <a:off x="640080" y="1993392"/>
            <a:ext cx="33375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passed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993392"/>
            <a:ext cx="36576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copy of the argument's 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75320" y="1993392"/>
            <a:ext cx="34747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The address (pointer) of the argument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3375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modify caller's data?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651760"/>
            <a:ext cx="36576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— original stays unchanged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2651760"/>
            <a:ext cx="34747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 — original can be updated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282696"/>
            <a:ext cx="11338560" cy="658368"/>
          </a:xfrm>
          <a:prstGeom prst="rect">
            <a:avLst/>
          </a:prstGeom>
          <a:solidFill>
            <a:srgbClr val="F5F8F9"/>
          </a:solidFill>
        </p:spPr>
      </p:sp>
      <p:sp>
        <p:nvSpPr>
          <p:cNvPr id="16" name="Text 14"/>
          <p:cNvSpPr/>
          <p:nvPr/>
        </p:nvSpPr>
        <p:spPr>
          <a:xfrm>
            <a:off x="640080" y="3310128"/>
            <a:ext cx="33375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 syntax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3310128"/>
            <a:ext cx="36576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f(int x)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310128"/>
            <a:ext cx="34747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f(int *x)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968496"/>
            <a:ext cx="33375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syntax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3968496"/>
            <a:ext cx="36576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f(a);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75320" y="3968496"/>
            <a:ext cx="34747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f(&amp;a);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4599432"/>
            <a:ext cx="11338560" cy="658368"/>
          </a:xfrm>
          <a:prstGeom prst="rect">
            <a:avLst/>
          </a:prstGeom>
          <a:solidFill>
            <a:srgbClr val="F5F8F9"/>
          </a:solidFill>
        </p:spPr>
      </p:sp>
      <p:sp>
        <p:nvSpPr>
          <p:cNvPr id="23" name="Text 21"/>
          <p:cNvSpPr/>
          <p:nvPr/>
        </p:nvSpPr>
        <p:spPr>
          <a:xfrm>
            <a:off x="640080" y="4626864"/>
            <a:ext cx="33375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inside function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4626864"/>
            <a:ext cx="36576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75320" y="4626864"/>
            <a:ext cx="34747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5285232"/>
            <a:ext cx="33375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 use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5285232"/>
            <a:ext cx="365760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read-only inputs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75320" y="5285232"/>
            <a:ext cx="347472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swap(), updating multiple results, large data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· SCOPE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 of variable names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72184"/>
            <a:ext cx="3154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Local scope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31546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Declared inside a function/block. Exists only while that function runs; invisible outside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07208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localVar = 5;  // inside a function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472184"/>
            <a:ext cx="3154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Global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1801368"/>
            <a:ext cx="31546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Declared outside all functions. Visible to every function in the file, from declaration to end of file.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807208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globalVar = 100; // outside main()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321040" y="1472184"/>
            <a:ext cx="3154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Static (local)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1040" y="1801368"/>
            <a:ext cx="315468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local variable declared static retains its value between successive calls instead of resetting.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807208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static int count = 0;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11201400" cy="2926080"/>
          </a:xfrm>
          <a:prstGeom prst="roundRect">
            <a:avLst>
              <a:gd name="adj" fmla="val 1875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045952" y="35387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" y="3575304"/>
            <a:ext cx="10689336" cy="2633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int globalVar = 100;         // global scope: visible everywhere below
void display() {
    static int count = 0;      // static: keeps its value across calls
    int localVar = 5;          // local scope: fresh every call, then gone
    count++;
    printf("call #%d, global=%d\n", count, globalVar);
}
int main() {
    display();  // call #1, global=100
    display();  // call #2, global=100  &lt;-- count kept its value
    display();  // call #3, global=100
    return 0;
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RECURSION · CONCEPT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recursive function calls 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577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</a:t>
            </a:r>
            <a:r>
              <a:rPr lang="en-US" sz="16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recursive function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calls itself to solve a smaller version of the same problem, until it reaches a </a:t>
            </a:r>
            <a:r>
              <a:rPr lang="en-US" sz="16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case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that stops the recursion.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365760" cy="365760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6" name="Text 4"/>
          <p:cNvSpPr/>
          <p:nvPr/>
        </p:nvSpPr>
        <p:spPr>
          <a:xfrm>
            <a:off x="502920" y="2423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5074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case — </a:t>
            </a: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simplest input, answered directly without another call — stops infinite recursion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365760" cy="365760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9" name="Text 7"/>
          <p:cNvSpPr/>
          <p:nvPr/>
        </p:nvSpPr>
        <p:spPr>
          <a:xfrm>
            <a:off x="502920" y="3337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5074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Recursive case — </a:t>
            </a: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function calls itself with a smaller / simpler argument, moving toward the base case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251960"/>
            <a:ext cx="365760" cy="365760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2" name="Text 10"/>
          <p:cNvSpPr/>
          <p:nvPr/>
        </p:nvSpPr>
        <p:spPr>
          <a:xfrm>
            <a:off x="502920" y="4251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5074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stack — </a:t>
            </a: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call waits on the stack until the one below it returns, then the results combine on the way back 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41732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factorial(4) unwinding the call stack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5349240" cy="4297680"/>
          </a:xfrm>
          <a:prstGeom prst="roundRect">
            <a:avLst>
              <a:gd name="adj" fmla="val 1277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045952" y="189280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11112" y="1929384"/>
            <a:ext cx="4837176" cy="4005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factorial(4) = 4 * factorial(3)
  factorial(3) = 3 * factorial(2)
    factorial(2) = 2 * factorial(1)
      factorial(1) = 1 * factorial(0)
        factorial(0) = 1        &lt;- base case
      returns 1 * 1  = 1
    returns 2 * 1  = 2
  returns 3 * 2  = 6
returns 4 * 6  = 24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Sum of Two Numbers Using a Function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function named sum() takes two numbers and returns their total.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sum(int a, int b)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a + b;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x = 10, y = 20;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printf("Sum = %d", sum(x, y));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 = 30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Factorial Using a Recursive Function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recursive function calls itself with a smaller value until it reaches the base case (n == 0).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factorial(int n)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(n == 0)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1;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n * factorial(n - 1);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printf("Factorial = %d", factorial(5));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Factorial = 120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Square of a Number Using a Function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function named square() takes one number and returns its square.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square(int n)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n * n;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num = 7;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printf("Square = %d", square(num));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6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Square = 49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2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Swap Two Numbers Using a Function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Swapping needs pointers (call by reference), so the changes affect the original variables.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480560"/>
          </a:xfrm>
          <a:prstGeom prst="roundRect">
            <a:avLst>
              <a:gd name="adj" fmla="val 2526"/>
            </a:avLst>
          </a:prstGeom>
          <a:solidFill>
            <a:srgbClr val="1B2537"/>
          </a:solidFill>
          <a:effectLst>
            <a:outerShdw blurRad="101600" dist="38100" dir="5400000" algn="bl" rotWithShape="0">
              <a:srgbClr val="0B12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9928"/>
            <a:ext cx="128016" cy="128016"/>
          </a:xfrm>
          <a:prstGeom prst="ellipse">
            <a:avLst/>
          </a:prstGeom>
          <a:solidFill>
            <a:srgbClr val="FF6159"/>
          </a:solidFill>
        </p:spPr>
      </p:sp>
      <p:sp>
        <p:nvSpPr>
          <p:cNvPr id="6" name="Shape 4"/>
          <p:cNvSpPr/>
          <p:nvPr/>
        </p:nvSpPr>
        <p:spPr>
          <a:xfrm>
            <a:off x="1060704" y="1709928"/>
            <a:ext cx="128016" cy="128016"/>
          </a:xfrm>
          <a:prstGeom prst="ellipse">
            <a:avLst/>
          </a:prstGeom>
          <a:solidFill>
            <a:srgbClr val="FFBD2E"/>
          </a:solidFill>
        </p:spPr>
      </p:sp>
      <p:sp>
        <p:nvSpPr>
          <p:cNvPr id="7" name="Shape 5"/>
          <p:cNvSpPr/>
          <p:nvPr/>
        </p:nvSpPr>
        <p:spPr>
          <a:xfrm>
            <a:off x="1316736" y="1709928"/>
            <a:ext cx="128016" cy="128016"/>
          </a:xfrm>
          <a:prstGeom prst="ellipse">
            <a:avLst/>
          </a:prstGeom>
          <a:solidFill>
            <a:srgbClr val="28C93F"/>
          </a:solidFill>
        </p:spPr>
      </p:sp>
      <p:sp>
        <p:nvSpPr>
          <p:cNvPr id="8" name="Text 6"/>
          <p:cNvSpPr/>
          <p:nvPr/>
        </p:nvSpPr>
        <p:spPr>
          <a:xfrm>
            <a:off x="868680" y="1965960"/>
            <a:ext cx="1042416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E9BB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#include &lt;stdio.h&gt;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swap(int *a, int *b)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temp = *a;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*a = *b;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*b = temp;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main() {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 x = 5, y = 10;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swap(&amp;x, &amp;y);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printf("x = %d, y = %d", x, y);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0;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989320"/>
            <a:ext cx="11064240" cy="530352"/>
          </a:xfrm>
          <a:prstGeom prst="roundRect">
            <a:avLst>
              <a:gd name="adj" fmla="val 17241"/>
            </a:avLst>
          </a:prstGeom>
          <a:solidFill>
            <a:srgbClr val="F4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89320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  </a:t>
            </a:r>
            <a:r>
              <a:rPr lang="en-US" sz="1400" dirty="0">
                <a:solidFill>
                  <a:srgbClr val="1F29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= 10, y = 5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RECURSION · WORKED EXAMPLES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Factorial &amp; Fibonacci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Factorial (n!)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30952" y="189280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1929384"/>
            <a:ext cx="4974336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factorial(int n) {
    if (n == 0)
        return 1;                 // base case
    return n * factorial(n - 1);  // recursive case
}
</a:t>
            </a: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factorial(5) = 5*4*3*2*1*1 = 120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Fibonacci sequence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045952" y="189280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19672" y="1929384"/>
            <a:ext cx="4928616" cy="1856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fibonacci(int n) {
    if (n == 0) return 0;   // base case 1
    if (n == 1) return 1;   // base case 2
    return fibonacci(n - 1)
         + fibonacci(n - 2); // recursive case
}
</a:t>
            </a: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0, 1, 1, 2, 3, 5, 8, 13, 21 ...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160520"/>
            <a:ext cx="11201400" cy="1920240"/>
          </a:xfrm>
          <a:prstGeom prst="roundRect">
            <a:avLst>
              <a:gd name="adj" fmla="val 3810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15968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Recursion vs. iteration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106984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Recursion often mirrors the mathematical definition directly (e.g. n! = n × (n-1)!) and can be more readable for tree-like or divide-and-conquer problems.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call uses stack memory, so deep or missing base cases can cause a stack overflow — always guarantee the recursion moves toward the base case.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iterative loop typically uses less memory and is often preferred for simple counting problems like factorial.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23C4D"/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YOURSELF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9144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Practice Questions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201400" cy="896112"/>
          </a:xfrm>
          <a:prstGeom prst="roundRect">
            <a:avLst>
              <a:gd name="adj" fmla="val 8163"/>
            </a:avLst>
          </a:prstGeom>
          <a:solidFill>
            <a:srgbClr val="142E3A"/>
          </a:solidFill>
          <a:ln w="12700">
            <a:solidFill>
              <a:srgbClr val="1F4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4792"/>
            <a:ext cx="384048" cy="384048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7" name="Text 5"/>
          <p:cNvSpPr/>
          <p:nvPr/>
        </p:nvSpPr>
        <p:spPr>
          <a:xfrm>
            <a:off x="731520" y="17647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101041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C program to find the second largest element in an array without fully sorting 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11201400" cy="896112"/>
          </a:xfrm>
          <a:prstGeom prst="roundRect">
            <a:avLst>
              <a:gd name="adj" fmla="val 8163"/>
            </a:avLst>
          </a:prstGeom>
          <a:solidFill>
            <a:srgbClr val="142E3A"/>
          </a:solidFill>
          <a:ln w="12700">
            <a:solidFill>
              <a:srgbClr val="1F45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98064"/>
            <a:ext cx="384048" cy="384048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1" name="Text 9"/>
          <p:cNvSpPr/>
          <p:nvPr/>
        </p:nvSpPr>
        <p:spPr>
          <a:xfrm>
            <a:off x="731520" y="27980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25880" y="2542032"/>
            <a:ext cx="101041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recursive function to compute the GCD (Greatest Common Divisor) of two integers.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575304"/>
            <a:ext cx="11201400" cy="896112"/>
          </a:xfrm>
          <a:prstGeom prst="roundRect">
            <a:avLst>
              <a:gd name="adj" fmla="val 8163"/>
            </a:avLst>
          </a:prstGeom>
          <a:solidFill>
            <a:srgbClr val="142E3A"/>
          </a:solidFill>
          <a:ln w="12700">
            <a:solidFill>
              <a:srgbClr val="1F45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831336"/>
            <a:ext cx="384048" cy="384048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5" name="Text 13"/>
          <p:cNvSpPr/>
          <p:nvPr/>
        </p:nvSpPr>
        <p:spPr>
          <a:xfrm>
            <a:off x="731520" y="38313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25880" y="3575304"/>
            <a:ext cx="101041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function using call by reference that cyclically swaps the values of three variables.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608576"/>
            <a:ext cx="11201400" cy="896112"/>
          </a:xfrm>
          <a:prstGeom prst="roundRect">
            <a:avLst>
              <a:gd name="adj" fmla="val 8163"/>
            </a:avLst>
          </a:prstGeom>
          <a:solidFill>
            <a:srgbClr val="142E3A"/>
          </a:solidFill>
          <a:ln w="12700">
            <a:solidFill>
              <a:srgbClr val="1F45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864608"/>
            <a:ext cx="384048" cy="384048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9" name="Text 17"/>
          <p:cNvSpPr/>
          <p:nvPr/>
        </p:nvSpPr>
        <p:spPr>
          <a:xfrm>
            <a:off x="731520" y="48646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25880" y="4608576"/>
            <a:ext cx="101041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C program to check whether two given strings are anagrams of each other.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5641848"/>
            <a:ext cx="11201400" cy="896112"/>
          </a:xfrm>
          <a:prstGeom prst="roundRect">
            <a:avLst>
              <a:gd name="adj" fmla="val 8163"/>
            </a:avLst>
          </a:prstGeom>
          <a:solidFill>
            <a:srgbClr val="142E3A"/>
          </a:solidFill>
          <a:ln w="12700">
            <a:solidFill>
              <a:srgbClr val="1F45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897880"/>
            <a:ext cx="384048" cy="384048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23" name="Text 21"/>
          <p:cNvSpPr/>
          <p:nvPr/>
        </p:nvSpPr>
        <p:spPr>
          <a:xfrm>
            <a:off x="731520" y="5897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25880" y="5641848"/>
            <a:ext cx="10104120" cy="8961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program with a static variable inside a function that counts how many times the function has been called across the program's run.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97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 · Arrays &amp; Functions in 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7C97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10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-400.9,&quot;top&quot;:140.4,&quot;width&quot;:88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-400.9,&quot;top&quot;:140.4,&quot;width&quot;:88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-400.9,&quot;top&quot;:140.4,&quot;width&quot;:88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8,&quot;left&quot;:-400.9,&quot;top&quot;:140.4,&quot;width&quot;:88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7601</Words>
  <Application>Microsoft Office PowerPoint</Application>
  <PresentationFormat>Widescreen</PresentationFormat>
  <Paragraphs>853</Paragraphs>
  <Slides>50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Cambria</vt:lpstr>
      <vt:lpstr>Consolas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Jasmine Savathallapalli</cp:lastModifiedBy>
  <cp:revision>6</cp:revision>
  <dcterms:created xsi:type="dcterms:W3CDTF">2026-08-07T04:01:00Z</dcterms:created>
  <dcterms:modified xsi:type="dcterms:W3CDTF">2026-08-21T06:00:29Z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2ABA52AC25D64394ABC9475E53A964E7_13</vt:lpwstr>
  </property>
  <property fmtid="{D5CDD505-2E9C-101B-9397-08002B2CF9AE}" pid="3" name="KSOProductBuildVer">
    <vt:lpwstr>2057-12.2.0.23206</vt:lpwstr>
  </property>
</Properties>
</file>