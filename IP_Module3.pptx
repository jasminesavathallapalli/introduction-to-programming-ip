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90" r:id="rId6"/>
    <p:sldId id="291" r:id="rId7"/>
    <p:sldId id="292" r:id="rId8"/>
    <p:sldId id="293" r:id="rId9"/>
    <p:sldId id="295" r:id="rId10"/>
    <p:sldId id="307" r:id="rId11"/>
    <p:sldId id="308" r:id="rId12"/>
    <p:sldId id="309" r:id="rId13"/>
    <p:sldId id="310" r:id="rId14"/>
    <p:sldId id="317" r:id="rId15"/>
    <p:sldId id="311" r:id="rId16"/>
    <p:sldId id="312" r:id="rId17"/>
    <p:sldId id="313" r:id="rId18"/>
    <p:sldId id="314" r:id="rId19"/>
    <p:sldId id="315" r:id="rId20"/>
    <p:sldId id="316" r:id="rId21"/>
    <p:sldId id="318" r:id="rId22"/>
    <p:sldId id="319" r:id="rId23"/>
    <p:sldId id="320" r:id="rId24"/>
    <p:sldId id="321" r:id="rId25"/>
    <p:sldId id="324" r:id="rId26"/>
    <p:sldId id="325" r:id="rId27"/>
    <p:sldId id="326" r:id="rId28"/>
    <p:sldId id="327" r:id="rId29"/>
    <p:sldId id="328" r:id="rId30"/>
    <p:sldId id="329" r:id="rId31"/>
    <p:sldId id="330" r:id="rId32"/>
    <p:sldId id="276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notesSlide" Target="../notesSlides/notesSlide3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3.xml"/><Relationship Id="rId12" Type="http://schemas.openxmlformats.org/officeDocument/2006/relationships/tags" Target="../tags/tag31.xml"/><Relationship Id="rId11" Type="http://schemas.openxmlformats.org/officeDocument/2006/relationships/tags" Target="../tags/tag30.xml"/><Relationship Id="rId10" Type="http://schemas.openxmlformats.org/officeDocument/2006/relationships/tags" Target="../tags/tag29.xml"/><Relationship Id="rId1" Type="http://schemas.openxmlformats.org/officeDocument/2006/relationships/tags" Target="../tags/tag2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2" Type="http://schemas.openxmlformats.org/officeDocument/2006/relationships/notesSlide" Target="../notesSlides/notesSlide8.xml"/><Relationship Id="rId21" Type="http://schemas.openxmlformats.org/officeDocument/2006/relationships/slideLayout" Target="../slideLayouts/slideLayout3.xml"/><Relationship Id="rId20" Type="http://schemas.openxmlformats.org/officeDocument/2006/relationships/tags" Target="../tags/tag51.xml"/><Relationship Id="rId2" Type="http://schemas.openxmlformats.org/officeDocument/2006/relationships/tags" Target="../tags/tag33.xml"/><Relationship Id="rId19" Type="http://schemas.openxmlformats.org/officeDocument/2006/relationships/tags" Target="../tags/tag50.xml"/><Relationship Id="rId18" Type="http://schemas.openxmlformats.org/officeDocument/2006/relationships/tags" Target="../tags/tag49.xml"/><Relationship Id="rId17" Type="http://schemas.openxmlformats.org/officeDocument/2006/relationships/tags" Target="../tags/tag48.xml"/><Relationship Id="rId16" Type="http://schemas.openxmlformats.org/officeDocument/2006/relationships/tags" Target="../tags/tag47.xml"/><Relationship Id="rId15" Type="http://schemas.openxmlformats.org/officeDocument/2006/relationships/tags" Target="../tags/tag46.xml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tags" Target="../tags/tag3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7" Type="http://schemas.openxmlformats.org/officeDocument/2006/relationships/notesSlide" Target="../notesSlides/notesSlide13.xml"/><Relationship Id="rId16" Type="http://schemas.openxmlformats.org/officeDocument/2006/relationships/slideLayout" Target="../slideLayouts/slideLayout3.xml"/><Relationship Id="rId15" Type="http://schemas.openxmlformats.org/officeDocument/2006/relationships/tags" Target="../tags/tag66.xml"/><Relationship Id="rId14" Type="http://schemas.openxmlformats.org/officeDocument/2006/relationships/tags" Target="../tags/tag65.xml"/><Relationship Id="rId13" Type="http://schemas.openxmlformats.org/officeDocument/2006/relationships/tags" Target="../tags/tag64.xml"/><Relationship Id="rId12" Type="http://schemas.openxmlformats.org/officeDocument/2006/relationships/tags" Target="../tags/tag63.xml"/><Relationship Id="rId11" Type="http://schemas.openxmlformats.org/officeDocument/2006/relationships/tags" Target="../tags/tag62.xml"/><Relationship Id="rId10" Type="http://schemas.openxmlformats.org/officeDocument/2006/relationships/tags" Target="../tags/tag61.xml"/><Relationship Id="rId1" Type="http://schemas.openxmlformats.org/officeDocument/2006/relationships/tags" Target="../tags/tag5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4" Type="http://schemas.openxmlformats.org/officeDocument/2006/relationships/notesSlide" Target="../notesSlides/notesSlide18.xml"/><Relationship Id="rId13" Type="http://schemas.openxmlformats.org/officeDocument/2006/relationships/slideLayout" Target="../slideLayouts/slideLayout3.xml"/><Relationship Id="rId12" Type="http://schemas.openxmlformats.org/officeDocument/2006/relationships/tags" Target="../tags/tag78.xml"/><Relationship Id="rId11" Type="http://schemas.openxmlformats.org/officeDocument/2006/relationships/tags" Target="../tags/tag77.xml"/><Relationship Id="rId10" Type="http://schemas.openxmlformats.org/officeDocument/2006/relationships/tags" Target="../tags/tag76.xml"/><Relationship Id="rId1" Type="http://schemas.openxmlformats.org/officeDocument/2006/relationships/tags" Target="../tags/tag6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645920" y="4206240"/>
            <a:ext cx="4114800" cy="4114800"/>
          </a:xfrm>
          <a:prstGeom prst="ellipse">
            <a:avLst/>
          </a:prstGeom>
          <a:solidFill>
            <a:srgbClr val="1C7293">
              <a:alpha val="40000"/>
            </a:srgbClr>
          </a:solidFill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3FB6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3</a:t>
            </a:r>
            <a:endParaRPr lang="en-US" sz="2000" b="1" kern="0" spc="300" dirty="0">
              <a:solidFill>
                <a:srgbClr val="3FB6A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868680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Pointers &amp; Memory</a:t>
            </a:r>
            <a:endParaRPr lang="en-US" sz="4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Management in C</a:t>
            </a:r>
            <a:endParaRPr lang="en-US" sz="48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4107180"/>
            <a:ext cx="917067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en-GB" sz="2000" dirty="0">
                <a:solidFill>
                  <a:schemeClr val="bg1"/>
                </a:solidFill>
              </a:rPr>
              <a:t>Understanding pointers and memory addresses- Pointer arithmetic- Dynamic memory allocation: malloc(), calloc(),</a:t>
            </a:r>
            <a:r>
              <a:rPr lang="en-IN" altLang="en-US" sz="2000" dirty="0">
                <a:solidFill>
                  <a:schemeClr val="bg1"/>
                </a:solidFill>
              </a:rPr>
              <a:t> </a:t>
            </a:r>
            <a:r>
              <a:rPr lang="en-US" altLang="en-GB" sz="2000" dirty="0">
                <a:solidFill>
                  <a:schemeClr val="bg1"/>
                </a:solidFill>
              </a:rPr>
              <a:t>realloc(), free()- Pointer to functions- Pointer and arrays relationship.</a:t>
            </a:r>
            <a:endParaRPr lang="en-US" altLang="en-GB" sz="2000" dirty="0">
              <a:solidFill>
                <a:schemeClr val="bg1"/>
              </a:solidFill>
            </a:endParaRPr>
          </a:p>
        </p:txBody>
      </p:sp>
      <p:sp>
        <p:nvSpPr>
          <p:cNvPr id="9" name="Text 4"/>
          <p:cNvSpPr txBox="1"/>
          <p:nvPr/>
        </p:nvSpPr>
        <p:spPr>
          <a:xfrm>
            <a:off x="8507095" y="5383530"/>
            <a:ext cx="4769485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IN" altLang="en-US" sz="2000" b="1" dirty="0">
                <a:solidFill>
                  <a:schemeClr val="bg1"/>
                </a:solidFill>
                <a:latin typeface="Bradley Hand ITC" panose="03070402050302030203" charset="0"/>
                <a:cs typeface="Bradley Hand ITC" panose="03070402050302030203" charset="0"/>
              </a:rPr>
              <a:t>-By</a:t>
            </a:r>
            <a:endParaRPr lang="en-IN" altLang="en-US" sz="2000" b="1" dirty="0">
              <a:solidFill>
                <a:schemeClr val="bg1"/>
              </a:solidFill>
              <a:latin typeface="Bradley Hand ITC" panose="03070402050302030203" charset="0"/>
              <a:cs typeface="Bradley Hand ITC" panose="03070402050302030203" charset="0"/>
            </a:endParaRPr>
          </a:p>
          <a:p>
            <a:pPr marL="0" indent="0">
              <a:buNone/>
            </a:pPr>
            <a:r>
              <a:rPr lang="en-IN" altLang="en-US" sz="2000" b="1" dirty="0">
                <a:solidFill>
                  <a:schemeClr val="bg1"/>
                </a:solidFill>
                <a:latin typeface="Bradley Hand ITC" panose="03070402050302030203" charset="0"/>
                <a:cs typeface="Bradley Hand ITC" panose="03070402050302030203" charset="0"/>
              </a:rPr>
              <a:t>Jasmine Savathallapalli</a:t>
            </a:r>
            <a:endParaRPr lang="en-IN" altLang="en-US" sz="2000" b="1" dirty="0">
              <a:solidFill>
                <a:schemeClr val="bg1"/>
              </a:solidFill>
              <a:latin typeface="Bradley Hand ITC" panose="03070402050302030203" charset="0"/>
              <a:cs typeface="Bradley Hand ITC" panose="03070402050302030203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3C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POINTERS ·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a pointer?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55778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just">
              <a:lnSpc>
                <a:spcPct val="140000"/>
              </a:lnSpc>
              <a:buNone/>
            </a:pP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variable is stored somewhere in the computer's memory, and that location has an </a:t>
            </a:r>
            <a:r>
              <a:rPr lang="en-US" sz="16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address</a:t>
            </a: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(like a house number). A </a:t>
            </a:r>
            <a:r>
              <a:rPr lang="en-US" sz="16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pointer</a:t>
            </a: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is simply a variable that stores the address of another variable, instead of storing an ordinary value</a:t>
            </a:r>
            <a:r>
              <a:rPr lang="en-IN" alt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IN" altLang="en-US" sz="1600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278892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Two special symbols</a:t>
            </a:r>
            <a:endParaRPr lang="en-US" b="1" dirty="0">
              <a:solidFill>
                <a:srgbClr val="16232B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320040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B1F2A"/>
          </a:solidFill>
        </p:spPr>
      </p:sp>
      <p:sp>
        <p:nvSpPr>
          <p:cNvPr id="7" name="Text 5"/>
          <p:cNvSpPr/>
          <p:nvPr/>
        </p:nvSpPr>
        <p:spPr>
          <a:xfrm>
            <a:off x="502920" y="32004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E6C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&amp;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34440" y="3200400"/>
            <a:ext cx="4846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"address of"  —  &amp;num gives the memory address of num</a:t>
            </a:r>
            <a:endParaRPr lang="en-US" sz="1600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02920" y="39776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B1F2A"/>
          </a:solidFill>
        </p:spPr>
      </p:sp>
      <p:sp>
        <p:nvSpPr>
          <p:cNvPr id="10" name="Text 8"/>
          <p:cNvSpPr/>
          <p:nvPr/>
        </p:nvSpPr>
        <p:spPr>
          <a:xfrm>
            <a:off x="502920" y="39776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E6C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*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34440" y="3977640"/>
            <a:ext cx="48463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"value at address" (dereference)  —  *ptr gives the value stored at that address</a:t>
            </a:r>
            <a:endParaRPr lang="en-US" sz="1600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4937760"/>
            <a:ext cx="5577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C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Syntax:  datatype  *pointerName;</a:t>
            </a:r>
            <a:endParaRPr lang="en-US" b="1" dirty="0">
              <a:solidFill>
                <a:srgbClr val="123C4D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309360" y="1417320"/>
            <a:ext cx="5555615" cy="4271645"/>
          </a:xfrm>
          <a:prstGeom prst="roundRect">
            <a:avLst>
              <a:gd name="adj" fmla="val 1364"/>
            </a:avLst>
          </a:prstGeom>
          <a:solidFill>
            <a:srgbClr val="0F2A33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045952" y="152704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EE6C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65265" y="1563370"/>
            <a:ext cx="5203190" cy="37306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B45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#include</a:t>
            </a:r>
            <a:r>
              <a:rPr lang="en-US" sz="1600" dirty="0">
                <a:solidFill>
                  <a:srgbClr val="E8EA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&lt;stdio.h&gt;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B45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int</a:t>
            </a:r>
            <a:r>
              <a:rPr lang="en-US" sz="1600" dirty="0">
                <a:solidFill>
                  <a:srgbClr val="E8EA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main() {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8EA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</a:t>
            </a:r>
            <a:r>
              <a:rPr lang="en-US" sz="1600" dirty="0">
                <a:solidFill>
                  <a:srgbClr val="FFB45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int</a:t>
            </a:r>
            <a:r>
              <a:rPr lang="en-US" sz="1600" dirty="0">
                <a:solidFill>
                  <a:srgbClr val="E8EA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num = 10;     </a:t>
            </a:r>
            <a:r>
              <a:rPr lang="en-US" sz="1600" dirty="0">
                <a:solidFill>
                  <a:srgbClr val="8A9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// normal variable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8EA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</a:t>
            </a:r>
            <a:r>
              <a:rPr lang="en-US" sz="1600" dirty="0">
                <a:solidFill>
                  <a:srgbClr val="FFB45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int</a:t>
            </a:r>
            <a:r>
              <a:rPr lang="en-US" sz="1600" dirty="0">
                <a:solidFill>
                  <a:srgbClr val="E8EA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*ptr = &amp;num;  </a:t>
            </a:r>
            <a:r>
              <a:rPr lang="en-US" sz="1600" dirty="0">
                <a:solidFill>
                  <a:srgbClr val="8A9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// ptr stores address of num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8EA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printf("Value of num   = %d\n", num);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8EA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printf("Address of num = %p\n", &amp;num);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8EA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printf("Value of ptr   = %p\n", ptr);</a:t>
            </a:r>
            <a:r>
              <a:rPr lang="en-IN" altLang="en-US" sz="1600" dirty="0">
                <a:solidFill>
                  <a:srgbClr val="E8EA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</a:t>
            </a:r>
            <a:r>
              <a:rPr lang="en-US" sz="1600" dirty="0">
                <a:solidFill>
                  <a:srgbClr val="8A9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// same as &amp;num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8EA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printf("Value pointed  = %d\n", *ptr);  </a:t>
            </a:r>
            <a:r>
              <a:rPr lang="en-US" sz="1600" dirty="0">
                <a:solidFill>
                  <a:srgbClr val="8A9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// dereference -&gt; 10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8EA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   return 0;</a:t>
            </a:r>
            <a:endParaRPr lang="en-US" sz="1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8EAF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}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3 · Pointers &amp; Memory Management in 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528816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2"/>
          <p:cNvSpPr/>
          <p:nvPr/>
        </p:nvSpPr>
        <p:spPr>
          <a:xfrm>
            <a:off x="340995" y="5486400"/>
            <a:ext cx="9788525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just">
              <a:lnSpc>
                <a:spcPct val="140000"/>
              </a:lnSpc>
              <a:buNone/>
            </a:pPr>
            <a:r>
              <a:rPr lang="en-IN" alt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Note: </a:t>
            </a: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sz="16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If a pointer isn't pointing anywhere yet, it's good practice to set it to NULL.</a:t>
            </a:r>
            <a:endParaRPr lang="en-US" sz="1600" dirty="0"/>
          </a:p>
          <a:p>
            <a:pPr marL="0" indent="0" algn="just">
              <a:lnSpc>
                <a:spcPct val="140000"/>
              </a:lnSpc>
              <a:buNone/>
            </a:pPr>
            <a:endParaRPr lang="en-US" sz="1600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7261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123C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POINTERS </a:t>
            </a:r>
            <a:endParaRPr lang="en-US" sz="1600" b="1" kern="0" spc="200" dirty="0">
              <a:solidFill>
                <a:srgbClr val="123C4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Declaring &amp; using a pointer</a:t>
            </a:r>
            <a:endParaRPr lang="en-US" sz="3600" b="1" dirty="0">
              <a:solidFill>
                <a:srgbClr val="16232B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steps: declare the pointer, point it to a variable, then use it.</a:t>
            </a:r>
            <a:endParaRPr lang="en-US" sz="1600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502920" y="192024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5F8F9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731520" y="2084832"/>
            <a:ext cx="347472" cy="347472"/>
          </a:xfrm>
          <a:prstGeom prst="ellipse">
            <a:avLst/>
          </a:prstGeom>
          <a:solidFill>
            <a:srgbClr val="0B1F2A"/>
          </a:solidFill>
        </p:spPr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731520" y="208483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b="1" dirty="0">
              <a:solidFill>
                <a:srgbClr val="2EE6C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1188720" y="2066544"/>
            <a:ext cx="2743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C4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Declare</a:t>
            </a:r>
            <a:endParaRPr lang="en-US" b="1" dirty="0">
              <a:solidFill>
                <a:srgbClr val="123C4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731520" y="2514600"/>
            <a:ext cx="3154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2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*p;</a:t>
            </a:r>
            <a:endParaRPr lang="en-US" sz="1600" b="1" dirty="0">
              <a:solidFill>
                <a:srgbClr val="16232B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731520" y="2852928"/>
            <a:ext cx="31546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Creates a pointer variable p that can store the address of an int.</a:t>
            </a:r>
            <a:endParaRPr lang="en-US" sz="1600" dirty="0">
              <a:solidFill>
                <a:srgbClr val="5A6B7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4297680" y="192024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5F8F9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12" name="Shape 10"/>
          <p:cNvSpPr/>
          <p:nvPr>
            <p:custDataLst>
              <p:tags r:id="rId8"/>
            </p:custDataLst>
          </p:nvPr>
        </p:nvSpPr>
        <p:spPr>
          <a:xfrm>
            <a:off x="4526280" y="2084832"/>
            <a:ext cx="347472" cy="347472"/>
          </a:xfrm>
          <a:prstGeom prst="ellipse">
            <a:avLst/>
          </a:prstGeom>
          <a:solidFill>
            <a:srgbClr val="0B1F2A"/>
          </a:solidFill>
        </p:spPr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4526280" y="208483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b="1" dirty="0">
              <a:solidFill>
                <a:srgbClr val="2EE6C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4983480" y="2066544"/>
            <a:ext cx="2743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C4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Assign</a:t>
            </a:r>
            <a:endParaRPr lang="en-US" b="1" dirty="0">
              <a:solidFill>
                <a:srgbClr val="123C4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5" name="Text 13"/>
          <p:cNvSpPr/>
          <p:nvPr>
            <p:custDataLst>
              <p:tags r:id="rId11"/>
            </p:custDataLst>
          </p:nvPr>
        </p:nvSpPr>
        <p:spPr>
          <a:xfrm>
            <a:off x="4526280" y="2514600"/>
            <a:ext cx="3154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2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 = &amp;age;</a:t>
            </a:r>
            <a:endParaRPr lang="en-US" sz="1600" b="1" dirty="0">
              <a:solidFill>
                <a:srgbClr val="16232B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4526280" y="2852928"/>
            <a:ext cx="31546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Stores the address of age inside p. Now p "points to" age.</a:t>
            </a:r>
            <a:endParaRPr lang="en-US" dirty="0">
              <a:solidFill>
                <a:srgbClr val="5A6B7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Shape 15"/>
          <p:cNvSpPr/>
          <p:nvPr>
            <p:custDataLst>
              <p:tags r:id="rId13"/>
            </p:custDataLst>
          </p:nvPr>
        </p:nvSpPr>
        <p:spPr>
          <a:xfrm>
            <a:off x="8092440" y="192024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5F8F9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18" name="Shape 16"/>
          <p:cNvSpPr/>
          <p:nvPr>
            <p:custDataLst>
              <p:tags r:id="rId14"/>
            </p:custDataLst>
          </p:nvPr>
        </p:nvSpPr>
        <p:spPr>
          <a:xfrm>
            <a:off x="8321040" y="2084832"/>
            <a:ext cx="347472" cy="347472"/>
          </a:xfrm>
          <a:prstGeom prst="ellipse">
            <a:avLst/>
          </a:prstGeom>
          <a:solidFill>
            <a:srgbClr val="0B1F2A"/>
          </a:solidFill>
        </p:spPr>
      </p:sp>
      <p:sp>
        <p:nvSpPr>
          <p:cNvPr id="19" name="Text 17"/>
          <p:cNvSpPr/>
          <p:nvPr>
            <p:custDataLst>
              <p:tags r:id="rId15"/>
            </p:custDataLst>
          </p:nvPr>
        </p:nvSpPr>
        <p:spPr>
          <a:xfrm>
            <a:off x="8321040" y="208483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b="1" dirty="0">
              <a:solidFill>
                <a:srgbClr val="2EE6C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ext 18"/>
          <p:cNvSpPr/>
          <p:nvPr>
            <p:custDataLst>
              <p:tags r:id="rId16"/>
            </p:custDataLst>
          </p:nvPr>
        </p:nvSpPr>
        <p:spPr>
          <a:xfrm>
            <a:off x="8778240" y="2066544"/>
            <a:ext cx="2743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C4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Use</a:t>
            </a:r>
            <a:endParaRPr lang="en-US" b="1" dirty="0">
              <a:solidFill>
                <a:srgbClr val="123C4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21" name="Text 19"/>
          <p:cNvSpPr/>
          <p:nvPr>
            <p:custDataLst>
              <p:tags r:id="rId17"/>
            </p:custDataLst>
          </p:nvPr>
        </p:nvSpPr>
        <p:spPr>
          <a:xfrm>
            <a:off x="8321040" y="2514600"/>
            <a:ext cx="3154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2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*p</a:t>
            </a:r>
            <a:endParaRPr lang="en-US" sz="1600" b="1" dirty="0">
              <a:solidFill>
                <a:srgbClr val="16232B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22" name="Text 20"/>
          <p:cNvSpPr/>
          <p:nvPr>
            <p:custDataLst>
              <p:tags r:id="rId18"/>
            </p:custDataLst>
          </p:nvPr>
        </p:nvSpPr>
        <p:spPr>
          <a:xfrm>
            <a:off x="8321040" y="2852928"/>
            <a:ext cx="31546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Reading *p gives age's value; writing to *p changes age itself.</a:t>
            </a:r>
            <a:endParaRPr lang="en-US" dirty="0">
              <a:solidFill>
                <a:srgbClr val="5A6B7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02920" y="3657600"/>
            <a:ext cx="11201400" cy="2834640"/>
          </a:xfrm>
          <a:prstGeom prst="roundRect">
            <a:avLst>
              <a:gd name="adj" fmla="val 1935"/>
            </a:avLst>
          </a:prstGeom>
          <a:solidFill>
            <a:srgbClr val="0F2A33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1045952" y="376732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EE6C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400" b="1" dirty="0">
              <a:solidFill>
                <a:srgbClr val="0B1F2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58952" y="3803904"/>
            <a:ext cx="10689336" cy="2542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#include &lt;stdio.h&gt;
int main() {
    int age = 20;
    int *p;              // step 1: declare
    p = &amp;age;             // step 2: assign address
    printf("Value of age:        %d\n", age);
    printf("Address of age:      %p\n", &amp;age);
    printf("Value stored in p:   %p\n", p);
    printf("Value pointed by p:  %d\n", *p);   // step 3: use
    *p = 25;   // change age THROUGH the pointer
    printf("New value of age:    %d\n", age);  // 25
    return 0;
}</a:t>
            </a:r>
            <a:endParaRPr lang="en-US" sz="10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3 · Pointers &amp; Memory Management in C</a:t>
            </a:r>
            <a:endParaRPr lang="en-US" sz="1200" dirty="0">
              <a:solidFill>
                <a:srgbClr val="5A6B7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0972800" y="6528816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200" dirty="0">
              <a:solidFill>
                <a:srgbClr val="5A6B7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3C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POINTER ARITHMETIC · RULES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pointer arithmetic 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24585"/>
            <a:ext cx="55778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you add 1 to a pointer, it does NOT move by 1 byte — it moves by </a:t>
            </a:r>
            <a:r>
              <a:rPr lang="en-US" sz="16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size of the data type</a:t>
            </a: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it points to. This makes it easy to move from one array element to the next.</a:t>
            </a:r>
            <a:endParaRPr lang="en-US" sz="1600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81305" y="2687955"/>
            <a:ext cx="5799455" cy="36652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 + 1  moves forward by sizeof(type) bytes (e.g. 4 bytes for int)</a:t>
            </a:r>
            <a:endParaRPr lang="en-US" sz="1600" dirty="0"/>
          </a:p>
          <a:p>
            <a:pPr marL="342900" indent="-3429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p++ / p--  move the pointer to the next / previous element</a:t>
            </a:r>
            <a:endParaRPr lang="en-US" sz="1600" dirty="0"/>
          </a:p>
          <a:p>
            <a:pPr marL="342900" indent="-3429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p2 - p1  (two pointers in the same array) gives the number of elements between them</a:t>
            </a:r>
            <a:endParaRPr lang="en-US" sz="1600" dirty="0"/>
          </a:p>
          <a:p>
            <a:pPr marL="342900" indent="-3429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p1 == p2, p1 &lt; p2  — pointers can be compared, usually within the same array</a:t>
            </a:r>
            <a:endParaRPr lang="en-US" sz="1600" dirty="0"/>
          </a:p>
          <a:p>
            <a:pPr marL="342900" indent="-3429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cannot multiply or divide two pointers — only add/subtract a whole number, or subtract one pointer from another</a:t>
            </a:r>
            <a:endParaRPr lang="en-US" sz="1600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Example: if p is an int* (4 bytes) at address 1000, then p + 1 points to address 1004, not 1001.</a:t>
            </a:r>
            <a:endParaRPr lang="en-US" sz="1600" dirty="0"/>
          </a:p>
          <a:p>
            <a:pPr marL="342900" indent="-3429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endParaRPr lang="en-US" sz="1600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309360" y="1417320"/>
            <a:ext cx="5394960" cy="4937760"/>
          </a:xfrm>
          <a:prstGeom prst="roundRect">
            <a:avLst>
              <a:gd name="adj" fmla="val 1111"/>
            </a:avLst>
          </a:prstGeom>
          <a:solidFill>
            <a:srgbClr val="0F2A33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045952" y="152704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EE6C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65392" y="1563624"/>
            <a:ext cx="4882896" cy="46451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arr[5] = {10, 20, 30, 40, 50};
int *p = arr;        // p points to arr[0]
printf("%d", *p);      // 10
p++;                    // p now points to arr[1]
printf("%d", *p);      // 20
p = p + 2;              // p now points to arr[3]
printf("%d", *p);      // 40
int *start = arr;
int *end   = &amp;arr[4];
printf("%ld", end - start);  // 4 (elements apart)</a:t>
            </a:r>
            <a:endParaRPr lang="en-US" sz="14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3 · Pointers &amp; Memory Management in 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0" y="6528816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3C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POINTER ARITHMETIC · RULES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pointer arithmetic </a:t>
            </a:r>
            <a:r>
              <a:rPr lang="en-IN" altLang="en-US" sz="28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summary</a:t>
            </a:r>
            <a:endParaRPr lang="en-IN" altLang="en-US" sz="2800" b="1" dirty="0">
              <a:solidFill>
                <a:srgbClr val="16232B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124585"/>
            <a:ext cx="55778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endParaRPr lang="en-US" sz="1600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81305" y="2687955"/>
            <a:ext cx="5799455" cy="36652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endParaRPr lang="en-US" sz="1600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58165" y="1417320"/>
            <a:ext cx="11146155" cy="4937760"/>
          </a:xfrm>
          <a:prstGeom prst="roundRect">
            <a:avLst>
              <a:gd name="adj" fmla="val 1111"/>
            </a:avLst>
          </a:prstGeom>
          <a:solidFill>
            <a:srgbClr val="0F2A33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3 · Pointers &amp; Memory Management in 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0" y="6528816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900" dirty="0"/>
          </a:p>
        </p:txBody>
      </p:sp>
      <p:graphicFrame>
        <p:nvGraphicFramePr>
          <p:cNvPr id="12" name="Table 11"/>
          <p:cNvGraphicFramePr/>
          <p:nvPr>
            <p:custDataLst>
              <p:tags r:id="rId1"/>
            </p:custDataLst>
          </p:nvPr>
        </p:nvGraphicFramePr>
        <p:xfrm>
          <a:off x="1619250" y="1984375"/>
          <a:ext cx="8851900" cy="2693670"/>
        </p:xfrm>
        <a:graphic>
          <a:graphicData uri="http://schemas.openxmlformats.org/drawingml/2006/table">
            <a:tbl>
              <a:tblPr/>
              <a:tblGrid>
                <a:gridCol w="2214245"/>
                <a:gridCol w="6637655"/>
              </a:tblGrid>
              <a:tr h="0">
                <a:tc>
                  <a:txBody>
                    <a:bodyPr/>
                    <a:p>
                      <a:pPr marL="45720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Aptos"/>
                          <a:ea typeface="Times New Roman" panose="02020603050405020304"/>
                        </a:rPr>
                        <a:t>Expression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Aptos"/>
                        <a:ea typeface="Times New Roman" panose="020206030504050203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5720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Aptos"/>
                          <a:ea typeface="Times New Roman" panose="02020603050405020304"/>
                        </a:rPr>
                        <a:t>Meaning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Aptos"/>
                        <a:ea typeface="Times New Roman" panose="020206030504050203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45720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chemeClr val="bg1"/>
                          </a:solidFill>
                          <a:latin typeface="Aptos"/>
                          <a:ea typeface="Times New Roman" panose="02020603050405020304"/>
                        </a:rPr>
                        <a:t>p++</a:t>
                      </a:r>
                      <a:endParaRPr lang="en-US" altLang="zh-CN" sz="1800">
                        <a:solidFill>
                          <a:schemeClr val="bg1"/>
                        </a:solidFill>
                        <a:latin typeface="Aptos"/>
                        <a:ea typeface="Times New Roman" panose="020206030504050203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5720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solidFill>
                            <a:schemeClr val="bg1"/>
                          </a:solidFill>
                          <a:latin typeface="Aptos"/>
                          <a:ea typeface="Times New Roman" panose="02020603050405020304"/>
                        </a:rPr>
                        <a:t>Move to the next element</a:t>
                      </a:r>
                      <a:endParaRPr lang="en-US" altLang="zh-CN" sz="2400">
                        <a:solidFill>
                          <a:schemeClr val="bg1"/>
                        </a:solidFill>
                        <a:latin typeface="Aptos"/>
                        <a:ea typeface="Times New Roman" panose="020206030504050203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45720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chemeClr val="bg1"/>
                          </a:solidFill>
                          <a:latin typeface="Aptos"/>
                          <a:ea typeface="Times New Roman" panose="02020603050405020304"/>
                        </a:rPr>
                        <a:t>p--</a:t>
                      </a:r>
                      <a:endParaRPr lang="en-US" altLang="zh-CN" sz="1800">
                        <a:solidFill>
                          <a:schemeClr val="bg1"/>
                        </a:solidFill>
                        <a:latin typeface="Aptos"/>
                        <a:ea typeface="Times New Roman" panose="020206030504050203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5720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solidFill>
                            <a:schemeClr val="bg1"/>
                          </a:solidFill>
                          <a:latin typeface="Aptos"/>
                          <a:ea typeface="Times New Roman" panose="02020603050405020304"/>
                        </a:rPr>
                        <a:t>Move to the previous element</a:t>
                      </a:r>
                      <a:endParaRPr lang="en-US" altLang="zh-CN" sz="2400">
                        <a:solidFill>
                          <a:schemeClr val="bg1"/>
                        </a:solidFill>
                        <a:latin typeface="Aptos"/>
                        <a:ea typeface="Times New Roman" panose="020206030504050203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45720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chemeClr val="bg1"/>
                          </a:solidFill>
                          <a:latin typeface="Aptos"/>
                          <a:ea typeface="Times New Roman" panose="02020603050405020304"/>
                        </a:rPr>
                        <a:t>p + n</a:t>
                      </a:r>
                      <a:endParaRPr lang="en-US" altLang="zh-CN" sz="1800">
                        <a:solidFill>
                          <a:schemeClr val="bg1"/>
                        </a:solidFill>
                        <a:latin typeface="Aptos"/>
                        <a:ea typeface="Times New Roman" panose="020206030504050203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5720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solidFill>
                            <a:schemeClr val="bg1"/>
                          </a:solidFill>
                          <a:latin typeface="Aptos"/>
                          <a:ea typeface="Times New Roman" panose="02020603050405020304"/>
                        </a:rPr>
                        <a:t>Move forward by </a:t>
                      </a:r>
                      <a:r>
                        <a:rPr lang="en-US" altLang="zh-CN" sz="1800">
                          <a:solidFill>
                            <a:schemeClr val="bg1"/>
                          </a:solidFill>
                          <a:latin typeface="Aptos"/>
                          <a:ea typeface="Times New Roman" panose="02020603050405020304"/>
                        </a:rPr>
                        <a:t>n</a:t>
                      </a:r>
                      <a:r>
                        <a:rPr lang="en-US" altLang="zh-CN" sz="2400">
                          <a:solidFill>
                            <a:schemeClr val="bg1"/>
                          </a:solidFill>
                          <a:latin typeface="Aptos"/>
                          <a:ea typeface="Times New Roman" panose="02020603050405020304"/>
                        </a:rPr>
                        <a:t> elements</a:t>
                      </a:r>
                      <a:endParaRPr lang="en-US" altLang="zh-CN" sz="2400">
                        <a:solidFill>
                          <a:schemeClr val="bg1"/>
                        </a:solidFill>
                        <a:latin typeface="Aptos"/>
                        <a:ea typeface="Times New Roman" panose="020206030504050203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45720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chemeClr val="bg1"/>
                          </a:solidFill>
                          <a:latin typeface="Aptos"/>
                          <a:ea typeface="Times New Roman" panose="02020603050405020304"/>
                        </a:rPr>
                        <a:t>p - n</a:t>
                      </a:r>
                      <a:endParaRPr lang="en-US" altLang="zh-CN" sz="1800">
                        <a:solidFill>
                          <a:schemeClr val="bg1"/>
                        </a:solidFill>
                        <a:latin typeface="Aptos"/>
                        <a:ea typeface="Times New Roman" panose="020206030504050203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5720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solidFill>
                            <a:schemeClr val="bg1"/>
                          </a:solidFill>
                          <a:latin typeface="Aptos"/>
                          <a:ea typeface="Times New Roman" panose="02020603050405020304"/>
                        </a:rPr>
                        <a:t>Move backward by </a:t>
                      </a:r>
                      <a:r>
                        <a:rPr lang="en-US" altLang="zh-CN" sz="1800">
                          <a:solidFill>
                            <a:schemeClr val="bg1"/>
                          </a:solidFill>
                          <a:latin typeface="Aptos"/>
                          <a:ea typeface="Times New Roman" panose="02020603050405020304"/>
                        </a:rPr>
                        <a:t>n</a:t>
                      </a:r>
                      <a:r>
                        <a:rPr lang="en-US" altLang="zh-CN" sz="2400">
                          <a:solidFill>
                            <a:schemeClr val="bg1"/>
                          </a:solidFill>
                          <a:latin typeface="Aptos"/>
                          <a:ea typeface="Times New Roman" panose="02020603050405020304"/>
                        </a:rPr>
                        <a:t> elements</a:t>
                      </a:r>
                      <a:endParaRPr lang="en-US" altLang="zh-CN" sz="2400">
                        <a:solidFill>
                          <a:schemeClr val="bg1"/>
                        </a:solidFill>
                        <a:latin typeface="Aptos"/>
                        <a:ea typeface="Times New Roman" panose="020206030504050203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45720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chemeClr val="bg1"/>
                          </a:solidFill>
                          <a:latin typeface="Aptos"/>
                          <a:ea typeface="Times New Roman" panose="02020603050405020304"/>
                        </a:rPr>
                        <a:t>*(p + n)</a:t>
                      </a:r>
                      <a:endParaRPr lang="en-US" altLang="zh-CN" sz="1800">
                        <a:solidFill>
                          <a:schemeClr val="bg1"/>
                        </a:solidFill>
                        <a:latin typeface="Aptos"/>
                        <a:ea typeface="Times New Roman" panose="020206030504050203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5720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solidFill>
                            <a:schemeClr val="bg1"/>
                          </a:solidFill>
                          <a:latin typeface="Aptos"/>
                          <a:ea typeface="Times New Roman" panose="02020603050405020304"/>
                        </a:rPr>
                        <a:t>Access the </a:t>
                      </a:r>
                      <a:r>
                        <a:rPr lang="en-US" altLang="zh-CN" sz="1800">
                          <a:solidFill>
                            <a:schemeClr val="bg1"/>
                          </a:solidFill>
                          <a:latin typeface="Aptos"/>
                          <a:ea typeface="Times New Roman" panose="02020603050405020304"/>
                        </a:rPr>
                        <a:t>n</a:t>
                      </a:r>
                      <a:r>
                        <a:rPr lang="en-US" altLang="zh-CN" sz="2400">
                          <a:solidFill>
                            <a:schemeClr val="bg1"/>
                          </a:solidFill>
                          <a:latin typeface="Aptos"/>
                          <a:ea typeface="Times New Roman" panose="02020603050405020304"/>
                        </a:rPr>
                        <a:t>th element from </a:t>
                      </a:r>
                      <a:r>
                        <a:rPr lang="en-US" altLang="zh-CN" sz="1800">
                          <a:solidFill>
                            <a:schemeClr val="bg1"/>
                          </a:solidFill>
                          <a:latin typeface="Aptos"/>
                          <a:ea typeface="Times New Roman" panose="02020603050405020304"/>
                        </a:rPr>
                        <a:t>p</a:t>
                      </a:r>
                      <a:endParaRPr lang="en-US" altLang="zh-CN" sz="1800">
                        <a:solidFill>
                          <a:schemeClr val="bg1"/>
                        </a:solidFill>
                        <a:latin typeface="Aptos"/>
                        <a:ea typeface="Times New Roman" panose="020206030504050203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45720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800">
                          <a:solidFill>
                            <a:schemeClr val="bg1"/>
                          </a:solidFill>
                          <a:latin typeface="Aptos"/>
                          <a:ea typeface="Times New Roman" panose="02020603050405020304"/>
                        </a:rPr>
                        <a:t>p2 - p1</a:t>
                      </a:r>
                      <a:endParaRPr lang="en-US" altLang="zh-CN" sz="1800">
                        <a:solidFill>
                          <a:schemeClr val="bg1"/>
                        </a:solidFill>
                        <a:latin typeface="Aptos"/>
                        <a:ea typeface="Times New Roman" panose="020206030504050203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5720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400">
                          <a:solidFill>
                            <a:schemeClr val="bg1"/>
                          </a:solidFill>
                          <a:latin typeface="Aptos"/>
                          <a:ea typeface="Times New Roman" panose="02020603050405020304"/>
                        </a:rPr>
                        <a:t>Number of elements between two pointers</a:t>
                      </a:r>
                      <a:endParaRPr lang="en-US" altLang="zh-CN" sz="2400">
                        <a:solidFill>
                          <a:schemeClr val="bg1"/>
                        </a:solidFill>
                        <a:latin typeface="Aptos"/>
                        <a:ea typeface="Times New Roman" panose="020206030504050203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Text Box 12"/>
          <p:cNvSpPr txBox="1"/>
          <p:nvPr/>
        </p:nvSpPr>
        <p:spPr>
          <a:xfrm>
            <a:off x="1195070" y="4986655"/>
            <a:ext cx="9777730" cy="894080"/>
          </a:xfrm>
          <a:prstGeom prst="rect">
            <a:avLst/>
          </a:prstGeom>
        </p:spPr>
        <p:txBody>
          <a:bodyPr wrap="square">
            <a:noAutofit/>
          </a:bodyPr>
          <a:p>
            <a:endParaRPr lang="en-US" altLang="zh-CN">
              <a:solidFill>
                <a:schemeClr val="bg1"/>
              </a:solidFill>
            </a:endParaRPr>
          </a:p>
          <a:p>
            <a:pPr marL="457200" indent="-228600" defTabSz="457200">
              <a:spcBef>
                <a:spcPct val="0"/>
              </a:spcBef>
              <a:spcAft>
                <a:spcPts val="800"/>
              </a:spcAft>
              <a:buSzPct val="91000"/>
              <a:buFont typeface="Symbol" panose="05050102010706020507"/>
              <a:buChar char=""/>
              <a:tabLst>
                <a:tab pos="457200" algn="l"/>
              </a:tabLst>
            </a:pPr>
            <a:r>
              <a:rPr lang="en-IN" sz="2000">
                <a:solidFill>
                  <a:schemeClr val="bg1"/>
                </a:solidFill>
                <a:latin typeface="Times New Roman" panose="02020603050405020304"/>
                <a:ea typeface="Times New Roman" panose="02020603050405020304"/>
              </a:rPr>
              <a:t>Pointer arithmetic is commonly used for efficient array traversal, string processing, and implementing data structures in C.</a:t>
            </a:r>
            <a:endParaRPr lang="en-IN" altLang="zh-CN" sz="2000">
              <a:solidFill>
                <a:schemeClr val="bg1"/>
              </a:solidFill>
              <a:latin typeface="Times New Roman" panose="02020603050405020304"/>
              <a:ea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3C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POINTERS · 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Example: swap two numbers using pointers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201400" cy="640080"/>
          </a:xfrm>
          <a:prstGeom prst="roundRect">
            <a:avLst>
              <a:gd name="adj" fmla="val 11429"/>
            </a:avLst>
          </a:prstGeom>
          <a:solidFill>
            <a:srgbClr val="0B1F2A"/>
          </a:solidFill>
        </p:spPr>
      </p:sp>
      <p:sp>
        <p:nvSpPr>
          <p:cNvPr id="5" name="Text 3"/>
          <p:cNvSpPr/>
          <p:nvPr/>
        </p:nvSpPr>
        <p:spPr>
          <a:xfrm>
            <a:off x="777240" y="1417320"/>
            <a:ext cx="10698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Problem: Write a function that exchanges the values of two variables, using pointers (not return values).</a:t>
            </a:r>
            <a:endParaRPr lang="en-US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2078990"/>
            <a:ext cx="6309360" cy="4230370"/>
          </a:xfrm>
          <a:prstGeom prst="roundRect">
            <a:avLst>
              <a:gd name="adj" fmla="val 1364"/>
            </a:avLst>
          </a:prstGeom>
          <a:solidFill>
            <a:srgbClr val="0F2A33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53912" y="239572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EE6C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58952" y="2057654"/>
            <a:ext cx="5797296" cy="37307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#include &lt;stdio.h&gt;
void swap(int *a, int *b) {
    int temp = *a;   // save value pointed by a
    *a = *b;         // put b's value into a
    *b = temp;       // put the saved value into b
}
int main() {
    int x = 5, y = 10;
    printf("Before swap: x=%d, y=%d\n", x, y);
    swap(&amp;x, &amp;y);    // pass ADDRESSES of x and y
    printf("After swap:  x=%d, y=%d\n", x, y);
    return 0;
}</a:t>
            </a:r>
            <a:endParaRPr lang="en-US" sz="14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086600" y="23317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Walkthrough</a:t>
            </a:r>
            <a:endParaRPr lang="en-US" sz="1500" dirty="0"/>
          </a:p>
        </p:txBody>
      </p:sp>
      <p:sp>
        <p:nvSpPr>
          <p:cNvPr id="10" name="Shape 8"/>
          <p:cNvSpPr/>
          <p:nvPr>
            <p:custDataLst>
              <p:tags r:id="rId1"/>
            </p:custDataLst>
          </p:nvPr>
        </p:nvSpPr>
        <p:spPr>
          <a:xfrm>
            <a:off x="7086600" y="2788920"/>
            <a:ext cx="329184" cy="329184"/>
          </a:xfrm>
          <a:prstGeom prst="ellipse">
            <a:avLst/>
          </a:prstGeom>
          <a:solidFill>
            <a:srgbClr val="0B1F2A"/>
          </a:solidFill>
        </p:spPr>
      </p:sp>
      <p:sp>
        <p:nvSpPr>
          <p:cNvPr id="11" name="Text 9"/>
          <p:cNvSpPr/>
          <p:nvPr>
            <p:custDataLst>
              <p:tags r:id="rId2"/>
            </p:custDataLst>
          </p:nvPr>
        </p:nvSpPr>
        <p:spPr>
          <a:xfrm>
            <a:off x="7086600" y="278892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>
            <p:custDataLst>
              <p:tags r:id="rId3"/>
            </p:custDataLst>
          </p:nvPr>
        </p:nvSpPr>
        <p:spPr>
          <a:xfrm>
            <a:off x="7543800" y="2761488"/>
            <a:ext cx="4114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send the ADDRESSES of x and y to swap(), using &amp;x and &amp;y.</a:t>
            </a:r>
            <a:endParaRPr lang="en-US" sz="1600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Shape 11"/>
          <p:cNvSpPr/>
          <p:nvPr>
            <p:custDataLst>
              <p:tags r:id="rId4"/>
            </p:custDataLst>
          </p:nvPr>
        </p:nvSpPr>
        <p:spPr>
          <a:xfrm>
            <a:off x="7086600" y="3566160"/>
            <a:ext cx="329184" cy="329184"/>
          </a:xfrm>
          <a:prstGeom prst="ellipse">
            <a:avLst/>
          </a:prstGeom>
          <a:solidFill>
            <a:srgbClr val="0B1F2A"/>
          </a:solidFill>
        </p:spPr>
      </p:sp>
      <p:sp>
        <p:nvSpPr>
          <p:cNvPr id="14" name="Text 12"/>
          <p:cNvSpPr/>
          <p:nvPr>
            <p:custDataLst>
              <p:tags r:id="rId5"/>
            </p:custDataLst>
          </p:nvPr>
        </p:nvSpPr>
        <p:spPr>
          <a:xfrm>
            <a:off x="7086600" y="356616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>
            <p:custDataLst>
              <p:tags r:id="rId6"/>
            </p:custDataLst>
          </p:nvPr>
        </p:nvSpPr>
        <p:spPr>
          <a:xfrm>
            <a:off x="7543800" y="3538728"/>
            <a:ext cx="4114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Inside swap(), a and b are pointers — they point to x and y in main().</a:t>
            </a:r>
            <a:endParaRPr lang="en-US" sz="1600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Shape 14"/>
          <p:cNvSpPr/>
          <p:nvPr>
            <p:custDataLst>
              <p:tags r:id="rId7"/>
            </p:custDataLst>
          </p:nvPr>
        </p:nvSpPr>
        <p:spPr>
          <a:xfrm>
            <a:off x="7086600" y="4343400"/>
            <a:ext cx="329184" cy="329184"/>
          </a:xfrm>
          <a:prstGeom prst="ellipse">
            <a:avLst/>
          </a:prstGeom>
          <a:solidFill>
            <a:srgbClr val="0B1F2A"/>
          </a:solidFill>
        </p:spPr>
      </p:sp>
      <p:sp>
        <p:nvSpPr>
          <p:cNvPr id="17" name="Text 15"/>
          <p:cNvSpPr/>
          <p:nvPr>
            <p:custDataLst>
              <p:tags r:id="rId8"/>
            </p:custDataLst>
          </p:nvPr>
        </p:nvSpPr>
        <p:spPr>
          <a:xfrm>
            <a:off x="7086600" y="434340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>
            <p:custDataLst>
              <p:tags r:id="rId9"/>
            </p:custDataLst>
          </p:nvPr>
        </p:nvSpPr>
        <p:spPr>
          <a:xfrm>
            <a:off x="7543800" y="4315968"/>
            <a:ext cx="4114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 keeps a copy of *a (x's value) so it isn't lost.</a:t>
            </a:r>
            <a:endParaRPr lang="en-US" sz="1600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" name="Shape 17"/>
          <p:cNvSpPr/>
          <p:nvPr>
            <p:custDataLst>
              <p:tags r:id="rId10"/>
            </p:custDataLst>
          </p:nvPr>
        </p:nvSpPr>
        <p:spPr>
          <a:xfrm>
            <a:off x="7086600" y="5120640"/>
            <a:ext cx="329184" cy="329184"/>
          </a:xfrm>
          <a:prstGeom prst="ellipse">
            <a:avLst/>
          </a:prstGeom>
          <a:solidFill>
            <a:srgbClr val="0B1F2A"/>
          </a:solidFill>
        </p:spPr>
      </p:sp>
      <p:sp>
        <p:nvSpPr>
          <p:cNvPr id="20" name="Text 18"/>
          <p:cNvSpPr/>
          <p:nvPr>
            <p:custDataLst>
              <p:tags r:id="rId11"/>
            </p:custDataLst>
          </p:nvPr>
        </p:nvSpPr>
        <p:spPr>
          <a:xfrm>
            <a:off x="7086600" y="512064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>
            <p:custDataLst>
              <p:tags r:id="rId12"/>
            </p:custDataLst>
          </p:nvPr>
        </p:nvSpPr>
        <p:spPr>
          <a:xfrm>
            <a:off x="7543800" y="5093208"/>
            <a:ext cx="4114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*a = *b copies y's value into x; *b = temp copies the saved value into y.</a:t>
            </a:r>
            <a:endParaRPr lang="en-US" sz="1600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086600" y="5806440"/>
            <a:ext cx="45720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23C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Output: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23C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Before swap: x=5, y=10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23C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After swap:  x=10, y=5</a:t>
            </a:r>
            <a:endParaRPr lang="en-US" sz="1400" b="1" dirty="0">
              <a:solidFill>
                <a:srgbClr val="123C4D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3 · Pointers &amp; Memory Management in C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0" y="6528816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105535" y="513715"/>
            <a:ext cx="6166485" cy="606933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en-US" altLang="zh-CN" sz="2800" b="1"/>
              <a:t>1. Pointer Increment p++</a:t>
            </a:r>
            <a:endParaRPr lang="en-US" altLang="zh-CN" sz="2800" b="1"/>
          </a:p>
          <a:p>
            <a:r>
              <a:rPr lang="en-US" altLang="zh-CN" sz="2000"/>
              <a:t>p++ moves the pointer to the next element.</a:t>
            </a:r>
            <a:endParaRPr lang="en-US" altLang="zh-CN" sz="2000"/>
          </a:p>
          <a:p>
            <a:endParaRPr lang="en-US" altLang="zh-CN" sz="2000"/>
          </a:p>
          <a:p>
            <a:r>
              <a:rPr lang="en-US" altLang="zh-CN" sz="2000"/>
              <a:t>#include &lt;stdio.h&gt;
int</a:t>
            </a:r>
            <a:r>
              <a:rPr lang="en-IN" altLang="en-US" sz="2000"/>
              <a:t> </a:t>
            </a:r>
            <a:r>
              <a:rPr lang="en-US" altLang="zh-CN" sz="2000"/>
              <a:t>main()
{
    int</a:t>
            </a:r>
            <a:r>
              <a:rPr lang="en-IN" altLang="en-US" sz="2000"/>
              <a:t> </a:t>
            </a:r>
            <a:r>
              <a:rPr lang="en-US" altLang="zh-CN" sz="2000"/>
              <a:t>arr[] = {10, 20, 30, 40, 50};
    int*p=arr;
    printf("Value = %d\n", *p);
    p++;
    printf("Value = %d\n", *p);
    return</a:t>
            </a:r>
            <a:r>
              <a:rPr lang="en-IN" altLang="en-US" sz="2000"/>
              <a:t> </a:t>
            </a:r>
            <a:r>
              <a:rPr lang="en-US" altLang="zh-CN" sz="2000"/>
              <a:t>0;
}</a:t>
            </a:r>
            <a:endParaRPr lang="en-US" altLang="zh-CN" sz="2000"/>
          </a:p>
          <a:p>
            <a:pPr>
              <a:spcAft>
                <a:spcPct val="60000"/>
              </a:spcAft>
            </a:pPr>
            <a:endParaRPr lang="en-US" altLang="zh-CN" sz="2000"/>
          </a:p>
        </p:txBody>
      </p:sp>
      <p:sp>
        <p:nvSpPr>
          <p:cNvPr id="3" name="Text Box 2"/>
          <p:cNvSpPr txBox="1"/>
          <p:nvPr/>
        </p:nvSpPr>
        <p:spPr>
          <a:xfrm>
            <a:off x="6440805" y="1166495"/>
            <a:ext cx="4471670" cy="46729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ct val="60000"/>
              </a:spcAft>
            </a:pPr>
            <a:r>
              <a:rPr lang="en-US" altLang="zh-CN" sz="2400" b="1">
                <a:sym typeface="+mn-ea"/>
              </a:rPr>
              <a:t>Output</a:t>
            </a:r>
            <a:endParaRPr lang="en-US" altLang="zh-CN" sz="2400" b="1"/>
          </a:p>
          <a:p>
            <a:pPr>
              <a:spcAft>
                <a:spcPct val="60000"/>
              </a:spcAft>
            </a:pPr>
            <a:r>
              <a:rPr lang="en-US" altLang="zh-CN" sz="2000">
                <a:sym typeface="+mn-ea"/>
              </a:rPr>
              <a:t>Value = 10
Value = 20</a:t>
            </a:r>
            <a:endParaRPr lang="en-US" altLang="zh-CN" sz="2000" b="1">
              <a:sym typeface="+mn-ea"/>
            </a:endParaRPr>
          </a:p>
          <a:p>
            <a:pPr>
              <a:spcAft>
                <a:spcPct val="60000"/>
              </a:spcAft>
            </a:pPr>
            <a:r>
              <a:rPr lang="en-US" altLang="zh-CN" sz="2400" b="1">
                <a:sym typeface="+mn-ea"/>
              </a:rPr>
              <a:t>Explanation</a:t>
            </a:r>
            <a:endParaRPr lang="en-US" altLang="zh-CN" sz="2400" b="1"/>
          </a:p>
          <a:p>
            <a:r>
              <a:rPr lang="en-US" altLang="zh-CN" sz="2000">
                <a:sym typeface="+mn-ea"/>
              </a:rPr>
              <a:t>Initially:</a:t>
            </a:r>
            <a:endParaRPr lang="en-US" altLang="zh-CN" sz="2000"/>
          </a:p>
          <a:p>
            <a:r>
              <a:rPr lang="en-US" altLang="zh-CN" sz="2000">
                <a:sym typeface="+mn-ea"/>
              </a:rPr>
              <a:t>p → 10</a:t>
            </a:r>
            <a:endParaRPr lang="en-US" altLang="zh-CN" sz="2000">
              <a:sym typeface="+mn-ea"/>
            </a:endParaRPr>
          </a:p>
          <a:p>
            <a:endParaRPr lang="en-US" altLang="zh-CN" sz="2000"/>
          </a:p>
          <a:p>
            <a:r>
              <a:rPr lang="en-US" altLang="zh-CN" sz="2000">
                <a:sym typeface="+mn-ea"/>
              </a:rPr>
              <a:t>After:</a:t>
            </a:r>
            <a:endParaRPr lang="en-US" altLang="zh-CN" sz="2000"/>
          </a:p>
          <a:p>
            <a:r>
              <a:rPr lang="en-US" altLang="zh-CN" sz="2000">
                <a:sym typeface="+mn-ea"/>
              </a:rPr>
              <a:t>p++;</a:t>
            </a:r>
            <a:endParaRPr lang="en-US" altLang="zh-CN" sz="2000">
              <a:sym typeface="+mn-ea"/>
            </a:endParaRPr>
          </a:p>
          <a:p>
            <a:endParaRPr lang="en-US" altLang="zh-CN" sz="2000"/>
          </a:p>
          <a:p>
            <a:r>
              <a:rPr lang="en-US" altLang="zh-CN" sz="2000">
                <a:sym typeface="+mn-ea"/>
              </a:rPr>
              <a:t>the pointer moves to the next integer:</a:t>
            </a:r>
            <a:endParaRPr lang="en-US" altLang="zh-CN" sz="2000"/>
          </a:p>
          <a:p>
            <a:r>
              <a:rPr lang="en-US" altLang="zh-CN" sz="2000">
                <a:sym typeface="+mn-ea"/>
              </a:rPr>
              <a:t>p → 20</a:t>
            </a:r>
            <a:endParaRPr lang="en-US" altLang="zh-CN" sz="2000"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033780" y="360045"/>
            <a:ext cx="6228715" cy="659066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en-US" altLang="zh-CN" sz="3600" b="1"/>
              <a:t>2. Pointer Decrement p--</a:t>
            </a:r>
            <a:endParaRPr lang="en-US" altLang="zh-CN" sz="3600" b="1"/>
          </a:p>
          <a:p>
            <a:r>
              <a:rPr lang="en-US" altLang="zh-CN" sz="2000"/>
              <a:t>p-- moves the pointer to the previous element.</a:t>
            </a:r>
            <a:endParaRPr lang="en-US" altLang="zh-CN" sz="2000"/>
          </a:p>
          <a:p>
            <a:endParaRPr lang="en-US" altLang="zh-CN" sz="2000"/>
          </a:p>
          <a:p>
            <a:r>
              <a:rPr lang="en-US" altLang="zh-CN" sz="2000"/>
              <a:t>#include &lt;stdio.h&gt;
int</a:t>
            </a:r>
            <a:r>
              <a:rPr lang="en-IN" altLang="en-US" sz="2000"/>
              <a:t> </a:t>
            </a:r>
            <a:r>
              <a:rPr lang="en-US" altLang="zh-CN" sz="2000"/>
              <a:t>main()
{
    int</a:t>
            </a:r>
            <a:r>
              <a:rPr lang="en-IN" altLang="en-US" sz="2000"/>
              <a:t> </a:t>
            </a:r>
            <a:r>
              <a:rPr lang="en-US" altLang="zh-CN" sz="2000"/>
              <a:t>arr[] = {10, 20, 30, 40, 50};
    int*p=&amp;arr[3];
    printf("Value = %d\n", *p);
    p--;
    printf("Value = %d\n", *p);
    return</a:t>
            </a:r>
            <a:r>
              <a:rPr lang="en-IN" altLang="en-US" sz="2000"/>
              <a:t> </a:t>
            </a:r>
            <a:r>
              <a:rPr lang="en-US" altLang="zh-CN" sz="2000"/>
              <a:t>0;
}</a:t>
            </a:r>
            <a:endParaRPr lang="en-US" altLang="zh-CN" sz="2000"/>
          </a:p>
          <a:p>
            <a:pPr>
              <a:spcAft>
                <a:spcPct val="60000"/>
              </a:spcAft>
            </a:pPr>
            <a:endParaRPr lang="en-US" altLang="zh-CN" sz="2000"/>
          </a:p>
        </p:txBody>
      </p:sp>
      <p:sp>
        <p:nvSpPr>
          <p:cNvPr id="3" name="Text Box 2"/>
          <p:cNvSpPr txBox="1"/>
          <p:nvPr/>
        </p:nvSpPr>
        <p:spPr>
          <a:xfrm>
            <a:off x="6773545" y="1564005"/>
            <a:ext cx="6096000" cy="46253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ct val="60000"/>
              </a:spcAft>
            </a:pPr>
            <a:r>
              <a:rPr lang="en-US" altLang="zh-CN" sz="2000" b="1">
                <a:sym typeface="+mn-ea"/>
              </a:rPr>
              <a:t>Output</a:t>
            </a:r>
            <a:endParaRPr lang="en-US" altLang="zh-CN" sz="2000" b="1"/>
          </a:p>
          <a:p>
            <a:r>
              <a:rPr lang="en-US" altLang="zh-CN" sz="2000">
                <a:sym typeface="+mn-ea"/>
              </a:rPr>
              <a:t>Value = 40
Value = 30</a:t>
            </a:r>
            <a:endParaRPr lang="en-US" altLang="zh-CN" sz="2000"/>
          </a:p>
          <a:p>
            <a:endParaRPr lang="en-US" altLang="zh-CN" sz="2000">
              <a:sym typeface="+mn-ea"/>
            </a:endParaRPr>
          </a:p>
          <a:p>
            <a:r>
              <a:rPr lang="en-IN" altLang="en-US" sz="2000" b="1">
                <a:sym typeface="+mn-ea"/>
              </a:rPr>
              <a:t>Explanation:</a:t>
            </a:r>
            <a:endParaRPr lang="en-US" altLang="zh-CN" sz="2000" b="1">
              <a:sym typeface="+mn-ea"/>
            </a:endParaRPr>
          </a:p>
          <a:p>
            <a:r>
              <a:rPr lang="en-US" altLang="zh-CN" sz="2000">
                <a:sym typeface="+mn-ea"/>
              </a:rPr>
              <a:t>Initially, p points to arr[3]:</a:t>
            </a:r>
            <a:endParaRPr lang="en-US" altLang="zh-CN" sz="2000"/>
          </a:p>
          <a:p>
            <a:r>
              <a:rPr lang="en-US" altLang="zh-CN" sz="2000">
                <a:sym typeface="+mn-ea"/>
              </a:rPr>
              <a:t>10   20   30   40   50
               ↑
               p</a:t>
            </a:r>
            <a:endParaRPr lang="en-US" altLang="zh-CN" sz="2000">
              <a:sym typeface="+mn-ea"/>
            </a:endParaRPr>
          </a:p>
          <a:p>
            <a:endParaRPr lang="en-US" altLang="zh-CN" sz="2000"/>
          </a:p>
          <a:p>
            <a:r>
              <a:rPr lang="en-US" altLang="zh-CN" sz="2000">
                <a:sym typeface="+mn-ea"/>
              </a:rPr>
              <a:t>After p--:</a:t>
            </a:r>
            <a:endParaRPr lang="en-US" altLang="zh-CN" sz="2000"/>
          </a:p>
          <a:p>
            <a:r>
              <a:rPr lang="en-US" altLang="zh-CN" sz="2000">
                <a:sym typeface="+mn-ea"/>
              </a:rPr>
              <a:t>10   20   30   40   50
          ↑
          p</a:t>
            </a:r>
            <a:endParaRPr lang="en-US" altLang="zh-CN" sz="2000"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737870" y="287655"/>
            <a:ext cx="5080000" cy="6282690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lang="en-US" altLang="zh-CN" sz="3600" b="1"/>
              <a:t>3. Pointer Addition p + n</a:t>
            </a:r>
            <a:endParaRPr lang="en-US" altLang="zh-CN" sz="3600" b="1"/>
          </a:p>
          <a:p>
            <a:r>
              <a:rPr lang="en-US" altLang="zh-CN" sz="2000"/>
              <a:t>We can add a number to a pointer.</a:t>
            </a:r>
            <a:endParaRPr lang="en-US" altLang="zh-CN" sz="2000"/>
          </a:p>
          <a:p>
            <a:endParaRPr lang="en-US" altLang="zh-CN" sz="2000"/>
          </a:p>
          <a:p>
            <a:r>
              <a:rPr lang="en-US" altLang="zh-CN" sz="2000"/>
              <a:t>#include &lt;stdio.h&gt;
int</a:t>
            </a:r>
            <a:r>
              <a:rPr lang="en-IN" altLang="en-US" sz="2000"/>
              <a:t> </a:t>
            </a:r>
            <a:r>
              <a:rPr lang="en-US" altLang="zh-CN" sz="2000"/>
              <a:t>main()
{
    int</a:t>
            </a:r>
            <a:r>
              <a:rPr lang="en-IN" altLang="en-US" sz="2000"/>
              <a:t> </a:t>
            </a:r>
            <a:r>
              <a:rPr lang="en-US" altLang="zh-CN" sz="2000"/>
              <a:t>arr[] = {10, 20, 30, 40, 50};
    int*p=arr;
    printf("%d\n", *(p+0));
    printf("%d\n", *(p+1));
    printf("%d\n", *(p+2));
    printf("%d\n", *(p+3));
    printf("%d\n", *(p+4));
    return</a:t>
            </a:r>
            <a:r>
              <a:rPr lang="en-IN" altLang="en-US" sz="2000"/>
              <a:t> </a:t>
            </a:r>
            <a:r>
              <a:rPr lang="en-US" altLang="zh-CN" sz="2000"/>
              <a:t>0;
}</a:t>
            </a:r>
            <a:endParaRPr lang="en-US" altLang="zh-CN" sz="2000"/>
          </a:p>
        </p:txBody>
      </p:sp>
      <p:sp>
        <p:nvSpPr>
          <p:cNvPr id="4" name="Text Box 3"/>
          <p:cNvSpPr txBox="1"/>
          <p:nvPr/>
        </p:nvSpPr>
        <p:spPr>
          <a:xfrm>
            <a:off x="6230620" y="880745"/>
            <a:ext cx="5080000" cy="580199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lang="en-US" altLang="zh-CN" sz="2400" b="1"/>
              <a:t>Output</a:t>
            </a:r>
            <a:endParaRPr lang="en-US" altLang="zh-CN" sz="2400" b="1"/>
          </a:p>
          <a:p>
            <a:r>
              <a:rPr lang="en-US" altLang="zh-CN"/>
              <a:t>10
20
30
40
50</a:t>
            </a:r>
            <a:endParaRPr lang="en-US" altLang="zh-CN"/>
          </a:p>
          <a:p>
            <a:pPr>
              <a:spcAft>
                <a:spcPct val="60000"/>
              </a:spcAft>
            </a:pPr>
            <a:r>
              <a:rPr lang="en-US" altLang="zh-CN" sz="2400" b="1"/>
              <a:t>Explanation</a:t>
            </a:r>
            <a:endParaRPr lang="en-US" altLang="zh-CN" sz="2400" b="1"/>
          </a:p>
          <a:p>
            <a:r>
              <a:rPr lang="en-US" altLang="zh-CN"/>
              <a:t>*(p+0)  →10
*(p+1)  →20
*(p+2)  →30
*(p+3)  →40
*(p+4)  →50</a:t>
            </a:r>
            <a:endParaRPr lang="en-US" altLang="zh-CN"/>
          </a:p>
          <a:p>
            <a:r>
              <a:rPr lang="en-US" altLang="zh-CN"/>
              <a:t>So:</a:t>
            </a:r>
            <a:endParaRPr lang="en-US" altLang="zh-CN"/>
          </a:p>
          <a:p>
            <a:r>
              <a:rPr lang="en-US" altLang="zh-CN"/>
              <a:t>p + 0 → arr[0]
p + 1 → arr[1]
p + 2 → arr[2]
p + 3 → arr[3]
p + 4 → arr[4]</a:t>
            </a:r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30555" y="287655"/>
            <a:ext cx="6049010" cy="628269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en-US" altLang="zh-CN" sz="3600" b="1"/>
              <a:t>4. Pointer Subtraction p - n</a:t>
            </a:r>
            <a:endParaRPr lang="en-US" altLang="zh-CN" sz="3600" b="1"/>
          </a:p>
          <a:p>
            <a:r>
              <a:rPr lang="en-US" altLang="zh-CN" sz="2000"/>
              <a:t>We can subtract a number from a pointer.</a:t>
            </a:r>
            <a:endParaRPr lang="en-US" altLang="zh-CN" sz="2000"/>
          </a:p>
          <a:p>
            <a:endParaRPr lang="en-US" altLang="zh-CN" sz="2000"/>
          </a:p>
          <a:p>
            <a:r>
              <a:rPr lang="en-US" altLang="zh-CN" sz="2000"/>
              <a:t>#include &lt;stdio.h&gt;
int</a:t>
            </a:r>
            <a:r>
              <a:rPr lang="en-IN" altLang="en-US" sz="2000"/>
              <a:t> </a:t>
            </a:r>
            <a:r>
              <a:rPr lang="en-US" altLang="zh-CN" sz="2000"/>
              <a:t>main()
{
    int</a:t>
            </a:r>
            <a:r>
              <a:rPr lang="en-IN" altLang="en-US" sz="2000"/>
              <a:t> </a:t>
            </a:r>
            <a:r>
              <a:rPr lang="en-US" altLang="zh-CN" sz="2000"/>
              <a:t>arr[] = {10, 20, 30, 40, 50};
    int*p=&amp;arr[4];
    printf("%d\n", *(p-0));
    printf("%d\n", *(p-1));
    printf("%d\n", *(p-2));
    printf("%d\n", *(p-3));
    printf("%d\n", *(p-4));
    return</a:t>
            </a:r>
            <a:r>
              <a:rPr lang="en-IN" altLang="en-US" sz="2000"/>
              <a:t> </a:t>
            </a:r>
            <a:r>
              <a:rPr lang="en-US" altLang="zh-CN" sz="2000"/>
              <a:t>0;
}</a:t>
            </a:r>
            <a:endParaRPr lang="en-US" altLang="zh-CN" sz="2000"/>
          </a:p>
        </p:txBody>
      </p:sp>
      <p:sp>
        <p:nvSpPr>
          <p:cNvPr id="3" name="Text Box 2"/>
          <p:cNvSpPr txBox="1"/>
          <p:nvPr/>
        </p:nvSpPr>
        <p:spPr>
          <a:xfrm>
            <a:off x="5952490" y="1368425"/>
            <a:ext cx="5080000" cy="4530090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lang="en-US" altLang="zh-CN" sz="2800" b="1"/>
              <a:t>Output</a:t>
            </a:r>
            <a:endParaRPr lang="en-US" altLang="zh-CN" sz="2800" b="1"/>
          </a:p>
          <a:p>
            <a:r>
              <a:rPr lang="en-US" altLang="zh-CN" sz="2000"/>
              <a:t>50
40
30
20
10</a:t>
            </a:r>
            <a:endParaRPr lang="en-US" altLang="zh-CN" sz="2000"/>
          </a:p>
          <a:p>
            <a:endParaRPr lang="en-US" altLang="zh-CN" sz="2000"/>
          </a:p>
          <a:p>
            <a:r>
              <a:rPr lang="en-US" altLang="zh-CN" sz="2000"/>
              <a:t>Because p initially points to 50.</a:t>
            </a:r>
            <a:endParaRPr lang="en-US" altLang="zh-CN" sz="2000"/>
          </a:p>
          <a:p>
            <a:r>
              <a:rPr lang="en-US" altLang="zh-CN" sz="2000"/>
              <a:t>p - 0 → 50
p - 1 → 40
p - 2 → 30
p - 3 → 20
p - 4 → 10</a:t>
            </a:r>
            <a:endParaRPr lang="en-US" altLang="zh-CN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3C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POINTER ARITHMETIC · 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11175" y="530352"/>
            <a:ext cx="10789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2800" b="1">
                <a:sym typeface="+mn-ea"/>
              </a:rPr>
              <a:t>5. Pointer Arithmetic Using *(p + i)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201400" cy="640080"/>
          </a:xfrm>
          <a:prstGeom prst="roundRect">
            <a:avLst>
              <a:gd name="adj" fmla="val 11429"/>
            </a:avLst>
          </a:prstGeom>
          <a:solidFill>
            <a:srgbClr val="0B1F2A"/>
          </a:solidFill>
        </p:spPr>
      </p:sp>
      <p:sp>
        <p:nvSpPr>
          <p:cNvPr id="5" name="Text 3"/>
          <p:cNvSpPr/>
          <p:nvPr/>
        </p:nvSpPr>
        <p:spPr>
          <a:xfrm>
            <a:off x="777240" y="1417320"/>
            <a:ext cx="10698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IN" alt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: Print every element of an array using pointer arithmetic instead of arr[i].</a:t>
            </a:r>
            <a:endParaRPr lang="en-US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2286000"/>
            <a:ext cx="6309360" cy="3291840"/>
          </a:xfrm>
          <a:prstGeom prst="roundRect">
            <a:avLst>
              <a:gd name="adj" fmla="val 1667"/>
            </a:avLst>
          </a:prstGeom>
          <a:solidFill>
            <a:srgbClr val="0F2A33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53912" y="239572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EE6C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58952" y="2432304"/>
            <a:ext cx="5797296" cy="2999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#include &lt;stdio.h&gt;
int main() {
    int arr[5] = {10, 20, 30, 40, 50};
    int *p = arr;   // p points to the first element
    for (int i = 0; i &lt; 5; i++) {
        printf("%d ", *(p + i));  // same as arr[i]
    }
    return 0;
}
</a:t>
            </a:r>
            <a:r>
              <a:rPr lang="en-US" sz="1400" dirty="0">
                <a:solidFill>
                  <a:srgbClr val="6FE7C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Output: 10 20 30 40 50</a:t>
            </a:r>
            <a:endParaRPr lang="en-US" sz="1400" dirty="0">
              <a:solidFill>
                <a:srgbClr val="6FE7CE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3 · Pointers &amp; Memory Management in 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0" y="6528816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900" dirty="0"/>
          </a:p>
        </p:txBody>
      </p:sp>
      <p:sp>
        <p:nvSpPr>
          <p:cNvPr id="24" name="Text Box 23"/>
          <p:cNvSpPr txBox="1"/>
          <p:nvPr/>
        </p:nvSpPr>
        <p:spPr>
          <a:xfrm>
            <a:off x="1447800" y="1635760"/>
            <a:ext cx="6096000" cy="2946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ct val="60000"/>
              </a:spcAft>
            </a:pPr>
            <a:r>
              <a:rPr lang="en-US" altLang="zh-CN" sz="2400" b="1">
                <a:sym typeface="+mn-ea"/>
              </a:rPr>
              <a:t>Explanation</a:t>
            </a:r>
            <a:endParaRPr lang="en-US" altLang="zh-CN" sz="2400" b="1"/>
          </a:p>
          <a:p>
            <a:r>
              <a:rPr lang="en-US" altLang="zh-CN">
                <a:sym typeface="+mn-ea"/>
              </a:rPr>
              <a:t>*(p+i)</a:t>
            </a:r>
            <a:endParaRPr lang="en-US" altLang="zh-CN"/>
          </a:p>
          <a:p>
            <a:r>
              <a:rPr lang="en-US" altLang="zh-CN">
                <a:sym typeface="+mn-ea"/>
              </a:rPr>
              <a:t>is used to access each element.</a:t>
            </a:r>
            <a:endParaRPr lang="en-US" altLang="zh-CN"/>
          </a:p>
          <a:p>
            <a:r>
              <a:rPr lang="en-US" altLang="zh-CN">
                <a:sym typeface="+mn-ea"/>
              </a:rPr>
              <a:t>For example:</a:t>
            </a:r>
            <a:endParaRPr lang="en-US" altLang="zh-CN"/>
          </a:p>
          <a:p>
            <a:r>
              <a:rPr lang="en-US" altLang="zh-CN">
                <a:sym typeface="+mn-ea"/>
              </a:rPr>
              <a:t>i = 0 → *(p + 0) → 10
i = 1 → *(p + 1) → 20
i = 2 → *(p + 2) → 30
i = 3 → *(p + 3) → 40
i = 4 → *(p + 4) → 50</a:t>
            </a:r>
            <a:endParaRPr lang="en-US" altLang="zh-CN">
              <a:sym typeface="+mn-ea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7200265" y="2432050"/>
            <a:ext cx="6096000" cy="2946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ct val="60000"/>
              </a:spcAft>
            </a:pPr>
            <a:r>
              <a:rPr lang="en-US" altLang="zh-CN" sz="2400" b="1">
                <a:sym typeface="+mn-ea"/>
              </a:rPr>
              <a:t>Explanation</a:t>
            </a:r>
            <a:endParaRPr lang="en-US" altLang="zh-CN" sz="2400" b="1"/>
          </a:p>
          <a:p>
            <a:r>
              <a:rPr lang="en-US" altLang="zh-CN">
                <a:sym typeface="+mn-ea"/>
              </a:rPr>
              <a:t>*(p+i)</a:t>
            </a:r>
            <a:endParaRPr lang="en-US" altLang="zh-CN"/>
          </a:p>
          <a:p>
            <a:r>
              <a:rPr lang="en-US" altLang="zh-CN">
                <a:sym typeface="+mn-ea"/>
              </a:rPr>
              <a:t>is used to access each element.</a:t>
            </a:r>
            <a:endParaRPr lang="en-US" altLang="zh-CN"/>
          </a:p>
          <a:p>
            <a:r>
              <a:rPr lang="en-US" altLang="zh-CN">
                <a:sym typeface="+mn-ea"/>
              </a:rPr>
              <a:t>For example:</a:t>
            </a:r>
            <a:endParaRPr lang="en-US" altLang="zh-CN"/>
          </a:p>
          <a:p>
            <a:r>
              <a:rPr lang="en-US" altLang="zh-CN">
                <a:sym typeface="+mn-ea"/>
              </a:rPr>
              <a:t>i = 0 → *(p + 0) → 10
i = 1 → *(p + 1) → 20
i = 2 → *(p + 2) → 30
i = 3 → *(p + 3) → 40
i = 4 → *(p + 4) → 50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20395" y="399415"/>
            <a:ext cx="7951470" cy="637730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en-US" altLang="zh-CN" sz="2800" b="1"/>
              <a:t>6. Pointer Arithmetic Using p++ in a Loop</a:t>
            </a:r>
            <a:endParaRPr lang="en-US" altLang="zh-CN" sz="2800" b="1"/>
          </a:p>
          <a:p>
            <a:r>
              <a:rPr lang="en-US" altLang="zh-CN" sz="2000"/>
              <a:t>We can also traverse an array by continuously incrementing the pointer.</a:t>
            </a:r>
            <a:endParaRPr lang="en-US" altLang="zh-CN" sz="2000"/>
          </a:p>
          <a:p>
            <a:endParaRPr lang="en-US" altLang="zh-CN" sz="2000"/>
          </a:p>
          <a:p>
            <a:r>
              <a:rPr lang="en-US" altLang="zh-CN" sz="2000"/>
              <a:t>#include &lt;stdio.h&gt;
int</a:t>
            </a:r>
            <a:r>
              <a:rPr lang="en-IN" altLang="en-US" sz="2000"/>
              <a:t> </a:t>
            </a:r>
            <a:r>
              <a:rPr lang="en-US" altLang="zh-CN" sz="2000"/>
              <a:t>main()
{
    int</a:t>
            </a:r>
            <a:r>
              <a:rPr lang="en-IN" altLang="en-US" sz="2000"/>
              <a:t> </a:t>
            </a:r>
            <a:r>
              <a:rPr lang="en-US" altLang="zh-CN" sz="2000"/>
              <a:t>arr[] = {10, 20, 30, 40, 50};
    int*p=arr;
    inti;
    for(i=0; i&lt;5; i++)
    {
        printf("%d ", *p);
        p++;
    }
    return</a:t>
            </a:r>
            <a:r>
              <a:rPr lang="en-IN" altLang="en-US" sz="2000"/>
              <a:t> </a:t>
            </a:r>
            <a:r>
              <a:rPr lang="en-US" altLang="zh-CN" sz="2000"/>
              <a:t>0;
}</a:t>
            </a:r>
            <a:endParaRPr lang="en-US" altLang="zh-CN" sz="2000"/>
          </a:p>
        </p:txBody>
      </p:sp>
      <p:sp>
        <p:nvSpPr>
          <p:cNvPr id="3" name="Text Box 2"/>
          <p:cNvSpPr txBox="1"/>
          <p:nvPr/>
        </p:nvSpPr>
        <p:spPr>
          <a:xfrm>
            <a:off x="6005830" y="1844357"/>
            <a:ext cx="5080000" cy="4417060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lang="en-US" altLang="zh-CN" sz="2400" b="1"/>
              <a:t>Output</a:t>
            </a:r>
            <a:endParaRPr lang="en-US" altLang="zh-CN" sz="2400" b="1"/>
          </a:p>
          <a:p>
            <a:r>
              <a:rPr lang="en-US" altLang="zh-CN"/>
              <a:t>10 20 30 40 50</a:t>
            </a:r>
            <a:endParaRPr lang="en-US" altLang="zh-CN"/>
          </a:p>
          <a:p>
            <a:endParaRPr lang="en-US" altLang="zh-CN"/>
          </a:p>
          <a:p>
            <a:pPr>
              <a:spcAft>
                <a:spcPct val="60000"/>
              </a:spcAft>
            </a:pPr>
            <a:r>
              <a:rPr lang="en-US" altLang="zh-CN" sz="2400" b="1"/>
              <a:t>How it works</a:t>
            </a:r>
            <a:endParaRPr lang="en-US" altLang="zh-CN" sz="2400" b="1"/>
          </a:p>
          <a:p>
            <a:r>
              <a:rPr lang="en-US" altLang="zh-CN"/>
              <a:t>Initially:</a:t>
            </a:r>
            <a:endParaRPr lang="en-US" altLang="zh-CN"/>
          </a:p>
          <a:p>
            <a:r>
              <a:rPr lang="en-US" altLang="zh-CN"/>
              <a:t>p → 10</a:t>
            </a:r>
            <a:endParaRPr lang="en-US" altLang="zh-CN"/>
          </a:p>
          <a:p>
            <a:r>
              <a:rPr lang="en-US" altLang="zh-CN"/>
              <a:t>First iteration:</a:t>
            </a:r>
            <a:endParaRPr lang="en-US" altLang="zh-CN"/>
          </a:p>
          <a:p>
            <a:r>
              <a:rPr lang="en-US" altLang="zh-CN"/>
              <a:t>printf("%d", *p);</a:t>
            </a:r>
            <a:endParaRPr lang="en-US" altLang="zh-CN"/>
          </a:p>
          <a:p>
            <a:r>
              <a:rPr lang="en-US" altLang="zh-CN"/>
              <a:t>prints 10.</a:t>
            </a:r>
            <a:endParaRPr lang="en-US" altLang="zh-CN"/>
          </a:p>
          <a:p>
            <a:r>
              <a:rPr lang="en-US" altLang="zh-CN"/>
              <a:t>Then:</a:t>
            </a:r>
            <a:endParaRPr lang="en-US" altLang="zh-CN"/>
          </a:p>
          <a:p>
            <a:r>
              <a:rPr lang="en-US" altLang="zh-CN"/>
              <a:t>p++;</a:t>
            </a:r>
            <a:endParaRPr lang="en-US" altLang="zh-CN"/>
          </a:p>
          <a:p>
            <a:r>
              <a:rPr lang="en-US" altLang="zh-CN"/>
              <a:t>moves to 20.</a:t>
            </a:r>
            <a:endParaRPr lang="en-US" altLang="zh-CN"/>
          </a:p>
          <a:p>
            <a:r>
              <a:rPr lang="en-US" altLang="zh-CN"/>
              <a:t>This continues until 50</a:t>
            </a:r>
            <a:endParaRPr lang="en-US"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30225" y="526415"/>
            <a:ext cx="8239760" cy="56673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en-US" altLang="zh-CN" sz="3600" b="1"/>
              <a:t>7. Difference Between Two Pointers</a:t>
            </a:r>
            <a:endParaRPr lang="en-US" altLang="zh-CN" sz="3600" b="1"/>
          </a:p>
          <a:p>
            <a:r>
              <a:rPr lang="en-US" altLang="zh-CN" sz="2000"/>
              <a:t>Two pointers pointing to elements of the same array can be subtracted.</a:t>
            </a:r>
            <a:endParaRPr lang="en-US" altLang="zh-CN" sz="2000"/>
          </a:p>
          <a:p>
            <a:endParaRPr lang="en-US" altLang="zh-CN" sz="2000"/>
          </a:p>
          <a:p>
            <a:r>
              <a:rPr lang="en-US" altLang="zh-CN" sz="2000"/>
              <a:t>#include &lt;stdio.h&gt;
int</a:t>
            </a:r>
            <a:r>
              <a:rPr lang="en-IN" altLang="en-US" sz="2000"/>
              <a:t> </a:t>
            </a:r>
            <a:r>
              <a:rPr lang="en-US" altLang="zh-CN" sz="2000"/>
              <a:t>main()
{
    int</a:t>
            </a:r>
            <a:r>
              <a:rPr lang="en-IN" altLang="en-US" sz="2000"/>
              <a:t> </a:t>
            </a:r>
            <a:r>
              <a:rPr lang="en-US" altLang="zh-CN" sz="2000"/>
              <a:t>arr[] = {10, 20, 30, 40, 50};
    int*p1=&amp;arr[1];
    int*p2=&amp;arr[4];
    printf("Difference = %td\n", p2-p1);
    return</a:t>
            </a:r>
            <a:r>
              <a:rPr lang="en-IN" altLang="en-US" sz="2000"/>
              <a:t> </a:t>
            </a:r>
            <a:r>
              <a:rPr lang="en-US" altLang="zh-CN" sz="2000"/>
              <a:t>0;
}</a:t>
            </a:r>
            <a:endParaRPr lang="en-US" altLang="zh-CN" sz="2000"/>
          </a:p>
        </p:txBody>
      </p:sp>
      <p:sp>
        <p:nvSpPr>
          <p:cNvPr id="3" name="Text Box 2"/>
          <p:cNvSpPr txBox="1"/>
          <p:nvPr/>
        </p:nvSpPr>
        <p:spPr>
          <a:xfrm>
            <a:off x="5521960" y="2314575"/>
            <a:ext cx="6183630" cy="39147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en-US" altLang="zh-CN" sz="2800" b="1"/>
              <a:t>Output</a:t>
            </a:r>
            <a:endParaRPr lang="en-US" altLang="zh-CN" sz="2800" b="1"/>
          </a:p>
          <a:p>
            <a:r>
              <a:rPr lang="en-US" altLang="zh-CN" sz="2000"/>
              <a:t>Difference = 3</a:t>
            </a:r>
            <a:endParaRPr lang="en-US" altLang="zh-CN" sz="2000"/>
          </a:p>
          <a:p>
            <a:endParaRPr lang="en-US" altLang="zh-CN" sz="2000"/>
          </a:p>
          <a:p>
            <a:r>
              <a:rPr lang="en-US" altLang="zh-CN" sz="2000"/>
              <a:t>Why?</a:t>
            </a:r>
            <a:endParaRPr lang="en-US" altLang="zh-CN" sz="2000"/>
          </a:p>
          <a:p>
            <a:r>
              <a:rPr lang="en-US" altLang="zh-CN" sz="2000"/>
              <a:t>10    20    30    40    50
      ↑                 ↑
     p1                p2</a:t>
            </a:r>
            <a:endParaRPr lang="en-US" altLang="zh-CN" sz="2000"/>
          </a:p>
          <a:p>
            <a:r>
              <a:rPr lang="en-US" altLang="zh-CN" sz="2000"/>
              <a:t>There are 3 array positions between them:</a:t>
            </a:r>
            <a:endParaRPr lang="en-US" altLang="zh-CN" sz="2000"/>
          </a:p>
          <a:p>
            <a:r>
              <a:rPr lang="en-US" altLang="zh-CN" sz="2000"/>
              <a:t>p2 - p1 = 4 - 1 = 3</a:t>
            </a:r>
            <a:endParaRPr lang="en-US" altLang="zh-CN" sz="2000"/>
          </a:p>
          <a:p>
            <a:r>
              <a:rPr lang="zh-CN" altLang="en-US" sz="2000"/>
              <a:t>⚠</a:t>
            </a:r>
            <a:r>
              <a:rPr lang="en-US" altLang="zh-CN" sz="2000"/>
              <a:t>️ Notice that the answer is 3, not the difference in memory addresses.</a:t>
            </a:r>
            <a:endParaRPr lang="en-US" altLang="zh-CN"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21665" y="203835"/>
            <a:ext cx="6846570" cy="665416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en-US" altLang="zh-CN" sz="2800" b="1"/>
              <a:t>8. Pointer Arithmetic with char</a:t>
            </a:r>
            <a:endParaRPr lang="en-US" altLang="zh-CN" sz="2800" b="1"/>
          </a:p>
          <a:p>
            <a:r>
              <a:rPr lang="en-US" altLang="zh-CN"/>
              <a:t>For a char pointer, moving one position normally moves by 1 byte.</a:t>
            </a:r>
            <a:endParaRPr lang="en-US" altLang="zh-CN"/>
          </a:p>
          <a:p>
            <a:r>
              <a:rPr lang="en-US" altLang="zh-CN"/>
              <a:t>#include &lt;stdio.h&gt;
int</a:t>
            </a:r>
            <a:r>
              <a:rPr lang="en-IN" altLang="en-US"/>
              <a:t> </a:t>
            </a:r>
            <a:r>
              <a:rPr lang="en-US" altLang="zh-CN"/>
              <a:t>main()
{
    char</a:t>
            </a:r>
            <a:r>
              <a:rPr lang="en-IN" altLang="en-US"/>
              <a:t> </a:t>
            </a:r>
            <a:r>
              <a:rPr lang="en-US" altLang="zh-CN"/>
              <a:t>arr[] = {'A', 'B', 'C', 'D'};
    char*p=arr;
    printf("%c\n", *p);
    p++;
    printf("%c\n", *p);
    p++;
    printf("%c\n", *p);
    return</a:t>
            </a:r>
            <a:r>
              <a:rPr lang="en-IN" altLang="en-US"/>
              <a:t> </a:t>
            </a:r>
            <a:r>
              <a:rPr lang="en-US" altLang="zh-CN"/>
              <a:t>0;
}</a:t>
            </a:r>
            <a:endParaRPr lang="en-US" altLang="zh-CN"/>
          </a:p>
        </p:txBody>
      </p:sp>
      <p:sp>
        <p:nvSpPr>
          <p:cNvPr id="3" name="Text Box 2"/>
          <p:cNvSpPr txBox="1"/>
          <p:nvPr/>
        </p:nvSpPr>
        <p:spPr>
          <a:xfrm>
            <a:off x="5822315" y="2406650"/>
            <a:ext cx="6096000" cy="14160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ct val="60000"/>
              </a:spcAft>
            </a:pPr>
            <a:r>
              <a:rPr lang="en-US" altLang="zh-CN" sz="2200" b="1">
                <a:sym typeface="+mn-ea"/>
              </a:rPr>
              <a:t>Output</a:t>
            </a:r>
            <a:endParaRPr lang="en-US" altLang="zh-CN" sz="2200" b="1"/>
          </a:p>
          <a:p>
            <a:r>
              <a:rPr lang="en-US" altLang="zh-CN" sz="1600">
                <a:sym typeface="+mn-ea"/>
              </a:rPr>
              <a:t>A
B
C</a:t>
            </a:r>
            <a:endParaRPr lang="en-US" altLang="zh-CN" sz="1600"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67995" y="334010"/>
            <a:ext cx="6479540" cy="606933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en-US" altLang="zh-CN" sz="2800" b="1"/>
              <a:t>9. Pointer Arithmetic with double</a:t>
            </a:r>
            <a:endParaRPr lang="en-US" altLang="zh-CN" sz="2800" b="1"/>
          </a:p>
          <a:p>
            <a:r>
              <a:rPr lang="en-US" altLang="zh-CN" sz="2000"/>
              <a:t>Pointer arithmetic depends on the data type.</a:t>
            </a:r>
            <a:endParaRPr lang="en-US" altLang="zh-CN" sz="2000"/>
          </a:p>
          <a:p>
            <a:r>
              <a:rPr lang="en-US" altLang="zh-CN" sz="2000"/>
              <a:t>#include &lt;stdio.h&gt;
int</a:t>
            </a:r>
            <a:r>
              <a:rPr lang="en-IN" altLang="en-US" sz="2000"/>
              <a:t> </a:t>
            </a:r>
            <a:r>
              <a:rPr lang="en-US" altLang="zh-CN" sz="2000"/>
              <a:t>main()
{
    double</a:t>
            </a:r>
            <a:r>
              <a:rPr lang="en-IN" altLang="en-US" sz="2000"/>
              <a:t> </a:t>
            </a:r>
            <a:r>
              <a:rPr lang="en-US" altLang="zh-CN" sz="2000"/>
              <a:t>arr[] = {10.5, 20.5, 30.5};
    double*p=arr;
    printf("%.1lf\n", *p);
    p++;
    printf("%.1lf\n", *p);
    return</a:t>
            </a:r>
            <a:r>
              <a:rPr lang="en-IN" altLang="en-US" sz="2000"/>
              <a:t> </a:t>
            </a:r>
            <a:r>
              <a:rPr lang="en-US" altLang="zh-CN" sz="2000"/>
              <a:t>0;
}</a:t>
            </a:r>
            <a:endParaRPr lang="en-US" altLang="zh-CN" sz="2000"/>
          </a:p>
        </p:txBody>
      </p:sp>
      <p:sp>
        <p:nvSpPr>
          <p:cNvPr id="3" name="Text Box 2"/>
          <p:cNvSpPr txBox="1"/>
          <p:nvPr/>
        </p:nvSpPr>
        <p:spPr>
          <a:xfrm>
            <a:off x="5450205" y="2148840"/>
            <a:ext cx="5080000" cy="190817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lang="en-US" altLang="zh-CN" sz="2200" b="1"/>
              <a:t>Output</a:t>
            </a:r>
            <a:endParaRPr lang="en-US" altLang="zh-CN" sz="2200" b="1"/>
          </a:p>
          <a:p>
            <a:r>
              <a:rPr lang="en-US" altLang="zh-CN" sz="2000"/>
              <a:t>10.5
20.5</a:t>
            </a:r>
            <a:endParaRPr lang="en-US" altLang="zh-CN" sz="2000"/>
          </a:p>
          <a:p>
            <a:r>
              <a:rPr lang="en-US" altLang="zh-CN" sz="2000"/>
              <a:t>Here p++ moves to the next double, whatever its size is on the implementation.</a:t>
            </a:r>
            <a:endParaRPr lang="en-US" altLang="zh-CN"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65480" y="389255"/>
            <a:ext cx="7286625" cy="545338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en-US" altLang="zh-CN" sz="2800" b="1"/>
              <a:t>10. Pointer Arithmetic and Array Indexing</a:t>
            </a:r>
            <a:endParaRPr lang="en-US" altLang="zh-CN" sz="2800" b="1"/>
          </a:p>
          <a:p>
            <a:r>
              <a:rPr lang="en-US" altLang="zh-CN" sz="2000"/>
              <a:t>An important relationship in C is:</a:t>
            </a:r>
            <a:endParaRPr lang="en-US" altLang="zh-CN" sz="2000"/>
          </a:p>
          <a:p>
            <a:r>
              <a:rPr lang="en-US" altLang="zh-CN" sz="2000"/>
              <a:t>arr[i] ==*(arr+i)</a:t>
            </a:r>
            <a:endParaRPr lang="en-US" altLang="zh-CN" sz="2000"/>
          </a:p>
          <a:p>
            <a:endParaRPr lang="en-US" altLang="zh-CN" sz="2000"/>
          </a:p>
          <a:p>
            <a:r>
              <a:rPr lang="en-US" altLang="zh-CN" sz="2000"/>
              <a:t>Example:</a:t>
            </a:r>
            <a:endParaRPr lang="en-US" altLang="zh-CN" sz="2000"/>
          </a:p>
          <a:p>
            <a:r>
              <a:rPr lang="en-US" altLang="zh-CN" sz="2000"/>
              <a:t>#include &lt;stdio.h&gt;
int</a:t>
            </a:r>
            <a:r>
              <a:rPr lang="en-IN" altLang="en-US" sz="2000"/>
              <a:t> </a:t>
            </a:r>
            <a:r>
              <a:rPr lang="en-US" altLang="zh-CN" sz="2000"/>
              <a:t>main()
{
    int</a:t>
            </a:r>
            <a:r>
              <a:rPr lang="en-IN" altLang="en-US" sz="2000"/>
              <a:t> </a:t>
            </a:r>
            <a:r>
              <a:rPr lang="en-US" altLang="zh-CN" sz="2000"/>
              <a:t>arr[] = {10, 20, 30, 40, 50};
    printf("Using array: %d\n", arr[2]);
    printf("Using pointer: %d\n", *(arr+2));
    return</a:t>
            </a:r>
            <a:r>
              <a:rPr lang="en-IN" altLang="en-US" sz="2000"/>
              <a:t> </a:t>
            </a:r>
            <a:r>
              <a:rPr lang="en-US" altLang="zh-CN" sz="2000"/>
              <a:t>0;
}</a:t>
            </a:r>
            <a:endParaRPr lang="en-US" altLang="zh-CN" sz="2000"/>
          </a:p>
        </p:txBody>
      </p:sp>
      <p:sp>
        <p:nvSpPr>
          <p:cNvPr id="3" name="Text Box 2"/>
          <p:cNvSpPr txBox="1"/>
          <p:nvPr/>
        </p:nvSpPr>
        <p:spPr>
          <a:xfrm>
            <a:off x="6814820" y="2162175"/>
            <a:ext cx="5080000" cy="1292860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lang="en-US" altLang="zh-CN" sz="2200" b="1"/>
              <a:t>Output</a:t>
            </a:r>
            <a:endParaRPr lang="en-US" altLang="zh-CN" sz="2200" b="1"/>
          </a:p>
          <a:p>
            <a:r>
              <a:rPr lang="en-US" altLang="zh-CN" sz="2000"/>
              <a:t>Using array: 30
Using pointer: 30</a:t>
            </a:r>
            <a:endParaRPr lang="en-US" altLang="zh-CN"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29285" y="708660"/>
            <a:ext cx="8892540" cy="545338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60000"/>
              </a:spcAft>
            </a:pPr>
            <a:r>
              <a:rPr lang="en-US" altLang="zh-CN" sz="2800" b="1"/>
              <a:t>11. Printing Array in Reverse Using Pointer Arithmetic</a:t>
            </a:r>
            <a:endParaRPr lang="en-US" altLang="zh-CN" sz="1600"/>
          </a:p>
          <a:p>
            <a:r>
              <a:rPr lang="en-US" altLang="zh-CN" sz="2000"/>
              <a:t>#include &lt;stdio.h&gt;
int</a:t>
            </a:r>
            <a:r>
              <a:rPr lang="en-IN" altLang="en-US" sz="2000"/>
              <a:t> </a:t>
            </a:r>
            <a:r>
              <a:rPr lang="en-US" altLang="zh-CN" sz="2000"/>
              <a:t>main()
{
    int</a:t>
            </a:r>
            <a:r>
              <a:rPr lang="en-IN" altLang="en-US" sz="2000"/>
              <a:t> </a:t>
            </a:r>
            <a:r>
              <a:rPr lang="en-US" altLang="zh-CN" sz="2000"/>
              <a:t>arr[] = {10, 20, 30, 40, 50};
    int*p=&amp;arr[4];
    while(p&gt;=arr)
    {
        printf("%d ", *p);
        p--;
    }
    return</a:t>
            </a:r>
            <a:r>
              <a:rPr lang="en-IN" altLang="en-US" sz="2000"/>
              <a:t> </a:t>
            </a:r>
            <a:r>
              <a:rPr lang="en-US" altLang="zh-CN" sz="2000"/>
              <a:t>0;
}</a:t>
            </a:r>
            <a:endParaRPr lang="en-US" altLang="zh-CN" sz="2000"/>
          </a:p>
        </p:txBody>
      </p:sp>
      <p:sp>
        <p:nvSpPr>
          <p:cNvPr id="3" name="Text Box 2"/>
          <p:cNvSpPr txBox="1"/>
          <p:nvPr/>
        </p:nvSpPr>
        <p:spPr>
          <a:xfrm>
            <a:off x="5997575" y="2351723"/>
            <a:ext cx="5080000" cy="252412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lang="en-US" altLang="zh-CN" sz="2200" b="1"/>
              <a:t>Output</a:t>
            </a:r>
            <a:endParaRPr lang="en-US" altLang="zh-CN" sz="2200" b="1"/>
          </a:p>
          <a:p>
            <a:r>
              <a:rPr lang="en-US" altLang="zh-CN" sz="2000"/>
              <a:t>50 40 30 20 10</a:t>
            </a:r>
            <a:endParaRPr lang="en-US" altLang="zh-CN" sz="2000"/>
          </a:p>
          <a:p>
            <a:r>
              <a:rPr lang="en-US" altLang="zh-CN" sz="2000"/>
              <a:t>The pointer starts at the last element:</a:t>
            </a:r>
            <a:endParaRPr lang="en-US" altLang="zh-CN" sz="2000"/>
          </a:p>
          <a:p>
            <a:r>
              <a:rPr lang="en-US" altLang="zh-CN" sz="2000"/>
              <a:t>10  20  30  40  50
                ↑
                p</a:t>
            </a:r>
            <a:endParaRPr lang="en-US" altLang="zh-CN" sz="2000"/>
          </a:p>
          <a:p>
            <a:r>
              <a:rPr lang="en-US" altLang="zh-CN" sz="2000"/>
              <a:t>Then p-- moves backward.</a:t>
            </a:r>
            <a:endParaRPr lang="en-US" altLang="zh-CN"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3C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DYNAMIC MEMORY · WHY?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do we need dynamic memory?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normal array like </a:t>
            </a:r>
            <a:r>
              <a:rPr lang="en-US" b="1" dirty="0">
                <a:solidFill>
                  <a:srgbClr val="123C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arr[5];</a:t>
            </a:r>
            <a:r>
              <a:rPr lang="en-US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has a fixed size decided while writing the program. But sometimes we don't know the size until the program is actually running — for example, the user tells us how many numbers they want to enter. Dynamic memory allocation lets us ask the computer for memory </a:t>
            </a:r>
            <a:r>
              <a:rPr lang="en-US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while the program runs</a:t>
            </a:r>
            <a:r>
              <a:rPr lang="en-US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 from a memory area called the </a:t>
            </a:r>
            <a:r>
              <a:rPr lang="en-US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heap</a:t>
            </a:r>
            <a:r>
              <a:rPr lang="en-US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 All 4 functions below are declared in </a:t>
            </a:r>
            <a:r>
              <a:rPr lang="en-US" b="1" dirty="0">
                <a:solidFill>
                  <a:srgbClr val="123C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&lt;stdlib.h&gt;</a:t>
            </a:r>
            <a:r>
              <a:rPr lang="en-US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502920" y="292608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5F8F9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731520" y="315468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0B1F2A"/>
          </a:solidFill>
        </p:spPr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731520" y="3154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731520" y="3749040"/>
            <a:ext cx="2240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C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malloc()</a:t>
            </a:r>
            <a:endParaRPr lang="en-US" b="1" dirty="0">
              <a:solidFill>
                <a:srgbClr val="123C4D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9" name="Text 7"/>
          <p:cNvSpPr/>
          <p:nvPr>
            <p:custDataLst>
              <p:tags r:id="rId5"/>
            </p:custDataLst>
          </p:nvPr>
        </p:nvSpPr>
        <p:spPr>
          <a:xfrm>
            <a:off x="731520" y="4160520"/>
            <a:ext cx="224028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Allocates a block of memory of a given size (values start as garbage)</a:t>
            </a:r>
            <a:endParaRPr lang="en-US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Shape 8"/>
          <p:cNvSpPr/>
          <p:nvPr>
            <p:custDataLst>
              <p:tags r:id="rId6"/>
            </p:custDataLst>
          </p:nvPr>
        </p:nvSpPr>
        <p:spPr>
          <a:xfrm>
            <a:off x="3429000" y="292608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5F8F9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3657600" y="315468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0B1F2A"/>
          </a:solidFill>
        </p:spPr>
      </p:sp>
      <p:sp>
        <p:nvSpPr>
          <p:cNvPr id="12" name="Text 10"/>
          <p:cNvSpPr/>
          <p:nvPr>
            <p:custDataLst>
              <p:tags r:id="rId8"/>
            </p:custDataLst>
          </p:nvPr>
        </p:nvSpPr>
        <p:spPr>
          <a:xfrm>
            <a:off x="3657600" y="3154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3657600" y="3749040"/>
            <a:ext cx="2240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C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calloc()</a:t>
            </a:r>
            <a:endParaRPr lang="en-US" b="1" dirty="0">
              <a:solidFill>
                <a:srgbClr val="123C4D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3657600" y="4160520"/>
            <a:ext cx="224028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Allocates memory for many items and sets everything to 0</a:t>
            </a:r>
            <a:endParaRPr lang="en-US" sz="2000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Shape 13"/>
          <p:cNvSpPr/>
          <p:nvPr>
            <p:custDataLst>
              <p:tags r:id="rId11"/>
            </p:custDataLst>
          </p:nvPr>
        </p:nvSpPr>
        <p:spPr>
          <a:xfrm>
            <a:off x="6355080" y="292608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5F8F9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16" name="Shape 14"/>
          <p:cNvSpPr/>
          <p:nvPr>
            <p:custDataLst>
              <p:tags r:id="rId12"/>
            </p:custDataLst>
          </p:nvPr>
        </p:nvSpPr>
        <p:spPr>
          <a:xfrm>
            <a:off x="6583680" y="315468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0B1F2A"/>
          </a:solidFill>
        </p:spPr>
      </p:sp>
      <p:sp>
        <p:nvSpPr>
          <p:cNvPr id="17" name="Text 15"/>
          <p:cNvSpPr/>
          <p:nvPr>
            <p:custDataLst>
              <p:tags r:id="rId13"/>
            </p:custDataLst>
          </p:nvPr>
        </p:nvSpPr>
        <p:spPr>
          <a:xfrm>
            <a:off x="6583680" y="3154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>
            <p:custDataLst>
              <p:tags r:id="rId14"/>
            </p:custDataLst>
          </p:nvPr>
        </p:nvSpPr>
        <p:spPr>
          <a:xfrm>
            <a:off x="6583680" y="3749040"/>
            <a:ext cx="2240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C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realloc()</a:t>
            </a:r>
            <a:endParaRPr lang="en-US" b="1" dirty="0">
              <a:solidFill>
                <a:srgbClr val="123C4D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19" name="Text 17"/>
          <p:cNvSpPr/>
          <p:nvPr>
            <p:custDataLst>
              <p:tags r:id="rId15"/>
            </p:custDataLst>
          </p:nvPr>
        </p:nvSpPr>
        <p:spPr>
          <a:xfrm>
            <a:off x="6583680" y="4160520"/>
            <a:ext cx="224028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Resizes a memory block that was allocated earlier</a:t>
            </a:r>
            <a:endParaRPr lang="en-US" sz="2000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Shape 18"/>
          <p:cNvSpPr/>
          <p:nvPr>
            <p:custDataLst>
              <p:tags r:id="rId16"/>
            </p:custDataLst>
          </p:nvPr>
        </p:nvSpPr>
        <p:spPr>
          <a:xfrm>
            <a:off x="9281160" y="2926080"/>
            <a:ext cx="2697480" cy="3108960"/>
          </a:xfrm>
          <a:prstGeom prst="roundRect">
            <a:avLst>
              <a:gd name="adj" fmla="val 2712"/>
            </a:avLst>
          </a:prstGeom>
          <a:solidFill>
            <a:srgbClr val="F5F8F9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21" name="Shape 19"/>
          <p:cNvSpPr/>
          <p:nvPr>
            <p:custDataLst>
              <p:tags r:id="rId17"/>
            </p:custDataLst>
          </p:nvPr>
        </p:nvSpPr>
        <p:spPr>
          <a:xfrm>
            <a:off x="9509760" y="3154680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0B1F2A"/>
          </a:solidFill>
        </p:spPr>
      </p:sp>
      <p:sp>
        <p:nvSpPr>
          <p:cNvPr id="22" name="Text 20"/>
          <p:cNvSpPr/>
          <p:nvPr>
            <p:custDataLst>
              <p:tags r:id="rId18"/>
            </p:custDataLst>
          </p:nvPr>
        </p:nvSpPr>
        <p:spPr>
          <a:xfrm>
            <a:off x="9509760" y="3154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>
            <p:custDataLst>
              <p:tags r:id="rId19"/>
            </p:custDataLst>
          </p:nvPr>
        </p:nvSpPr>
        <p:spPr>
          <a:xfrm>
            <a:off x="9509760" y="3749040"/>
            <a:ext cx="22402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C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free()</a:t>
            </a:r>
            <a:endParaRPr lang="en-US" b="1" dirty="0">
              <a:solidFill>
                <a:srgbClr val="123C4D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24" name="Text 22"/>
          <p:cNvSpPr/>
          <p:nvPr>
            <p:custDataLst>
              <p:tags r:id="rId20"/>
            </p:custDataLst>
          </p:nvPr>
        </p:nvSpPr>
        <p:spPr>
          <a:xfrm>
            <a:off x="9509760" y="4160520"/>
            <a:ext cx="224028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Gives the memory back to the system when we're done with it</a:t>
            </a:r>
            <a:endParaRPr lang="en-US" sz="2000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3 · Pointers &amp; Memory Management in 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0" y="6528816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3C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DYNAMIC MEMORY · MALLOC()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malloc() — allocate memory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Syntax:</a:t>
            </a:r>
            <a:endParaRPr lang="en-US" b="1" dirty="0">
              <a:solidFill>
                <a:srgbClr val="16232B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92760" y="1737360"/>
            <a:ext cx="5588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23C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ptr = (type *) malloc(numberOfItems * sizeof(type));</a:t>
            </a:r>
            <a:endParaRPr lang="en-US" sz="1600" b="1" dirty="0">
              <a:solidFill>
                <a:srgbClr val="123C4D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2974340"/>
            <a:ext cx="557784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malloc means "memory allocation" — it reserves a block of bytes and returns its address.</a:t>
            </a:r>
            <a:endParaRPr lang="en-US" dirty="0"/>
          </a:p>
          <a:p>
            <a:pPr marL="342900" indent="-3429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values inside are NOT set to anything — they contain leftover garbage.</a:t>
            </a:r>
            <a:endParaRPr lang="en-US" dirty="0"/>
          </a:p>
          <a:p>
            <a:pPr marL="342900" indent="-3429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there isn't enough memory available, malloc() returns NULL — always check for this.</a:t>
            </a:r>
            <a:endParaRPr lang="en-US" dirty="0"/>
          </a:p>
          <a:p>
            <a:pPr marL="342900" indent="-342900">
              <a:lnSpc>
                <a:spcPct val="145000"/>
              </a:lnSpc>
              <a:spcAft>
                <a:spcPts val="900"/>
              </a:spcAft>
              <a:buSzPct val="100000"/>
              <a:buChar char="•"/>
            </a:pPr>
            <a:r>
              <a:rPr lang="en-US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sizeof(type) so the program works correctly on any computer.</a:t>
            </a:r>
            <a:endParaRPr lang="en-US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309360" y="816610"/>
            <a:ext cx="5394960" cy="5538470"/>
          </a:xfrm>
          <a:prstGeom prst="roundRect">
            <a:avLst>
              <a:gd name="adj" fmla="val 1111"/>
            </a:avLst>
          </a:prstGeom>
          <a:solidFill>
            <a:srgbClr val="0F2A33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045952" y="152704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EE6C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65392" y="985774"/>
            <a:ext cx="4882896" cy="46451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#include &lt;stdio.h&gt;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#include &lt;stdlib.h&gt;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main(){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int n,i;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printf("enter n value: ");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scanf("%d\n",&amp;n);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int *arr;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arr = (int *)malloc(n * sizeof(int));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if (arr == NULL){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printf("Memory allocation failed\n");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return 1;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for (i = 0; i &lt; n; i++){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arr[i] = i * 10;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for (i = 0; i &lt; n; i++){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printf("%d ", arr[i]);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free(arr);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 0;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//output: enter n value: 5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457200" lvl="1" indent="45720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0 10 20 30 40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3 · Pointers &amp; Memory Management in 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0" y="6528816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23C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DYNAMIC MEMORY · CALLOC()</a:t>
            </a:r>
            <a:endParaRPr lang="en-US" sz="1400" b="1" kern="0" spc="200" dirty="0">
              <a:solidFill>
                <a:srgbClr val="123C4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calloc() — allocate &amp; clear memory</a:t>
            </a:r>
            <a:endParaRPr lang="en-US" sz="3200" b="1" dirty="0">
              <a:solidFill>
                <a:srgbClr val="16232B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C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Syntax:   ptr = (type *) calloc(numberOfItems, sizeof(type));</a:t>
            </a:r>
            <a:endParaRPr lang="en-US" b="1" dirty="0">
              <a:solidFill>
                <a:srgbClr val="123C4D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943600" cy="4434840"/>
          </a:xfrm>
          <a:prstGeom prst="roundRect">
            <a:avLst>
              <a:gd name="adj" fmla="val 1237"/>
            </a:avLst>
          </a:prstGeom>
          <a:solidFill>
            <a:srgbClr val="0F2A33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88152" y="198424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EE6C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600" b="1" dirty="0">
              <a:solidFill>
                <a:srgbClr val="0B1F2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8952" y="2020824"/>
            <a:ext cx="5431536" cy="4142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#include &lt;stdio.h&gt;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#include &lt;stdlib.h&gt;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main(){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int n = 5,i;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int *arr;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arr = (int *)calloc(n, sizeof(int));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if (arr == NULL){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printf("Memory allocation failed\n");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return 1;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for (i = 0; i &lt; n; i++){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printf("%d ", arr[i]);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free(arr);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 0;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//output: 0 0 0 0 0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675120" y="187452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malloc() vs. calloc()</a:t>
            </a:r>
            <a:endParaRPr lang="en-US" sz="2000" b="1" dirty="0">
              <a:solidFill>
                <a:srgbClr val="16232B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675120" y="2286000"/>
            <a:ext cx="4800600" cy="411480"/>
          </a:xfrm>
          <a:prstGeom prst="roundRect">
            <a:avLst>
              <a:gd name="adj" fmla="val 11111"/>
            </a:avLst>
          </a:prstGeom>
          <a:solidFill>
            <a:srgbClr val="0B1F2A"/>
          </a:solidFill>
        </p:spPr>
      </p:sp>
      <p:sp>
        <p:nvSpPr>
          <p:cNvPr id="10" name="Text 8"/>
          <p:cNvSpPr/>
          <p:nvPr/>
        </p:nvSpPr>
        <p:spPr>
          <a:xfrm>
            <a:off x="6748272" y="228600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68512" y="2286000"/>
            <a:ext cx="15087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malloc()</a:t>
            </a:r>
            <a:endParaRPr lang="en-US" sz="1600" b="1" dirty="0">
              <a:solidFill>
                <a:srgbClr val="FFFFFF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268712" y="2286000"/>
            <a:ext cx="11887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calloc()</a:t>
            </a:r>
            <a:endParaRPr lang="en-US" sz="1600" b="1" dirty="0">
              <a:solidFill>
                <a:srgbClr val="FFFFFF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675120" y="2697480"/>
            <a:ext cx="4800600" cy="685800"/>
          </a:xfrm>
          <a:prstGeom prst="rect">
            <a:avLst/>
          </a:prstGeom>
          <a:solidFill>
            <a:srgbClr val="F5F8F9"/>
          </a:solidFill>
        </p:spPr>
      </p:sp>
      <p:sp>
        <p:nvSpPr>
          <p:cNvPr id="14" name="Text 12"/>
          <p:cNvSpPr/>
          <p:nvPr/>
        </p:nvSpPr>
        <p:spPr>
          <a:xfrm>
            <a:off x="6748272" y="2697480"/>
            <a:ext cx="1828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Arguments</a:t>
            </a:r>
            <a:endParaRPr lang="en-US" sz="1400" b="1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668512" y="2697480"/>
            <a:ext cx="15087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(total bytes)</a:t>
            </a:r>
            <a:endParaRPr lang="en-US" sz="1400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268712" y="2697480"/>
            <a:ext cx="11887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(count, size of each)</a:t>
            </a:r>
            <a:endParaRPr lang="en-US" sz="1400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748272" y="3383280"/>
            <a:ext cx="1828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Initial values</a:t>
            </a:r>
            <a:endParaRPr lang="en-US" sz="1400" b="1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668512" y="3383280"/>
            <a:ext cx="15087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Garbage (unknown)</a:t>
            </a:r>
            <a:endParaRPr lang="en-US" sz="1400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268712" y="3383280"/>
            <a:ext cx="118872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set to 0</a:t>
            </a:r>
            <a:endParaRPr lang="en-US" sz="1400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675120" y="4069080"/>
            <a:ext cx="4969510" cy="685800"/>
          </a:xfrm>
          <a:prstGeom prst="rect">
            <a:avLst/>
          </a:prstGeom>
          <a:solidFill>
            <a:srgbClr val="F5F8F9"/>
          </a:solidFill>
        </p:spPr>
      </p:sp>
      <p:sp>
        <p:nvSpPr>
          <p:cNvPr id="21" name="Text 19"/>
          <p:cNvSpPr/>
          <p:nvPr/>
        </p:nvSpPr>
        <p:spPr>
          <a:xfrm>
            <a:off x="6748272" y="4069080"/>
            <a:ext cx="1828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Speed</a:t>
            </a:r>
            <a:endParaRPr lang="en-US" sz="1400" b="1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668512" y="4069080"/>
            <a:ext cx="15087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Slightly faster</a:t>
            </a:r>
            <a:endParaRPr lang="en-US" sz="1400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177145" y="4018915"/>
            <a:ext cx="1556385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Slightly slower (it clears memory)</a:t>
            </a:r>
            <a:endParaRPr lang="en-US" sz="1400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748272" y="4754880"/>
            <a:ext cx="1828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Good for</a:t>
            </a:r>
            <a:endParaRPr lang="en-US" sz="1400" b="1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668512" y="4754880"/>
            <a:ext cx="15087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general use</a:t>
            </a:r>
            <a:endParaRPr lang="en-US" sz="1400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268585" y="4754880"/>
            <a:ext cx="1628775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you need a clean, zeroed array</a:t>
            </a:r>
            <a:endParaRPr lang="en-US" sz="1400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3 · Pointers &amp; Memory Management in C</a:t>
            </a:r>
            <a:endParaRPr lang="en-US" sz="1400" dirty="0">
              <a:solidFill>
                <a:srgbClr val="5A6B7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972800" y="6528816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400" dirty="0">
              <a:solidFill>
                <a:srgbClr val="5A6B7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3C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DYNAMIC MEMORY · REALLOC()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realloc() — resize allocated memory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5577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C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Syntax:   </a:t>
            </a:r>
            <a:endParaRPr lang="en-US" b="1" dirty="0">
              <a:solidFill>
                <a:srgbClr val="123C4D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123C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ptr = (type *) realloc(ptr, newSize);</a:t>
            </a:r>
            <a:endParaRPr lang="en-US" b="1" dirty="0">
              <a:solidFill>
                <a:srgbClr val="123C4D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2413635"/>
            <a:ext cx="55778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b="1" dirty="0">
                <a:solidFill>
                  <a:srgbClr val="16232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realloc() </a:t>
            </a:r>
            <a:r>
              <a:rPr lang="en-US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changes the size of memory that was already allocated by malloc()/calloc() — useful when you discover you need more (or less) space than you first asked for.</a:t>
            </a:r>
            <a:endParaRPr lang="en-US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4004945"/>
            <a:ext cx="557784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old data is kept (up to the smaller of the old and new sizes).</a:t>
            </a:r>
            <a:endParaRPr lang="en-US" sz="16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memory block might move to a new address — always use the pointer that realloc() returns.</a:t>
            </a:r>
            <a:endParaRPr lang="en-US" sz="1600" dirty="0"/>
          </a:p>
          <a:p>
            <a:pPr marL="342900" indent="-342900">
              <a:lnSpc>
                <a:spcPct val="14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realloc() fails, it returns NULL — check before using the result.</a:t>
            </a:r>
            <a:endParaRPr lang="en-US" sz="1600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735445" y="282575"/>
            <a:ext cx="5394960" cy="6280785"/>
          </a:xfrm>
          <a:prstGeom prst="roundRect">
            <a:avLst>
              <a:gd name="adj" fmla="val 1111"/>
            </a:avLst>
          </a:prstGeom>
          <a:solidFill>
            <a:srgbClr val="0F2A33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03720" y="530225"/>
            <a:ext cx="4883150" cy="46729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#include &lt;stdio.h&gt;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#include &lt;stdlib.h&gt;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main(){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int *arr;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arr = (int *)malloc(3 * sizeof(int));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if (arr == NULL){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printf("Memory allocation failed\n");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return 1;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arr[0] = 1;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arr[1] = 2;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arr[2] = 3;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// Increase the memory from 3 integers to 5 integers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arr = (int *)realloc(arr, 5 * sizeof(int));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if (arr == NULL){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printf("Reallocation failed\n");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return 1;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arr[3] = 4;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arr[4] = 5;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int i;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for (i = 0; i &lt; 5; i++){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printf("%d ", arr[i]);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free(arr);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 0;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r>
              <a:rPr lang="en-IN" alt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// output: </a:t>
            </a: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1 2 3 4 5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3 · Pointers &amp; Memory Management in C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0" y="6528816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3C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DYNAMIC MEMORY · FREE()</a:t>
            </a:r>
            <a:endParaRPr lang="en-US" sz="1200" b="1" kern="0" spc="200" dirty="0">
              <a:solidFill>
                <a:srgbClr val="123C4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free() — release the memory back</a:t>
            </a:r>
            <a:endParaRPr lang="en-US" sz="2800" b="1" dirty="0">
              <a:solidFill>
                <a:srgbClr val="16232B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5577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C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Syntax:   free(ptr);</a:t>
            </a:r>
            <a:endParaRPr lang="en-US" sz="1600" b="1" dirty="0">
              <a:solidFill>
                <a:srgbClr val="123C4D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55778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Memory taken with malloc/calloc/realloc does NOT go away by itself — you must give it back with </a:t>
            </a:r>
            <a:r>
              <a:rPr lang="en-US" sz="1600" b="1" dirty="0">
                <a:solidFill>
                  <a:srgbClr val="123C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free()</a:t>
            </a: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once you're finished using it.</a:t>
            </a:r>
            <a:endParaRPr lang="en-US" sz="1600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26974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23C4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Two common mistakes to avoid</a:t>
            </a:r>
            <a:endParaRPr lang="en-US" b="1" dirty="0">
              <a:solidFill>
                <a:srgbClr val="123C4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3063240"/>
            <a:ext cx="5577840" cy="1009015"/>
          </a:xfrm>
          <a:prstGeom prst="roundRect">
            <a:avLst>
              <a:gd name="adj" fmla="val 8000"/>
            </a:avLst>
          </a:prstGeom>
          <a:solidFill>
            <a:srgbClr val="F5F8F9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15468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C4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Memory leak</a:t>
            </a:r>
            <a:endParaRPr lang="en-US" sz="1600" b="1" dirty="0">
              <a:solidFill>
                <a:srgbClr val="123C4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3429000"/>
            <a:ext cx="5120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Forgetting to call free() — the memory stays reserved and unusable until the program ends.</a:t>
            </a:r>
            <a:endParaRPr lang="en-US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2920" y="4114800"/>
            <a:ext cx="5577840" cy="1118870"/>
          </a:xfrm>
          <a:prstGeom prst="roundRect">
            <a:avLst>
              <a:gd name="adj" fmla="val 8000"/>
            </a:avLst>
          </a:prstGeom>
          <a:solidFill>
            <a:srgbClr val="F5F8F9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20624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C4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Dangling pointer</a:t>
            </a:r>
            <a:endParaRPr lang="en-US" sz="1600" b="1" dirty="0">
              <a:solidFill>
                <a:srgbClr val="123C4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4480560"/>
            <a:ext cx="5120640" cy="5886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a pointer AFTER it has been freed — this can crash the program or give wrong results.</a:t>
            </a:r>
            <a:endParaRPr lang="en-US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309360" y="1527175"/>
            <a:ext cx="5394960" cy="4937760"/>
          </a:xfrm>
          <a:prstGeom prst="roundRect">
            <a:avLst>
              <a:gd name="adj" fmla="val 1111"/>
            </a:avLst>
          </a:prstGeom>
          <a:solidFill>
            <a:srgbClr val="0F2A33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045952" y="152704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EE6C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400" b="1" dirty="0">
              <a:solidFill>
                <a:srgbClr val="0B1F2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565392" y="1563624"/>
            <a:ext cx="4882896" cy="46451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*ptr = (int *) malloc(sizeof(int) * 5);
</a:t>
            </a:r>
            <a:r>
              <a:rPr lang="en-US" sz="1600" dirty="0">
                <a:solidFill>
                  <a:srgbClr val="6FE7C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... use ptr ...
</a:t>
            </a:r>
            <a:r>
              <a:rPr lang="en-US" sz="16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free(ptr);      // give the memory back
ptr = NULL;     // good habit: avoid a dangling pointer
</a:t>
            </a:r>
            <a:r>
              <a:rPr lang="en-US" sz="1600" dirty="0">
                <a:solidFill>
                  <a:srgbClr val="6FE7C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Wrong (do NOT do this):
// free(ptr);
// *ptr = 10;    &lt;-- using freed memory: undefined behaviour</a:t>
            </a:r>
            <a:endParaRPr lang="en-US" sz="1600" dirty="0">
              <a:solidFill>
                <a:srgbClr val="6FE7CE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3 · Pointers &amp; Memory Management in C</a:t>
            </a:r>
            <a:endParaRPr lang="en-US" sz="1200" dirty="0">
              <a:solidFill>
                <a:srgbClr val="5A6B7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972800" y="6528816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200" dirty="0">
              <a:solidFill>
                <a:srgbClr val="5A6B72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3C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DYNAMIC MEMORY · 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7182"/>
            <a:ext cx="10789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Example: dynamically allocate an array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148080"/>
            <a:ext cx="11201400" cy="607060"/>
          </a:xfrm>
          <a:prstGeom prst="roundRect">
            <a:avLst>
              <a:gd name="adj" fmla="val 14545"/>
            </a:avLst>
          </a:prstGeom>
          <a:solidFill>
            <a:srgbClr val="0B1F2A"/>
          </a:solidFill>
        </p:spPr>
      </p:sp>
      <p:sp>
        <p:nvSpPr>
          <p:cNvPr id="5" name="Text 3"/>
          <p:cNvSpPr/>
          <p:nvPr/>
        </p:nvSpPr>
        <p:spPr>
          <a:xfrm>
            <a:off x="777240" y="1198245"/>
            <a:ext cx="10698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Problem: Ask the user how many numbers they want to enter, allocate exactly that much memory, then read and print the numbers.</a:t>
            </a:r>
            <a:endParaRPr lang="en-US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4195" y="1864995"/>
            <a:ext cx="6268085" cy="4935220"/>
          </a:xfrm>
          <a:prstGeom prst="roundRect">
            <a:avLst>
              <a:gd name="adj" fmla="val 1237"/>
            </a:avLst>
          </a:prstGeom>
          <a:solidFill>
            <a:srgbClr val="0F2A33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p>
            <a:endParaRPr lang="en-GB" altLang="en-US"/>
          </a:p>
        </p:txBody>
      </p:sp>
      <p:sp>
        <p:nvSpPr>
          <p:cNvPr id="7" name="Text 5"/>
          <p:cNvSpPr/>
          <p:nvPr/>
        </p:nvSpPr>
        <p:spPr>
          <a:xfrm>
            <a:off x="6153912" y="212140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EE6C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367" y="1978279"/>
            <a:ext cx="5797296" cy="4142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#include &lt;stdio.h&gt;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#include &lt;stdlib.h&gt;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main(){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int n, i;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int *arr;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printf("How many numbers? ");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scanf("%d", &amp;n);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arr = (int *)malloc(n * sizeof(int));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if (arr == NULL){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printf("Memory allocation failed\n");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return 1;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printf("Enter %d numbers:\n", n);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for (i = 0; i &lt; n; i++){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scanf("%d", &amp;arr[i]);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printf("You entered: ");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for (i = 0; i &lt; n; i++){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printf("%d ", arr[i]);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}free(arr);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 0;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altLang="en-GB" sz="12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086600" y="23317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Walkthrough</a:t>
            </a:r>
            <a:endParaRPr lang="en-US" sz="1500" dirty="0"/>
          </a:p>
        </p:txBody>
      </p:sp>
      <p:sp>
        <p:nvSpPr>
          <p:cNvPr id="10" name="Shape 8"/>
          <p:cNvSpPr/>
          <p:nvPr>
            <p:custDataLst>
              <p:tags r:id="rId1"/>
            </p:custDataLst>
          </p:nvPr>
        </p:nvSpPr>
        <p:spPr>
          <a:xfrm>
            <a:off x="7086600" y="2788920"/>
            <a:ext cx="329184" cy="329184"/>
          </a:xfrm>
          <a:prstGeom prst="ellipse">
            <a:avLst/>
          </a:prstGeom>
          <a:solidFill>
            <a:srgbClr val="0B1F2A"/>
          </a:solidFill>
        </p:spPr>
      </p:sp>
      <p:sp>
        <p:nvSpPr>
          <p:cNvPr id="11" name="Text 9"/>
          <p:cNvSpPr/>
          <p:nvPr>
            <p:custDataLst>
              <p:tags r:id="rId2"/>
            </p:custDataLst>
          </p:nvPr>
        </p:nvSpPr>
        <p:spPr>
          <a:xfrm>
            <a:off x="7086600" y="278892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>
            <p:custDataLst>
              <p:tags r:id="rId3"/>
            </p:custDataLst>
          </p:nvPr>
        </p:nvSpPr>
        <p:spPr>
          <a:xfrm>
            <a:off x="7543800" y="2743200"/>
            <a:ext cx="4114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 n — the number of values the user wants to store.</a:t>
            </a:r>
            <a:endParaRPr lang="en-US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Shape 11"/>
          <p:cNvSpPr/>
          <p:nvPr>
            <p:custDataLst>
              <p:tags r:id="rId4"/>
            </p:custDataLst>
          </p:nvPr>
        </p:nvSpPr>
        <p:spPr>
          <a:xfrm>
            <a:off x="7086600" y="3502152"/>
            <a:ext cx="329184" cy="329184"/>
          </a:xfrm>
          <a:prstGeom prst="ellipse">
            <a:avLst/>
          </a:prstGeom>
          <a:solidFill>
            <a:srgbClr val="0B1F2A"/>
          </a:solidFill>
        </p:spPr>
      </p:sp>
      <p:sp>
        <p:nvSpPr>
          <p:cNvPr id="14" name="Text 12"/>
          <p:cNvSpPr/>
          <p:nvPr>
            <p:custDataLst>
              <p:tags r:id="rId5"/>
            </p:custDataLst>
          </p:nvPr>
        </p:nvSpPr>
        <p:spPr>
          <a:xfrm>
            <a:off x="7086600" y="3502152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>
            <p:custDataLst>
              <p:tags r:id="rId6"/>
            </p:custDataLst>
          </p:nvPr>
        </p:nvSpPr>
        <p:spPr>
          <a:xfrm>
            <a:off x="7543800" y="3456432"/>
            <a:ext cx="4114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Allocate exactly n integers with malloc(n * sizeof(int)).</a:t>
            </a:r>
            <a:endParaRPr lang="en-US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Shape 14"/>
          <p:cNvSpPr/>
          <p:nvPr>
            <p:custDataLst>
              <p:tags r:id="rId7"/>
            </p:custDataLst>
          </p:nvPr>
        </p:nvSpPr>
        <p:spPr>
          <a:xfrm>
            <a:off x="7086600" y="4215384"/>
            <a:ext cx="329184" cy="329184"/>
          </a:xfrm>
          <a:prstGeom prst="ellipse">
            <a:avLst/>
          </a:prstGeom>
          <a:solidFill>
            <a:srgbClr val="0B1F2A"/>
          </a:solidFill>
        </p:spPr>
      </p:sp>
      <p:sp>
        <p:nvSpPr>
          <p:cNvPr id="17" name="Text 15"/>
          <p:cNvSpPr/>
          <p:nvPr>
            <p:custDataLst>
              <p:tags r:id="rId8"/>
            </p:custDataLst>
          </p:nvPr>
        </p:nvSpPr>
        <p:spPr>
          <a:xfrm>
            <a:off x="7086600" y="4215384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>
            <p:custDataLst>
              <p:tags r:id="rId9"/>
            </p:custDataLst>
          </p:nvPr>
        </p:nvSpPr>
        <p:spPr>
          <a:xfrm>
            <a:off x="7543800" y="4169664"/>
            <a:ext cx="4114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Always check that malloc() did not return NULL.</a:t>
            </a:r>
            <a:endParaRPr lang="en-US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" name="Shape 17"/>
          <p:cNvSpPr/>
          <p:nvPr>
            <p:custDataLst>
              <p:tags r:id="rId10"/>
            </p:custDataLst>
          </p:nvPr>
        </p:nvSpPr>
        <p:spPr>
          <a:xfrm>
            <a:off x="7086600" y="4928616"/>
            <a:ext cx="329184" cy="329184"/>
          </a:xfrm>
          <a:prstGeom prst="ellipse">
            <a:avLst/>
          </a:prstGeom>
          <a:solidFill>
            <a:srgbClr val="0B1F2A"/>
          </a:solidFill>
        </p:spPr>
      </p:sp>
      <p:sp>
        <p:nvSpPr>
          <p:cNvPr id="20" name="Text 18"/>
          <p:cNvSpPr/>
          <p:nvPr>
            <p:custDataLst>
              <p:tags r:id="rId11"/>
            </p:custDataLst>
          </p:nvPr>
        </p:nvSpPr>
        <p:spPr>
          <a:xfrm>
            <a:off x="7086600" y="4928616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>
            <p:custDataLst>
              <p:tags r:id="rId12"/>
            </p:custDataLst>
          </p:nvPr>
        </p:nvSpPr>
        <p:spPr>
          <a:xfrm>
            <a:off x="7543800" y="4882896"/>
            <a:ext cx="4114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arr[i] exactly like a normal array to fill and print values.</a:t>
            </a:r>
            <a:endParaRPr lang="en-US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Shape 20"/>
          <p:cNvSpPr/>
          <p:nvPr>
            <p:custDataLst>
              <p:tags r:id="rId13"/>
            </p:custDataLst>
          </p:nvPr>
        </p:nvSpPr>
        <p:spPr>
          <a:xfrm>
            <a:off x="7086600" y="5641848"/>
            <a:ext cx="329184" cy="329184"/>
          </a:xfrm>
          <a:prstGeom prst="ellipse">
            <a:avLst/>
          </a:prstGeom>
          <a:solidFill>
            <a:srgbClr val="0B1F2A"/>
          </a:solidFill>
        </p:spPr>
      </p:sp>
      <p:sp>
        <p:nvSpPr>
          <p:cNvPr id="23" name="Text 21"/>
          <p:cNvSpPr/>
          <p:nvPr>
            <p:custDataLst>
              <p:tags r:id="rId14"/>
            </p:custDataLst>
          </p:nvPr>
        </p:nvSpPr>
        <p:spPr>
          <a:xfrm>
            <a:off x="7086600" y="5641848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>
            <p:custDataLst>
              <p:tags r:id="rId15"/>
            </p:custDataLst>
          </p:nvPr>
        </p:nvSpPr>
        <p:spPr>
          <a:xfrm>
            <a:off x="7543800" y="5596128"/>
            <a:ext cx="4114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 free(arr) once you no longer need the memory.</a:t>
            </a:r>
            <a:endParaRPr lang="en-US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0" y="6528816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3C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 POINTERS ·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a pointer to a function?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55778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Just like a variable, a function also lives at an address in memory. A </a:t>
            </a:r>
            <a:r>
              <a:rPr lang="en-US" sz="16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 pointer</a:t>
            </a: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is a variable that stores that address, so we can call the function indirectly — through the pointer.</a:t>
            </a:r>
            <a:endParaRPr lang="en-US" sz="1600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2514600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Syntax:</a:t>
            </a:r>
            <a:endParaRPr lang="en-US" b="1" dirty="0">
              <a:solidFill>
                <a:srgbClr val="16232B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5577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C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returnType (*pointerName)(parameterTypes);</a:t>
            </a:r>
            <a:endParaRPr lang="en-US" sz="1600" b="1" dirty="0">
              <a:solidFill>
                <a:srgbClr val="123C4D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3383280"/>
            <a:ext cx="557784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round brackets around *pointerName are important — they tell C this is a pointer to a function, not a function that returns a pointer.</a:t>
            </a:r>
            <a:endParaRPr lang="en-US" sz="1600" dirty="0"/>
          </a:p>
          <a:p>
            <a:pPr marL="342900" indent="-342900">
              <a:lnSpc>
                <a:spcPct val="14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plain function name (like add) already means "the address of that function" — so fp = add; works directly.</a:t>
            </a:r>
            <a:endParaRPr lang="en-US" sz="1600" dirty="0"/>
          </a:p>
          <a:p>
            <a:pPr marL="342900" indent="-342900">
              <a:lnSpc>
                <a:spcPct val="14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Once fp holds the address, fp(3, 4) calls the function just like add(3, 4) would.</a:t>
            </a:r>
            <a:endParaRPr lang="en-US" sz="1600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309360" y="1417320"/>
            <a:ext cx="5394960" cy="4062095"/>
          </a:xfrm>
          <a:prstGeom prst="roundRect">
            <a:avLst>
              <a:gd name="adj" fmla="val 1429"/>
            </a:avLst>
          </a:prstGeom>
          <a:solidFill>
            <a:srgbClr val="0F2A33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045952" y="152704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EE6C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64630" y="1654810"/>
            <a:ext cx="5139690" cy="35477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altLang="en-GB" sz="14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#include &lt;stdio.h&gt;</a:t>
            </a:r>
            <a:endParaRPr lang="en-US" altLang="en-GB" sz="14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4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add(int a, int b)</a:t>
            </a:r>
            <a:endParaRPr lang="en-US" altLang="en-GB" sz="14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4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  return a + b;</a:t>
            </a:r>
            <a:endParaRPr lang="en-US" altLang="en-GB" sz="14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4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altLang="en-GB" sz="14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4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main(){</a:t>
            </a:r>
            <a:endParaRPr lang="en-US" altLang="en-GB" sz="14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4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int (*fp)(int, int);</a:t>
            </a:r>
            <a:endParaRPr lang="en-US" altLang="en-GB" sz="14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4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fp = add;</a:t>
            </a:r>
            <a:endParaRPr lang="en-US" altLang="en-GB" sz="14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4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printf("Sum = %d", fp(3, 4));</a:t>
            </a:r>
            <a:endParaRPr lang="en-US" altLang="en-GB" sz="14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4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 0;</a:t>
            </a:r>
            <a:endParaRPr lang="en-US" altLang="en-GB" sz="14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US" altLang="en-GB" sz="14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altLang="en-GB" sz="14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endParaRPr lang="en-US" altLang="en-GB" sz="14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  <a:p>
            <a:pPr marL="0" indent="0">
              <a:lnSpc>
                <a:spcPct val="118000"/>
              </a:lnSpc>
              <a:buNone/>
            </a:pPr>
            <a:r>
              <a:rPr lang="en-IN" altLang="en-US" sz="14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//output: sum = 7</a:t>
            </a:r>
            <a:endParaRPr lang="en-IN" altLang="en-US" sz="1400" dirty="0">
              <a:solidFill>
                <a:srgbClr val="E8F6F3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3 · Pointers &amp; Memory Management in 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528816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3C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 POINTERS · 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Example: choosing a function while the program runs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201400" cy="640080"/>
          </a:xfrm>
          <a:prstGeom prst="roundRect">
            <a:avLst>
              <a:gd name="adj" fmla="val 11429"/>
            </a:avLst>
          </a:prstGeom>
          <a:solidFill>
            <a:srgbClr val="0B1F2A"/>
          </a:solidFill>
        </p:spPr>
      </p:sp>
      <p:sp>
        <p:nvSpPr>
          <p:cNvPr id="5" name="Text 3"/>
          <p:cNvSpPr/>
          <p:nvPr/>
        </p:nvSpPr>
        <p:spPr>
          <a:xfrm>
            <a:off x="777240" y="1417320"/>
            <a:ext cx="10698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Problem: Depending on the user's choice, call either add() or subtract() through the SAME function pointer.</a:t>
            </a:r>
            <a:endParaRPr lang="en-US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2286000"/>
            <a:ext cx="6309360" cy="4023360"/>
          </a:xfrm>
          <a:prstGeom prst="roundRect">
            <a:avLst>
              <a:gd name="adj" fmla="val 1364"/>
            </a:avLst>
          </a:prstGeom>
          <a:solidFill>
            <a:srgbClr val="0F2A33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53912" y="239572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EE6C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58952" y="2432304"/>
            <a:ext cx="5797296" cy="37307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#include &lt;stdio.h&gt;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add(int a, int b) { return a + b; }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subtract(int a, int b) { return a - b; }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main() {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int (*operation)(int, int);   // one function pointer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char choice = '+';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if (choice == '+')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operation = add;          // point to add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else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operation = subtract;     // point to subtract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printf("Result = %d", operation(10, 4));  // 14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 0;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86600" y="23317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this is useful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086600" y="2788920"/>
            <a:ext cx="329184" cy="329184"/>
          </a:xfrm>
          <a:prstGeom prst="ellipse">
            <a:avLst/>
          </a:prstGeom>
          <a:solidFill>
            <a:srgbClr val="0B1F2A"/>
          </a:solidFill>
        </p:spPr>
      </p:sp>
      <p:sp>
        <p:nvSpPr>
          <p:cNvPr id="11" name="Text 9"/>
          <p:cNvSpPr/>
          <p:nvPr/>
        </p:nvSpPr>
        <p:spPr>
          <a:xfrm>
            <a:off x="7086600" y="278892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543800" y="2743200"/>
            <a:ext cx="411480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SAME line, operation(10, 4), can run different code depending on which function was assigned earlier.</a:t>
            </a:r>
            <a:endParaRPr lang="en-US" sz="1600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086600" y="3794760"/>
            <a:ext cx="329184" cy="329184"/>
          </a:xfrm>
          <a:prstGeom prst="ellipse">
            <a:avLst/>
          </a:prstGeom>
          <a:solidFill>
            <a:srgbClr val="0B1F2A"/>
          </a:solidFill>
        </p:spPr>
      </p:sp>
      <p:sp>
        <p:nvSpPr>
          <p:cNvPr id="14" name="Text 12"/>
          <p:cNvSpPr/>
          <p:nvPr/>
        </p:nvSpPr>
        <p:spPr>
          <a:xfrm>
            <a:off x="7086600" y="379476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543800" y="3749040"/>
            <a:ext cx="411480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is the basic idea behind menu-driven programs, calculators, and callback functions.</a:t>
            </a:r>
            <a:endParaRPr lang="en-US" sz="1600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086600" y="4800600"/>
            <a:ext cx="329184" cy="329184"/>
          </a:xfrm>
          <a:prstGeom prst="ellipse">
            <a:avLst/>
          </a:prstGeom>
          <a:solidFill>
            <a:srgbClr val="0B1F2A"/>
          </a:solidFill>
        </p:spPr>
      </p:sp>
      <p:sp>
        <p:nvSpPr>
          <p:cNvPr id="17" name="Text 15"/>
          <p:cNvSpPr/>
          <p:nvPr/>
        </p:nvSpPr>
        <p:spPr>
          <a:xfrm>
            <a:off x="7086600" y="480060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43800" y="4754880"/>
            <a:ext cx="4114800" cy="960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avoids writing a long chain of if/else statements every time you need to call a different function.</a:t>
            </a:r>
            <a:endParaRPr lang="en-US" sz="1600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3 · Pointers &amp; Memory Management in C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0" y="6528816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3C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POINTERS &amp; ARRAYS · RELATIONSHIP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arrays and pointers are related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557784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name of an array is basically the address of its first element. So </a:t>
            </a:r>
            <a:r>
              <a:rPr lang="en-US" sz="1600" b="1" dirty="0">
                <a:solidFill>
                  <a:srgbClr val="123C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arr</a:t>
            </a: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and </a:t>
            </a:r>
            <a:r>
              <a:rPr lang="en-US" sz="1600" b="1" dirty="0">
                <a:solidFill>
                  <a:srgbClr val="123C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&amp;arr[0]</a:t>
            </a: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mean the same address, and </a:t>
            </a:r>
            <a:r>
              <a:rPr lang="en-US" sz="1600" b="1" dirty="0">
                <a:solidFill>
                  <a:srgbClr val="123C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arr[i]</a:t>
            </a: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and </a:t>
            </a:r>
            <a:r>
              <a:rPr lang="en-US" sz="1600" b="1" dirty="0">
                <a:solidFill>
                  <a:srgbClr val="123C4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*(arr + i)</a:t>
            </a: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always give the same value.</a:t>
            </a:r>
            <a:endParaRPr lang="en-US" sz="1600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2834640"/>
            <a:ext cx="5577840" cy="1371600"/>
          </a:xfrm>
          <a:prstGeom prst="roundRect">
            <a:avLst>
              <a:gd name="adj" fmla="val 5333"/>
            </a:avLst>
          </a:prstGeom>
          <a:solidFill>
            <a:srgbClr val="F5F8F9"/>
          </a:solidFill>
          <a:ln w="12700">
            <a:solidFill>
              <a:srgbClr val="E1E8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971800"/>
            <a:ext cx="5120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3C4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Important difference</a:t>
            </a:r>
            <a:endParaRPr lang="en-US" sz="1600" b="1" dirty="0">
              <a:solidFill>
                <a:srgbClr val="123C4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3273552"/>
            <a:ext cx="512064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arr is a fixed address — you cannot write arr++ or arr = something. A pointer variable like p can be changed freely: p++, p = arr, etc.</a:t>
            </a:r>
            <a:endParaRPr lang="en-US" sz="1600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309360" y="1417320"/>
            <a:ext cx="5394960" cy="4937760"/>
          </a:xfrm>
          <a:prstGeom prst="roundRect">
            <a:avLst>
              <a:gd name="adj" fmla="val 1111"/>
            </a:avLst>
          </a:prstGeom>
          <a:solidFill>
            <a:srgbClr val="0F2A33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045952" y="152704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EE6C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65392" y="1563624"/>
            <a:ext cx="4882896" cy="46451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arr[5] = {10, 20, 30, 40, 50};
printf("%p", arr);       // address of arr[0]
printf("%p", &amp;arr[0]);   // the SAME address
printf("%d", arr[2]);      // 30
printf("%d", *(arr + 2));  // 30 — same thing
int *p = arr;    // p now points to arr[0]
p = p + 1;        // OK: p can be moved
</a:t>
            </a:r>
            <a:r>
              <a:rPr lang="en-US" sz="1400" dirty="0">
                <a:solidFill>
                  <a:srgbClr val="6FE7C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arr = arr + 1;  &lt;-- ERROR: arr cannot be changed</a:t>
            </a:r>
            <a:endParaRPr lang="en-US" sz="1400" dirty="0">
              <a:solidFill>
                <a:srgbClr val="6FE7CE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3 · Pointers &amp; Memory Management in 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528816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3C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POINTERS &amp; ARRAYS · FUNCTIONS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Passing an array to a function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an array is passed to a function, C actually passes the </a:t>
            </a:r>
            <a:r>
              <a:rPr lang="en-US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address</a:t>
            </a:r>
            <a:r>
              <a:rPr lang="en-US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of its first element — not a copy of the whole array. This makes it fast, and it also means the function can change the original array's contents.</a:t>
            </a:r>
            <a:endParaRPr lang="en-US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2423160"/>
            <a:ext cx="11201400" cy="4023360"/>
          </a:xfrm>
          <a:prstGeom prst="roundRect">
            <a:avLst>
              <a:gd name="adj" fmla="val 1364"/>
            </a:avLst>
          </a:prstGeom>
          <a:solidFill>
            <a:srgbClr val="0F2A33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045952" y="253288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EE6C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8952" y="2569464"/>
            <a:ext cx="10689336" cy="37307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#include &lt;stdio.h&gt;
</a:t>
            </a:r>
            <a:r>
              <a:rPr lang="en-US" sz="1200" dirty="0">
                <a:solidFill>
                  <a:srgbClr val="6FE7C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int arr[]  and  int *arr  mean the same thing here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void printArray(int *arr, int size) {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for (int i = 0; i &lt; size; i++)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printf("%d ", arr[i]);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
void doubleValues(int arr[], int size) {   // changes the ORIGINAL array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for (int i = 0; i &lt; size; i++)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arr[i] = arr[i] * 2;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
int main() {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int nums[4] = {1, 2, 3, 4};
    printArray(nums, 4);      // 1 2 3 4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doubleValues(nums, 4);    // modifies nums directly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printArray(nums, 4);      // 2 4 6 8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 0;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3 · Pointers &amp; Memory Management in C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00" y="6528816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23C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POINTERS &amp; ARRAYS · 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789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Example: find string length using pointers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201400" cy="640080"/>
          </a:xfrm>
          <a:prstGeom prst="roundRect">
            <a:avLst>
              <a:gd name="adj" fmla="val 11429"/>
            </a:avLst>
          </a:prstGeom>
          <a:solidFill>
            <a:srgbClr val="0B1F2A"/>
          </a:solidFill>
        </p:spPr>
      </p:sp>
      <p:sp>
        <p:nvSpPr>
          <p:cNvPr id="5" name="Text 3"/>
          <p:cNvSpPr/>
          <p:nvPr/>
        </p:nvSpPr>
        <p:spPr>
          <a:xfrm>
            <a:off x="777240" y="1417320"/>
            <a:ext cx="106984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Problem: A string is a char array ending in '\0'. Count its characters using only a pointer (no strlen, no indexing).</a:t>
            </a:r>
            <a:endParaRPr lang="en-US" sz="16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2286000"/>
            <a:ext cx="6309360" cy="4023360"/>
          </a:xfrm>
          <a:prstGeom prst="roundRect">
            <a:avLst>
              <a:gd name="adj" fmla="val 1364"/>
            </a:avLst>
          </a:prstGeom>
          <a:solidFill>
            <a:srgbClr val="0F2A33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53912" y="239572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2EE6C6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1F2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58952" y="2432304"/>
            <a:ext cx="5797296" cy="373075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#include &lt;stdio.h&gt;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stringLength(char *str) {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int count = 0;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while (*str != '\0') {   // stop at the end marker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count++;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str++;                // move to the next character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 count;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int main() {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char name[] = "Hello";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printf("Length = %d", stringLength(name));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 0;
</a:t>
            </a:r>
            <a:r>
              <a:rPr lang="en-US" sz="1200" dirty="0">
                <a:solidFill>
                  <a:srgbClr val="E8F6F3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
</a:t>
            </a:r>
            <a:r>
              <a:rPr lang="en-US" sz="1200" dirty="0">
                <a:solidFill>
                  <a:srgbClr val="6FE7C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Output: Length = 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86600" y="233172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Walkthrough</a:t>
            </a:r>
            <a:endParaRPr lang="en-US" sz="1500" dirty="0"/>
          </a:p>
        </p:txBody>
      </p:sp>
      <p:sp>
        <p:nvSpPr>
          <p:cNvPr id="10" name="Shape 8"/>
          <p:cNvSpPr/>
          <p:nvPr>
            <p:custDataLst>
              <p:tags r:id="rId1"/>
            </p:custDataLst>
          </p:nvPr>
        </p:nvSpPr>
        <p:spPr>
          <a:xfrm>
            <a:off x="7086600" y="2788920"/>
            <a:ext cx="329184" cy="329184"/>
          </a:xfrm>
          <a:prstGeom prst="ellipse">
            <a:avLst/>
          </a:prstGeom>
          <a:solidFill>
            <a:srgbClr val="0B1F2A"/>
          </a:solidFill>
        </p:spPr>
      </p:sp>
      <p:sp>
        <p:nvSpPr>
          <p:cNvPr id="11" name="Text 9"/>
          <p:cNvSpPr/>
          <p:nvPr>
            <p:custDataLst>
              <p:tags r:id="rId2"/>
            </p:custDataLst>
          </p:nvPr>
        </p:nvSpPr>
        <p:spPr>
          <a:xfrm>
            <a:off x="7086600" y="278892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>
            <p:custDataLst>
              <p:tags r:id="rId3"/>
            </p:custDataLst>
          </p:nvPr>
        </p:nvSpPr>
        <p:spPr>
          <a:xfrm>
            <a:off x="7543800" y="2761488"/>
            <a:ext cx="4114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 points to the first character of the string, 'H'.</a:t>
            </a:r>
            <a:endParaRPr lang="en-US" sz="1600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Shape 11"/>
          <p:cNvSpPr/>
          <p:nvPr>
            <p:custDataLst>
              <p:tags r:id="rId4"/>
            </p:custDataLst>
          </p:nvPr>
        </p:nvSpPr>
        <p:spPr>
          <a:xfrm>
            <a:off x="7086600" y="3566160"/>
            <a:ext cx="329184" cy="329184"/>
          </a:xfrm>
          <a:prstGeom prst="ellipse">
            <a:avLst/>
          </a:prstGeom>
          <a:solidFill>
            <a:srgbClr val="0B1F2A"/>
          </a:solidFill>
        </p:spPr>
      </p:sp>
      <p:sp>
        <p:nvSpPr>
          <p:cNvPr id="14" name="Text 12"/>
          <p:cNvSpPr/>
          <p:nvPr>
            <p:custDataLst>
              <p:tags r:id="rId5"/>
            </p:custDataLst>
          </p:nvPr>
        </p:nvSpPr>
        <p:spPr>
          <a:xfrm>
            <a:off x="7086600" y="356616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>
            <p:custDataLst>
              <p:tags r:id="rId6"/>
            </p:custDataLst>
          </p:nvPr>
        </p:nvSpPr>
        <p:spPr>
          <a:xfrm>
            <a:off x="7543800" y="3538728"/>
            <a:ext cx="4114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 long as *str is not the null character '\0', keep going.</a:t>
            </a:r>
            <a:endParaRPr lang="en-US" sz="1600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Shape 14"/>
          <p:cNvSpPr/>
          <p:nvPr>
            <p:custDataLst>
              <p:tags r:id="rId7"/>
            </p:custDataLst>
          </p:nvPr>
        </p:nvSpPr>
        <p:spPr>
          <a:xfrm>
            <a:off x="7086600" y="4343400"/>
            <a:ext cx="329184" cy="329184"/>
          </a:xfrm>
          <a:prstGeom prst="ellipse">
            <a:avLst/>
          </a:prstGeom>
          <a:solidFill>
            <a:srgbClr val="0B1F2A"/>
          </a:solidFill>
        </p:spPr>
      </p:sp>
      <p:sp>
        <p:nvSpPr>
          <p:cNvPr id="17" name="Text 15"/>
          <p:cNvSpPr/>
          <p:nvPr>
            <p:custDataLst>
              <p:tags r:id="rId8"/>
            </p:custDataLst>
          </p:nvPr>
        </p:nvSpPr>
        <p:spPr>
          <a:xfrm>
            <a:off x="7086600" y="434340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>
            <p:custDataLst>
              <p:tags r:id="rId9"/>
            </p:custDataLst>
          </p:nvPr>
        </p:nvSpPr>
        <p:spPr>
          <a:xfrm>
            <a:off x="7543800" y="4315968"/>
            <a:ext cx="4114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time round the loop: add 1 to count, then move str forward one character.</a:t>
            </a:r>
            <a:endParaRPr lang="en-US" sz="1600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" name="Shape 17"/>
          <p:cNvSpPr/>
          <p:nvPr>
            <p:custDataLst>
              <p:tags r:id="rId10"/>
            </p:custDataLst>
          </p:nvPr>
        </p:nvSpPr>
        <p:spPr>
          <a:xfrm>
            <a:off x="7086600" y="5120640"/>
            <a:ext cx="329184" cy="329184"/>
          </a:xfrm>
          <a:prstGeom prst="ellipse">
            <a:avLst/>
          </a:prstGeom>
          <a:solidFill>
            <a:srgbClr val="0B1F2A"/>
          </a:solidFill>
        </p:spPr>
      </p:sp>
      <p:sp>
        <p:nvSpPr>
          <p:cNvPr id="20" name="Text 18"/>
          <p:cNvSpPr/>
          <p:nvPr>
            <p:custDataLst>
              <p:tags r:id="rId11"/>
            </p:custDataLst>
          </p:nvPr>
        </p:nvSpPr>
        <p:spPr>
          <a:xfrm>
            <a:off x="7086600" y="5120640"/>
            <a:ext cx="329184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E6C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>
            <p:custDataLst>
              <p:tags r:id="rId12"/>
            </p:custDataLst>
          </p:nvPr>
        </p:nvSpPr>
        <p:spPr>
          <a:xfrm>
            <a:off x="7543800" y="5093208"/>
            <a:ext cx="4114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str reaches '\0', the loop stops — count holds the answer.</a:t>
            </a:r>
            <a:endParaRPr lang="en-US" sz="1600" dirty="0">
              <a:solidFill>
                <a:srgbClr val="16232B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02920" y="6528816"/>
            <a:ext cx="6400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3 · Pointers &amp; Memory Management in C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0" y="6528816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Practice Questions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AF2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Try writing full C programs for each — that's the best way to learn pointers.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12305A"/>
          </a:solidFill>
        </p:spPr>
      </p:sp>
      <p:sp>
        <p:nvSpPr>
          <p:cNvPr id="6" name="Shape 4"/>
          <p:cNvSpPr/>
          <p:nvPr/>
        </p:nvSpPr>
        <p:spPr>
          <a:xfrm>
            <a:off x="731520" y="1673352"/>
            <a:ext cx="457200" cy="457200"/>
          </a:xfrm>
          <a:prstGeom prst="ellipse">
            <a:avLst/>
          </a:prstGeom>
          <a:solidFill>
            <a:srgbClr val="3FB6A8"/>
          </a:solidFill>
        </p:spPr>
      </p:sp>
      <p:sp>
        <p:nvSpPr>
          <p:cNvPr id="7" name="Text 5"/>
          <p:cNvSpPr txBox="1"/>
          <p:nvPr/>
        </p:nvSpPr>
        <p:spPr>
          <a:xfrm>
            <a:off x="731520" y="16733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508760"/>
            <a:ext cx="996696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Write a program to find the sum of all array elements using pointer arithmetic (not arr[i] indexing).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12305A"/>
          </a:solidFill>
        </p:spPr>
      </p:sp>
      <p:sp>
        <p:nvSpPr>
          <p:cNvPr id="10" name="Shape 8"/>
          <p:cNvSpPr/>
          <p:nvPr/>
        </p:nvSpPr>
        <p:spPr>
          <a:xfrm>
            <a:off x="731520" y="2606040"/>
            <a:ext cx="457200" cy="457200"/>
          </a:xfrm>
          <a:prstGeom prst="ellipse">
            <a:avLst/>
          </a:prstGeom>
          <a:solidFill>
            <a:srgbClr val="3FB6A8"/>
          </a:solidFill>
        </p:spPr>
      </p:sp>
      <p:sp>
        <p:nvSpPr>
          <p:cNvPr id="11" name="Text 9"/>
          <p:cNvSpPr txBox="1"/>
          <p:nvPr/>
        </p:nvSpPr>
        <p:spPr>
          <a:xfrm>
            <a:off x="731520" y="2606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441448"/>
            <a:ext cx="996696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Write a program that uses calloc() to allocate memory for n float values, then prints them (they should already be 0).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48640" y="3374136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12305A"/>
          </a:solidFill>
        </p:spPr>
      </p:sp>
      <p:sp>
        <p:nvSpPr>
          <p:cNvPr id="14" name="Shape 12"/>
          <p:cNvSpPr/>
          <p:nvPr/>
        </p:nvSpPr>
        <p:spPr>
          <a:xfrm>
            <a:off x="731520" y="3538728"/>
            <a:ext cx="457200" cy="457200"/>
          </a:xfrm>
          <a:prstGeom prst="ellipse">
            <a:avLst/>
          </a:prstGeom>
          <a:solidFill>
            <a:srgbClr val="3FB6A8"/>
          </a:solidFill>
        </p:spPr>
      </p:sp>
      <p:sp>
        <p:nvSpPr>
          <p:cNvPr id="15" name="Text 13"/>
          <p:cNvSpPr txBox="1"/>
          <p:nvPr/>
        </p:nvSpPr>
        <p:spPr>
          <a:xfrm>
            <a:off x="731520" y="35387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3374136"/>
            <a:ext cx="996696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Write a program that uses realloc() to grow a dynamically allocated array, and stores new values in the extra space.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48640" y="4306824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12305A"/>
          </a:solidFill>
        </p:spPr>
      </p:sp>
      <p:sp>
        <p:nvSpPr>
          <p:cNvPr id="18" name="Shape 16"/>
          <p:cNvSpPr/>
          <p:nvPr/>
        </p:nvSpPr>
        <p:spPr>
          <a:xfrm>
            <a:off x="731520" y="4471416"/>
            <a:ext cx="457200" cy="457200"/>
          </a:xfrm>
          <a:prstGeom prst="ellipse">
            <a:avLst/>
          </a:prstGeom>
          <a:solidFill>
            <a:srgbClr val="3FB6A8"/>
          </a:solidFill>
        </p:spPr>
      </p:sp>
      <p:sp>
        <p:nvSpPr>
          <p:cNvPr id="19" name="Text 17"/>
          <p:cNvSpPr txBox="1"/>
          <p:nvPr/>
        </p:nvSpPr>
        <p:spPr>
          <a:xfrm>
            <a:off x="731520" y="44714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4306824"/>
            <a:ext cx="996696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Write a program with a function pointer that chooses between multiply() and divide() based on the user's input.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48640" y="5239512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12305A"/>
          </a:solidFill>
        </p:spPr>
      </p:sp>
      <p:sp>
        <p:nvSpPr>
          <p:cNvPr id="22" name="Shape 20"/>
          <p:cNvSpPr/>
          <p:nvPr/>
        </p:nvSpPr>
        <p:spPr>
          <a:xfrm>
            <a:off x="731520" y="5404104"/>
            <a:ext cx="457200" cy="457200"/>
          </a:xfrm>
          <a:prstGeom prst="ellipse">
            <a:avLst/>
          </a:prstGeom>
          <a:solidFill>
            <a:srgbClr val="3FB6A8"/>
          </a:solidFill>
        </p:spPr>
      </p:sp>
      <p:sp>
        <p:nvSpPr>
          <p:cNvPr id="23" name="Text 21"/>
          <p:cNvSpPr txBox="1"/>
          <p:nvPr/>
        </p:nvSpPr>
        <p:spPr>
          <a:xfrm>
            <a:off x="731520" y="540410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5239512"/>
            <a:ext cx="9966960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Write a program that copies one string into another using only pointers (do not use the strcpy() function).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6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3 · Pointers &amp; Memory Management in C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4566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22.4,&quot;left&quot;:39.6,&quot;top&quot;:151.2,&quot;width&quot;:882}"/>
</p:tagLst>
</file>

<file path=ppt/tags/tag2.xml><?xml version="1.0" encoding="utf-8"?>
<p:tagLst xmlns:p="http://schemas.openxmlformats.org/presentationml/2006/main">
  <p:tag name="KSO_WM_DIAGRAM_VIRTUALLY_FRAME" val="{&quot;height&quot;:122.4,&quot;left&quot;:39.6,&quot;top&quot;:151.2,&quot;width&quot;:882}"/>
</p:tagLst>
</file>

<file path=ppt/tags/tag3.xml><?xml version="1.0" encoding="utf-8"?>
<p:tagLst xmlns:p="http://schemas.openxmlformats.org/presentationml/2006/main">
  <p:tag name="KSO_WM_DIAGRAM_VIRTUALLY_FRAME" val="{&quot;height&quot;:122.4,&quot;left&quot;:39.6,&quot;top&quot;:151.2,&quot;width&quot;:882}"/>
</p:tagLst>
</file>

<file path=ppt/tags/tag4.xml><?xml version="1.0" encoding="utf-8"?>
<p:tagLst xmlns:p="http://schemas.openxmlformats.org/presentationml/2006/main">
  <p:tag name="KSO_WM_DIAGRAM_VIRTUALLY_FRAME" val="{&quot;height&quot;:122.4,&quot;left&quot;:39.6,&quot;top&quot;:151.2,&quot;width&quot;:882}"/>
</p:tagLst>
</file>

<file path=ppt/tags/tag5.xml><?xml version="1.0" encoding="utf-8"?>
<p:tagLst xmlns:p="http://schemas.openxmlformats.org/presentationml/2006/main">
  <p:tag name="KSO_WM_DIAGRAM_VIRTUALLY_FRAME" val="{&quot;height&quot;:122.4,&quot;left&quot;:39.6,&quot;top&quot;:151.2,&quot;width&quot;:882}"/>
</p:tagLst>
</file>

<file path=ppt/tags/tag6.xml><?xml version="1.0" encoding="utf-8"?>
<p:tagLst xmlns:p="http://schemas.openxmlformats.org/presentationml/2006/main">
  <p:tag name="KSO_WM_DIAGRAM_VIRTUALLY_FRAME" val="{&quot;height&quot;:122.4,&quot;left&quot;:39.6,&quot;top&quot;:151.2,&quot;width&quot;:882}"/>
</p:tagLst>
</file>

<file path=ppt/tags/tag7.xml><?xml version="1.0" encoding="utf-8"?>
<p:tagLst xmlns:p="http://schemas.openxmlformats.org/presentationml/2006/main">
  <p:tag name="KSO_WM_DIAGRAM_VIRTUALLY_FRAME" val="{&quot;height&quot;:122.4,&quot;left&quot;:39.6,&quot;top&quot;:151.2,&quot;width&quot;:882}"/>
</p:tagLst>
</file>

<file path=ppt/tags/tag8.xml><?xml version="1.0" encoding="utf-8"?>
<p:tagLst xmlns:p="http://schemas.openxmlformats.org/presentationml/2006/main">
  <p:tag name="KSO_WM_DIAGRAM_VIRTUALLY_FRAME" val="{&quot;height&quot;:122.4,&quot;left&quot;:39.6,&quot;top&quot;:151.2,&quot;width&quot;:882}"/>
</p:tagLst>
</file>

<file path=ppt/tags/tag9.xml><?xml version="1.0" encoding="utf-8"?>
<p:tagLst xmlns:p="http://schemas.openxmlformats.org/presentationml/2006/main">
  <p:tag name="KSO_WM_DIAGRAM_VIRTUALLY_FRAME" val="{&quot;height&quot;:122.4,&quot;left&quot;:39.6,&quot;top&quot;:151.2,&quot;width&quot;:882}"/>
</p:tagLst>
</file>

<file path=ppt/tags/tag10.xml><?xml version="1.0" encoding="utf-8"?>
<p:tagLst xmlns:p="http://schemas.openxmlformats.org/presentationml/2006/main">
  <p:tag name="KSO_WM_DIAGRAM_VIRTUALLY_FRAME" val="{&quot;height&quot;:122.4,&quot;left&quot;:39.6,&quot;top&quot;:151.2,&quot;width&quot;:882}"/>
</p:tagLst>
</file>

<file path=ppt/tags/tag11.xml><?xml version="1.0" encoding="utf-8"?>
<p:tagLst xmlns:p="http://schemas.openxmlformats.org/presentationml/2006/main">
  <p:tag name="KSO_WM_DIAGRAM_VIRTUALLY_FRAME" val="{&quot;height&quot;:122.4,&quot;left&quot;:39.6,&quot;top&quot;:151.2,&quot;width&quot;:882}"/>
</p:tagLst>
</file>

<file path=ppt/tags/tag12.xml><?xml version="1.0" encoding="utf-8"?>
<p:tagLst xmlns:p="http://schemas.openxmlformats.org/presentationml/2006/main">
  <p:tag name="KSO_WM_DIAGRAM_VIRTUALLY_FRAME" val="{&quot;height&quot;:122.4,&quot;left&quot;:39.6,&quot;top&quot;:151.2,&quot;width&quot;:882}"/>
</p:tagLst>
</file>

<file path=ppt/tags/tag13.xml><?xml version="1.0" encoding="utf-8"?>
<p:tagLst xmlns:p="http://schemas.openxmlformats.org/presentationml/2006/main">
  <p:tag name="KSO_WM_DIAGRAM_VIRTUALLY_FRAME" val="{&quot;height&quot;:122.4,&quot;left&quot;:39.6,&quot;top&quot;:151.2,&quot;width&quot;:882}"/>
</p:tagLst>
</file>

<file path=ppt/tags/tag14.xml><?xml version="1.0" encoding="utf-8"?>
<p:tagLst xmlns:p="http://schemas.openxmlformats.org/presentationml/2006/main">
  <p:tag name="KSO_WM_DIAGRAM_VIRTUALLY_FRAME" val="{&quot;height&quot;:122.4,&quot;left&quot;:39.6,&quot;top&quot;:151.2,&quot;width&quot;:882}"/>
</p:tagLst>
</file>

<file path=ppt/tags/tag15.xml><?xml version="1.0" encoding="utf-8"?>
<p:tagLst xmlns:p="http://schemas.openxmlformats.org/presentationml/2006/main">
  <p:tag name="KSO_WM_DIAGRAM_VIRTUALLY_FRAME" val="{&quot;height&quot;:122.4,&quot;left&quot;:39.6,&quot;top&quot;:151.2,&quot;width&quot;:882}"/>
</p:tagLst>
</file>

<file path=ppt/tags/tag16.xml><?xml version="1.0" encoding="utf-8"?>
<p:tagLst xmlns:p="http://schemas.openxmlformats.org/presentationml/2006/main">
  <p:tag name="KSO_WM_DIAGRAM_VIRTUALLY_FRAME" val="{&quot;height&quot;:122.4,&quot;left&quot;:39.6,&quot;top&quot;:151.2,&quot;width&quot;:882}"/>
</p:tagLst>
</file>

<file path=ppt/tags/tag17.xml><?xml version="1.0" encoding="utf-8"?>
<p:tagLst xmlns:p="http://schemas.openxmlformats.org/presentationml/2006/main">
  <p:tag name="KSO_WM_DIAGRAM_VIRTUALLY_FRAME" val="{&quot;height&quot;:122.4,&quot;left&quot;:39.6,&quot;top&quot;:151.2,&quot;width&quot;:882}"/>
</p:tagLst>
</file>

<file path=ppt/tags/tag18.xml><?xml version="1.0" encoding="utf-8"?>
<p:tagLst xmlns:p="http://schemas.openxmlformats.org/presentationml/2006/main">
  <p:tag name="KSO_WM_DIAGRAM_VIRTUALLY_FRAME" val="{&quot;height&quot;:122.4,&quot;left&quot;:39.6,&quot;top&quot;:151.2,&quot;width&quot;:882}"/>
</p:tagLst>
</file>

<file path=ppt/tags/tag19.xml><?xml version="1.0" encoding="utf-8"?>
<p:tagLst xmlns:p="http://schemas.openxmlformats.org/presentationml/2006/main">
  <p:tag name="TABLE_ENDDRAG_ORIGIN_RECT" val="696*178"/>
  <p:tag name="TABLE_ENDDRAG_RECT" val="127*133*697*178"/>
</p:tagLst>
</file>

<file path=ppt/tags/tag20.xml><?xml version="1.0" encoding="utf-8"?>
<p:tagLst xmlns:p="http://schemas.openxmlformats.org/presentationml/2006/main">
  <p:tag name="KSO_WM_DIAGRAM_VIRTUALLY_FRAME" val="{&quot;height&quot;:241.19999999999996,&quot;left&quot;:558,&quot;top&quot;:217.44,&quot;width&quot;:360}"/>
</p:tagLst>
</file>

<file path=ppt/tags/tag21.xml><?xml version="1.0" encoding="utf-8"?>
<p:tagLst xmlns:p="http://schemas.openxmlformats.org/presentationml/2006/main">
  <p:tag name="KSO_WM_DIAGRAM_VIRTUALLY_FRAME" val="{&quot;height&quot;:241.19999999999996,&quot;left&quot;:558,&quot;top&quot;:217.44,&quot;width&quot;:360}"/>
</p:tagLst>
</file>

<file path=ppt/tags/tag22.xml><?xml version="1.0" encoding="utf-8"?>
<p:tagLst xmlns:p="http://schemas.openxmlformats.org/presentationml/2006/main">
  <p:tag name="KSO_WM_DIAGRAM_VIRTUALLY_FRAME" val="{&quot;height&quot;:241.19999999999996,&quot;left&quot;:558,&quot;top&quot;:217.44,&quot;width&quot;:360}"/>
</p:tagLst>
</file>

<file path=ppt/tags/tag23.xml><?xml version="1.0" encoding="utf-8"?>
<p:tagLst xmlns:p="http://schemas.openxmlformats.org/presentationml/2006/main">
  <p:tag name="KSO_WM_DIAGRAM_VIRTUALLY_FRAME" val="{&quot;height&quot;:241.19999999999996,&quot;left&quot;:558,&quot;top&quot;:217.44,&quot;width&quot;:360}"/>
</p:tagLst>
</file>

<file path=ppt/tags/tag24.xml><?xml version="1.0" encoding="utf-8"?>
<p:tagLst xmlns:p="http://schemas.openxmlformats.org/presentationml/2006/main">
  <p:tag name="KSO_WM_DIAGRAM_VIRTUALLY_FRAME" val="{&quot;height&quot;:241.19999999999996,&quot;left&quot;:558,&quot;top&quot;:217.44,&quot;width&quot;:360}"/>
</p:tagLst>
</file>

<file path=ppt/tags/tag25.xml><?xml version="1.0" encoding="utf-8"?>
<p:tagLst xmlns:p="http://schemas.openxmlformats.org/presentationml/2006/main">
  <p:tag name="KSO_WM_DIAGRAM_VIRTUALLY_FRAME" val="{&quot;height&quot;:241.19999999999996,&quot;left&quot;:558,&quot;top&quot;:217.44,&quot;width&quot;:360}"/>
</p:tagLst>
</file>

<file path=ppt/tags/tag26.xml><?xml version="1.0" encoding="utf-8"?>
<p:tagLst xmlns:p="http://schemas.openxmlformats.org/presentationml/2006/main">
  <p:tag name="KSO_WM_DIAGRAM_VIRTUALLY_FRAME" val="{&quot;height&quot;:241.19999999999996,&quot;left&quot;:558,&quot;top&quot;:217.44,&quot;width&quot;:360}"/>
</p:tagLst>
</file>

<file path=ppt/tags/tag27.xml><?xml version="1.0" encoding="utf-8"?>
<p:tagLst xmlns:p="http://schemas.openxmlformats.org/presentationml/2006/main">
  <p:tag name="KSO_WM_DIAGRAM_VIRTUALLY_FRAME" val="{&quot;height&quot;:241.19999999999996,&quot;left&quot;:558,&quot;top&quot;:217.44,&quot;width&quot;:360}"/>
</p:tagLst>
</file>

<file path=ppt/tags/tag28.xml><?xml version="1.0" encoding="utf-8"?>
<p:tagLst xmlns:p="http://schemas.openxmlformats.org/presentationml/2006/main">
  <p:tag name="KSO_WM_DIAGRAM_VIRTUALLY_FRAME" val="{&quot;height&quot;:241.19999999999996,&quot;left&quot;:558,&quot;top&quot;:217.44,&quot;width&quot;:360}"/>
</p:tagLst>
</file>

<file path=ppt/tags/tag29.xml><?xml version="1.0" encoding="utf-8"?>
<p:tagLst xmlns:p="http://schemas.openxmlformats.org/presentationml/2006/main">
  <p:tag name="KSO_WM_DIAGRAM_VIRTUALLY_FRAME" val="{&quot;height&quot;:241.19999999999996,&quot;left&quot;:558,&quot;top&quot;:217.44,&quot;width&quot;:360}"/>
</p:tagLst>
</file>

<file path=ppt/tags/tag30.xml><?xml version="1.0" encoding="utf-8"?>
<p:tagLst xmlns:p="http://schemas.openxmlformats.org/presentationml/2006/main">
  <p:tag name="KSO_WM_DIAGRAM_VIRTUALLY_FRAME" val="{&quot;height&quot;:241.19999999999996,&quot;left&quot;:558,&quot;top&quot;:217.44,&quot;width&quot;:360}"/>
</p:tagLst>
</file>

<file path=ppt/tags/tag31.xml><?xml version="1.0" encoding="utf-8"?>
<p:tagLst xmlns:p="http://schemas.openxmlformats.org/presentationml/2006/main">
  <p:tag name="KSO_WM_DIAGRAM_VIRTUALLY_FRAME" val="{&quot;height&quot;:241.19999999999996,&quot;left&quot;:558,&quot;top&quot;:217.44,&quot;width&quot;:360}"/>
</p:tagLst>
</file>

<file path=ppt/tags/tag32.xml><?xml version="1.0" encoding="utf-8"?>
<p:tagLst xmlns:p="http://schemas.openxmlformats.org/presentationml/2006/main">
  <p:tag name="KSO_WM_DIAGRAM_VIRTUALLY_FRAME" val="{&quot;height&quot;:244.8,&quot;left&quot;:39.6,&quot;top&quot;:230.4,&quot;width&quot;:903.6}"/>
</p:tagLst>
</file>

<file path=ppt/tags/tag33.xml><?xml version="1.0" encoding="utf-8"?>
<p:tagLst xmlns:p="http://schemas.openxmlformats.org/presentationml/2006/main">
  <p:tag name="KSO_WM_DIAGRAM_VIRTUALLY_FRAME" val="{&quot;height&quot;:244.8,&quot;left&quot;:39.6,&quot;top&quot;:230.4,&quot;width&quot;:903.6}"/>
</p:tagLst>
</file>

<file path=ppt/tags/tag34.xml><?xml version="1.0" encoding="utf-8"?>
<p:tagLst xmlns:p="http://schemas.openxmlformats.org/presentationml/2006/main">
  <p:tag name="KSO_WM_DIAGRAM_VIRTUALLY_FRAME" val="{&quot;height&quot;:244.8,&quot;left&quot;:39.6,&quot;top&quot;:230.4,&quot;width&quot;:903.6}"/>
</p:tagLst>
</file>

<file path=ppt/tags/tag35.xml><?xml version="1.0" encoding="utf-8"?>
<p:tagLst xmlns:p="http://schemas.openxmlformats.org/presentationml/2006/main">
  <p:tag name="KSO_WM_DIAGRAM_VIRTUALLY_FRAME" val="{&quot;height&quot;:244.8,&quot;left&quot;:39.6,&quot;top&quot;:230.4,&quot;width&quot;:903.6}"/>
</p:tagLst>
</file>

<file path=ppt/tags/tag36.xml><?xml version="1.0" encoding="utf-8"?>
<p:tagLst xmlns:p="http://schemas.openxmlformats.org/presentationml/2006/main">
  <p:tag name="KSO_WM_DIAGRAM_VIRTUALLY_FRAME" val="{&quot;height&quot;:244.8,&quot;left&quot;:39.6,&quot;top&quot;:230.4,&quot;width&quot;:903.6}"/>
</p:tagLst>
</file>

<file path=ppt/tags/tag37.xml><?xml version="1.0" encoding="utf-8"?>
<p:tagLst xmlns:p="http://schemas.openxmlformats.org/presentationml/2006/main">
  <p:tag name="KSO_WM_DIAGRAM_VIRTUALLY_FRAME" val="{&quot;height&quot;:244.8,&quot;left&quot;:39.6,&quot;top&quot;:230.4,&quot;width&quot;:903.6}"/>
</p:tagLst>
</file>

<file path=ppt/tags/tag38.xml><?xml version="1.0" encoding="utf-8"?>
<p:tagLst xmlns:p="http://schemas.openxmlformats.org/presentationml/2006/main">
  <p:tag name="KSO_WM_DIAGRAM_VIRTUALLY_FRAME" val="{&quot;height&quot;:244.8,&quot;left&quot;:39.6,&quot;top&quot;:230.4,&quot;width&quot;:903.6}"/>
</p:tagLst>
</file>

<file path=ppt/tags/tag39.xml><?xml version="1.0" encoding="utf-8"?>
<p:tagLst xmlns:p="http://schemas.openxmlformats.org/presentationml/2006/main">
  <p:tag name="KSO_WM_DIAGRAM_VIRTUALLY_FRAME" val="{&quot;height&quot;:244.8,&quot;left&quot;:39.6,&quot;top&quot;:230.4,&quot;width&quot;:903.6}"/>
</p:tagLst>
</file>

<file path=ppt/tags/tag40.xml><?xml version="1.0" encoding="utf-8"?>
<p:tagLst xmlns:p="http://schemas.openxmlformats.org/presentationml/2006/main">
  <p:tag name="KSO_WM_DIAGRAM_VIRTUALLY_FRAME" val="{&quot;height&quot;:244.8,&quot;left&quot;:39.6,&quot;top&quot;:230.4,&quot;width&quot;:903.6}"/>
</p:tagLst>
</file>

<file path=ppt/tags/tag41.xml><?xml version="1.0" encoding="utf-8"?>
<p:tagLst xmlns:p="http://schemas.openxmlformats.org/presentationml/2006/main">
  <p:tag name="KSO_WM_DIAGRAM_VIRTUALLY_FRAME" val="{&quot;height&quot;:244.8,&quot;left&quot;:39.6,&quot;top&quot;:230.4,&quot;width&quot;:903.6}"/>
</p:tagLst>
</file>

<file path=ppt/tags/tag42.xml><?xml version="1.0" encoding="utf-8"?>
<p:tagLst xmlns:p="http://schemas.openxmlformats.org/presentationml/2006/main">
  <p:tag name="KSO_WM_DIAGRAM_VIRTUALLY_FRAME" val="{&quot;height&quot;:244.8,&quot;left&quot;:39.6,&quot;top&quot;:230.4,&quot;width&quot;:903.6}"/>
</p:tagLst>
</file>

<file path=ppt/tags/tag43.xml><?xml version="1.0" encoding="utf-8"?>
<p:tagLst xmlns:p="http://schemas.openxmlformats.org/presentationml/2006/main">
  <p:tag name="KSO_WM_DIAGRAM_VIRTUALLY_FRAME" val="{&quot;height&quot;:244.8,&quot;left&quot;:39.6,&quot;top&quot;:230.4,&quot;width&quot;:903.6}"/>
</p:tagLst>
</file>

<file path=ppt/tags/tag44.xml><?xml version="1.0" encoding="utf-8"?>
<p:tagLst xmlns:p="http://schemas.openxmlformats.org/presentationml/2006/main">
  <p:tag name="KSO_WM_DIAGRAM_VIRTUALLY_FRAME" val="{&quot;height&quot;:244.8,&quot;left&quot;:39.6,&quot;top&quot;:230.4,&quot;width&quot;:903.6}"/>
</p:tagLst>
</file>

<file path=ppt/tags/tag45.xml><?xml version="1.0" encoding="utf-8"?>
<p:tagLst xmlns:p="http://schemas.openxmlformats.org/presentationml/2006/main">
  <p:tag name="KSO_WM_DIAGRAM_VIRTUALLY_FRAME" val="{&quot;height&quot;:244.8,&quot;left&quot;:39.6,&quot;top&quot;:230.4,&quot;width&quot;:903.6}"/>
</p:tagLst>
</file>

<file path=ppt/tags/tag46.xml><?xml version="1.0" encoding="utf-8"?>
<p:tagLst xmlns:p="http://schemas.openxmlformats.org/presentationml/2006/main">
  <p:tag name="KSO_WM_DIAGRAM_VIRTUALLY_FRAME" val="{&quot;height&quot;:244.8,&quot;left&quot;:39.6,&quot;top&quot;:230.4,&quot;width&quot;:903.6}"/>
</p:tagLst>
</file>

<file path=ppt/tags/tag47.xml><?xml version="1.0" encoding="utf-8"?>
<p:tagLst xmlns:p="http://schemas.openxmlformats.org/presentationml/2006/main">
  <p:tag name="KSO_WM_DIAGRAM_VIRTUALLY_FRAME" val="{&quot;height&quot;:244.8,&quot;left&quot;:39.6,&quot;top&quot;:230.4,&quot;width&quot;:903.6}"/>
</p:tagLst>
</file>

<file path=ppt/tags/tag48.xml><?xml version="1.0" encoding="utf-8"?>
<p:tagLst xmlns:p="http://schemas.openxmlformats.org/presentationml/2006/main">
  <p:tag name="KSO_WM_DIAGRAM_VIRTUALLY_FRAME" val="{&quot;height&quot;:244.8,&quot;left&quot;:39.6,&quot;top&quot;:230.4,&quot;width&quot;:903.6}"/>
</p:tagLst>
</file>

<file path=ppt/tags/tag49.xml><?xml version="1.0" encoding="utf-8"?>
<p:tagLst xmlns:p="http://schemas.openxmlformats.org/presentationml/2006/main">
  <p:tag name="KSO_WM_DIAGRAM_VIRTUALLY_FRAME" val="{&quot;height&quot;:244.8,&quot;left&quot;:39.6,&quot;top&quot;:230.4,&quot;width&quot;:903.6}"/>
</p:tagLst>
</file>

<file path=ppt/tags/tag50.xml><?xml version="1.0" encoding="utf-8"?>
<p:tagLst xmlns:p="http://schemas.openxmlformats.org/presentationml/2006/main">
  <p:tag name="KSO_WM_DIAGRAM_VIRTUALLY_FRAME" val="{&quot;height&quot;:244.8,&quot;left&quot;:39.6,&quot;top&quot;:230.4,&quot;width&quot;:903.6}"/>
</p:tagLst>
</file>

<file path=ppt/tags/tag51.xml><?xml version="1.0" encoding="utf-8"?>
<p:tagLst xmlns:p="http://schemas.openxmlformats.org/presentationml/2006/main">
  <p:tag name="KSO_WM_DIAGRAM_VIRTUALLY_FRAME" val="{&quot;height&quot;:244.8,&quot;left&quot;:39.6,&quot;top&quot;:230.4,&quot;width&quot;:903.6}"/>
</p:tagLst>
</file>

<file path=ppt/tags/tag52.xml><?xml version="1.0" encoding="utf-8"?>
<p:tagLst xmlns:p="http://schemas.openxmlformats.org/presentationml/2006/main">
  <p:tag name="KSO_WM_DIAGRAM_VIRTUALLY_FRAME" val="{&quot;height&quot;:278.64,&quot;left&quot;:558,&quot;top&quot;:216,&quot;width&quot;:360}"/>
</p:tagLst>
</file>

<file path=ppt/tags/tag53.xml><?xml version="1.0" encoding="utf-8"?>
<p:tagLst xmlns:p="http://schemas.openxmlformats.org/presentationml/2006/main">
  <p:tag name="KSO_WM_DIAGRAM_VIRTUALLY_FRAME" val="{&quot;height&quot;:278.64,&quot;left&quot;:558,&quot;top&quot;:216,&quot;width&quot;:360}"/>
</p:tagLst>
</file>

<file path=ppt/tags/tag54.xml><?xml version="1.0" encoding="utf-8"?>
<p:tagLst xmlns:p="http://schemas.openxmlformats.org/presentationml/2006/main">
  <p:tag name="KSO_WM_DIAGRAM_VIRTUALLY_FRAME" val="{&quot;height&quot;:278.64,&quot;left&quot;:558,&quot;top&quot;:216,&quot;width&quot;:360}"/>
</p:tagLst>
</file>

<file path=ppt/tags/tag55.xml><?xml version="1.0" encoding="utf-8"?>
<p:tagLst xmlns:p="http://schemas.openxmlformats.org/presentationml/2006/main">
  <p:tag name="KSO_WM_DIAGRAM_VIRTUALLY_FRAME" val="{&quot;height&quot;:278.64,&quot;left&quot;:558,&quot;top&quot;:216,&quot;width&quot;:360}"/>
</p:tagLst>
</file>

<file path=ppt/tags/tag56.xml><?xml version="1.0" encoding="utf-8"?>
<p:tagLst xmlns:p="http://schemas.openxmlformats.org/presentationml/2006/main">
  <p:tag name="KSO_WM_DIAGRAM_VIRTUALLY_FRAME" val="{&quot;height&quot;:278.64,&quot;left&quot;:558,&quot;top&quot;:216,&quot;width&quot;:360}"/>
</p:tagLst>
</file>

<file path=ppt/tags/tag57.xml><?xml version="1.0" encoding="utf-8"?>
<p:tagLst xmlns:p="http://schemas.openxmlformats.org/presentationml/2006/main">
  <p:tag name="KSO_WM_DIAGRAM_VIRTUALLY_FRAME" val="{&quot;height&quot;:278.64,&quot;left&quot;:558,&quot;top&quot;:216,&quot;width&quot;:360}"/>
</p:tagLst>
</file>

<file path=ppt/tags/tag58.xml><?xml version="1.0" encoding="utf-8"?>
<p:tagLst xmlns:p="http://schemas.openxmlformats.org/presentationml/2006/main">
  <p:tag name="KSO_WM_DIAGRAM_VIRTUALLY_FRAME" val="{&quot;height&quot;:278.64,&quot;left&quot;:558,&quot;top&quot;:216,&quot;width&quot;:360}"/>
</p:tagLst>
</file>

<file path=ppt/tags/tag59.xml><?xml version="1.0" encoding="utf-8"?>
<p:tagLst xmlns:p="http://schemas.openxmlformats.org/presentationml/2006/main">
  <p:tag name="KSO_WM_DIAGRAM_VIRTUALLY_FRAME" val="{&quot;height&quot;:278.64,&quot;left&quot;:558,&quot;top&quot;:216,&quot;width&quot;:360}"/>
</p:tagLst>
</file>

<file path=ppt/tags/tag60.xml><?xml version="1.0" encoding="utf-8"?>
<p:tagLst xmlns:p="http://schemas.openxmlformats.org/presentationml/2006/main">
  <p:tag name="KSO_WM_DIAGRAM_VIRTUALLY_FRAME" val="{&quot;height&quot;:278.64,&quot;left&quot;:558,&quot;top&quot;:216,&quot;width&quot;:360}"/>
</p:tagLst>
</file>

<file path=ppt/tags/tag61.xml><?xml version="1.0" encoding="utf-8"?>
<p:tagLst xmlns:p="http://schemas.openxmlformats.org/presentationml/2006/main">
  <p:tag name="KSO_WM_DIAGRAM_VIRTUALLY_FRAME" val="{&quot;height&quot;:278.64,&quot;left&quot;:558,&quot;top&quot;:216,&quot;width&quot;:360}"/>
</p:tagLst>
</file>

<file path=ppt/tags/tag62.xml><?xml version="1.0" encoding="utf-8"?>
<p:tagLst xmlns:p="http://schemas.openxmlformats.org/presentationml/2006/main">
  <p:tag name="KSO_WM_DIAGRAM_VIRTUALLY_FRAME" val="{&quot;height&quot;:278.64,&quot;left&quot;:558,&quot;top&quot;:216,&quot;width&quot;:360}"/>
</p:tagLst>
</file>

<file path=ppt/tags/tag63.xml><?xml version="1.0" encoding="utf-8"?>
<p:tagLst xmlns:p="http://schemas.openxmlformats.org/presentationml/2006/main">
  <p:tag name="KSO_WM_DIAGRAM_VIRTUALLY_FRAME" val="{&quot;height&quot;:278.64,&quot;left&quot;:558,&quot;top&quot;:216,&quot;width&quot;:360}"/>
</p:tagLst>
</file>

<file path=ppt/tags/tag64.xml><?xml version="1.0" encoding="utf-8"?>
<p:tagLst xmlns:p="http://schemas.openxmlformats.org/presentationml/2006/main">
  <p:tag name="KSO_WM_DIAGRAM_VIRTUALLY_FRAME" val="{&quot;height&quot;:278.64,&quot;left&quot;:558,&quot;top&quot;:216,&quot;width&quot;:360}"/>
</p:tagLst>
</file>

<file path=ppt/tags/tag65.xml><?xml version="1.0" encoding="utf-8"?>
<p:tagLst xmlns:p="http://schemas.openxmlformats.org/presentationml/2006/main">
  <p:tag name="KSO_WM_DIAGRAM_VIRTUALLY_FRAME" val="{&quot;height&quot;:278.64,&quot;left&quot;:558,&quot;top&quot;:216,&quot;width&quot;:360}"/>
</p:tagLst>
</file>

<file path=ppt/tags/tag66.xml><?xml version="1.0" encoding="utf-8"?>
<p:tagLst xmlns:p="http://schemas.openxmlformats.org/presentationml/2006/main">
  <p:tag name="KSO_WM_DIAGRAM_VIRTUALLY_FRAME" val="{&quot;height&quot;:278.64,&quot;left&quot;:558,&quot;top&quot;:216,&quot;width&quot;:360}"/>
</p:tagLst>
</file>

<file path=ppt/tags/tag67.xml><?xml version="1.0" encoding="utf-8"?>
<p:tagLst xmlns:p="http://schemas.openxmlformats.org/presentationml/2006/main">
  <p:tag name="KSO_WM_DIAGRAM_VIRTUALLY_FRAME" val="{&quot;height&quot;:241.19999999999996,&quot;left&quot;:558,&quot;top&quot;:217.44,&quot;width&quot;:360}"/>
</p:tagLst>
</file>

<file path=ppt/tags/tag68.xml><?xml version="1.0" encoding="utf-8"?>
<p:tagLst xmlns:p="http://schemas.openxmlformats.org/presentationml/2006/main">
  <p:tag name="KSO_WM_DIAGRAM_VIRTUALLY_FRAME" val="{&quot;height&quot;:241.19999999999996,&quot;left&quot;:558,&quot;top&quot;:217.44,&quot;width&quot;:360}"/>
</p:tagLst>
</file>

<file path=ppt/tags/tag69.xml><?xml version="1.0" encoding="utf-8"?>
<p:tagLst xmlns:p="http://schemas.openxmlformats.org/presentationml/2006/main">
  <p:tag name="KSO_WM_DIAGRAM_VIRTUALLY_FRAME" val="{&quot;height&quot;:241.19999999999996,&quot;left&quot;:558,&quot;top&quot;:217.44,&quot;width&quot;:360}"/>
</p:tagLst>
</file>

<file path=ppt/tags/tag70.xml><?xml version="1.0" encoding="utf-8"?>
<p:tagLst xmlns:p="http://schemas.openxmlformats.org/presentationml/2006/main">
  <p:tag name="KSO_WM_DIAGRAM_VIRTUALLY_FRAME" val="{&quot;height&quot;:241.19999999999996,&quot;left&quot;:558,&quot;top&quot;:217.44,&quot;width&quot;:360}"/>
</p:tagLst>
</file>

<file path=ppt/tags/tag71.xml><?xml version="1.0" encoding="utf-8"?>
<p:tagLst xmlns:p="http://schemas.openxmlformats.org/presentationml/2006/main">
  <p:tag name="KSO_WM_DIAGRAM_VIRTUALLY_FRAME" val="{&quot;height&quot;:241.19999999999996,&quot;left&quot;:558,&quot;top&quot;:217.44,&quot;width&quot;:360}"/>
</p:tagLst>
</file>

<file path=ppt/tags/tag72.xml><?xml version="1.0" encoding="utf-8"?>
<p:tagLst xmlns:p="http://schemas.openxmlformats.org/presentationml/2006/main">
  <p:tag name="KSO_WM_DIAGRAM_VIRTUALLY_FRAME" val="{&quot;height&quot;:241.19999999999996,&quot;left&quot;:558,&quot;top&quot;:217.44,&quot;width&quot;:360}"/>
</p:tagLst>
</file>

<file path=ppt/tags/tag73.xml><?xml version="1.0" encoding="utf-8"?>
<p:tagLst xmlns:p="http://schemas.openxmlformats.org/presentationml/2006/main">
  <p:tag name="KSO_WM_DIAGRAM_VIRTUALLY_FRAME" val="{&quot;height&quot;:241.19999999999996,&quot;left&quot;:558,&quot;top&quot;:217.44,&quot;width&quot;:360}"/>
</p:tagLst>
</file>

<file path=ppt/tags/tag74.xml><?xml version="1.0" encoding="utf-8"?>
<p:tagLst xmlns:p="http://schemas.openxmlformats.org/presentationml/2006/main">
  <p:tag name="KSO_WM_DIAGRAM_VIRTUALLY_FRAME" val="{&quot;height&quot;:241.19999999999996,&quot;left&quot;:558,&quot;top&quot;:217.44,&quot;width&quot;:360}"/>
</p:tagLst>
</file>

<file path=ppt/tags/tag75.xml><?xml version="1.0" encoding="utf-8"?>
<p:tagLst xmlns:p="http://schemas.openxmlformats.org/presentationml/2006/main">
  <p:tag name="KSO_WM_DIAGRAM_VIRTUALLY_FRAME" val="{&quot;height&quot;:241.19999999999996,&quot;left&quot;:558,&quot;top&quot;:217.44,&quot;width&quot;:360}"/>
</p:tagLst>
</file>

<file path=ppt/tags/tag76.xml><?xml version="1.0" encoding="utf-8"?>
<p:tagLst xmlns:p="http://schemas.openxmlformats.org/presentationml/2006/main">
  <p:tag name="KSO_WM_DIAGRAM_VIRTUALLY_FRAME" val="{&quot;height&quot;:241.19999999999996,&quot;left&quot;:558,&quot;top&quot;:217.44,&quot;width&quot;:360}"/>
</p:tagLst>
</file>

<file path=ppt/tags/tag77.xml><?xml version="1.0" encoding="utf-8"?>
<p:tagLst xmlns:p="http://schemas.openxmlformats.org/presentationml/2006/main">
  <p:tag name="KSO_WM_DIAGRAM_VIRTUALLY_FRAME" val="{&quot;height&quot;:241.19999999999996,&quot;left&quot;:558,&quot;top&quot;:217.44,&quot;width&quot;:360}"/>
</p:tagLst>
</file>

<file path=ppt/tags/tag78.xml><?xml version="1.0" encoding="utf-8"?>
<p:tagLst xmlns:p="http://schemas.openxmlformats.org/presentationml/2006/main">
  <p:tag name="KSO_WM_DIAGRAM_VIRTUALLY_FRAME" val="{&quot;height&quot;:241.19999999999996,&quot;left&quot;:558,&quot;top&quot;:217.44,&quot;width&quot;:36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19448</Words>
  <Application>WPS Presentation</Application>
  <PresentationFormat>On-screen Show (16:9)</PresentationFormat>
  <Paragraphs>756</Paragraphs>
  <Slides>29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54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Bradley Hand ITC</vt:lpstr>
      <vt:lpstr>Courier New</vt:lpstr>
      <vt:lpstr>Courier New</vt:lpstr>
      <vt:lpstr>Courier New</vt:lpstr>
      <vt:lpstr>Consolas</vt:lpstr>
      <vt:lpstr>Consolas</vt:lpstr>
      <vt:lpstr>Consolas</vt:lpstr>
      <vt:lpstr>Aptos</vt:lpstr>
      <vt:lpstr>Segoe UI</vt:lpstr>
      <vt:lpstr>Times New Roman</vt:lpstr>
      <vt:lpstr>Symbol</vt:lpstr>
      <vt:lpstr>Microsoft YaHei</vt:lpstr>
      <vt:lpstr>Arial Unicode MS</vt:lpstr>
      <vt:lpstr>等线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Jasmine Savathallapalli</cp:lastModifiedBy>
  <cp:revision>4</cp:revision>
  <dcterms:created xsi:type="dcterms:W3CDTF">2026-09-09T02:01:00Z</dcterms:created>
  <dcterms:modified xsi:type="dcterms:W3CDTF">2026-09-14T06:49:01Z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7FEE7CB60EFE4D6C91A89DCD96771266_13</vt:lpwstr>
  </property>
  <property fmtid="{D5CDD505-2E9C-101B-9397-08002B2CF9AE}" pid="3" name="KSOProductBuildVer">
    <vt:lpwstr>2057-12.2.0.23206</vt:lpwstr>
  </property>
</Properties>
</file>